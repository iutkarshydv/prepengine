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4"/>
  </p:sldMasterIdLst>
  <p:notesMasterIdLst>
    <p:notesMasterId r:id="rId68"/>
  </p:notesMasterIdLst>
  <p:sldIdLst>
    <p:sldId id="256" r:id="rId5"/>
    <p:sldId id="258" r:id="rId6"/>
    <p:sldId id="260" r:id="rId7"/>
    <p:sldId id="261" r:id="rId8"/>
    <p:sldId id="262" r:id="rId9"/>
    <p:sldId id="263" r:id="rId10"/>
    <p:sldId id="318" r:id="rId11"/>
    <p:sldId id="264" r:id="rId12"/>
    <p:sldId id="265" r:id="rId13"/>
    <p:sldId id="320" r:id="rId14"/>
    <p:sldId id="266" r:id="rId15"/>
    <p:sldId id="321" r:id="rId16"/>
    <p:sldId id="267" r:id="rId17"/>
    <p:sldId id="323" r:id="rId18"/>
    <p:sldId id="322" r:id="rId19"/>
    <p:sldId id="326" r:id="rId20"/>
    <p:sldId id="324" r:id="rId21"/>
    <p:sldId id="325" r:id="rId22"/>
    <p:sldId id="268" r:id="rId23"/>
    <p:sldId id="270" r:id="rId24"/>
    <p:sldId id="271" r:id="rId25"/>
    <p:sldId id="328" r:id="rId26"/>
    <p:sldId id="272" r:id="rId27"/>
    <p:sldId id="327" r:id="rId28"/>
    <p:sldId id="329" r:id="rId29"/>
    <p:sldId id="273" r:id="rId30"/>
    <p:sldId id="337" r:id="rId31"/>
    <p:sldId id="338" r:id="rId32"/>
    <p:sldId id="339" r:id="rId33"/>
    <p:sldId id="340" r:id="rId34"/>
    <p:sldId id="341" r:id="rId35"/>
    <p:sldId id="342" r:id="rId36"/>
    <p:sldId id="343" r:id="rId37"/>
    <p:sldId id="344" r:id="rId38"/>
    <p:sldId id="345" r:id="rId39"/>
    <p:sldId id="346" r:id="rId40"/>
    <p:sldId id="347" r:id="rId41"/>
    <p:sldId id="348" r:id="rId42"/>
    <p:sldId id="349" r:id="rId43"/>
    <p:sldId id="277" r:id="rId44"/>
    <p:sldId id="278" r:id="rId45"/>
    <p:sldId id="279" r:id="rId46"/>
    <p:sldId id="280" r:id="rId47"/>
    <p:sldId id="281" r:id="rId48"/>
    <p:sldId id="282" r:id="rId49"/>
    <p:sldId id="283" r:id="rId50"/>
    <p:sldId id="330" r:id="rId51"/>
    <p:sldId id="331" r:id="rId52"/>
    <p:sldId id="332" r:id="rId53"/>
    <p:sldId id="333" r:id="rId54"/>
    <p:sldId id="334" r:id="rId55"/>
    <p:sldId id="284" r:id="rId56"/>
    <p:sldId id="285" r:id="rId57"/>
    <p:sldId id="335" r:id="rId58"/>
    <p:sldId id="288" r:id="rId59"/>
    <p:sldId id="289" r:id="rId60"/>
    <p:sldId id="290" r:id="rId61"/>
    <p:sldId id="291" r:id="rId62"/>
    <p:sldId id="292" r:id="rId63"/>
    <p:sldId id="293" r:id="rId64"/>
    <p:sldId id="294" r:id="rId65"/>
    <p:sldId id="302" r:id="rId66"/>
    <p:sldId id="303" r:id="rId6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38" autoAdjust="0"/>
    <p:restoredTop sz="94660"/>
  </p:normalViewPr>
  <p:slideViewPr>
    <p:cSldViewPr>
      <p:cViewPr varScale="1">
        <p:scale>
          <a:sx n="86" d="100"/>
          <a:sy n="86" d="100"/>
        </p:scale>
        <p:origin x="1059" y="4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notesMaster" Target="notesMasters/notesMaster1.xml"/><Relationship Id="rId7" Type="http://schemas.openxmlformats.org/officeDocument/2006/relationships/slide" Target="slides/slide3.xml"/><Relationship Id="rId71"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2C9A676-B74E-4A3D-8ADB-F70E869FD3FB}" type="datetimeFigureOut">
              <a:rPr lang="en-US" smtClean="0"/>
              <a:pPr/>
              <a:t>12/19/2022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1E8F5E3-CD7E-4B3E-8106-A36D8DD4C0B5}" type="slidenum">
              <a:rPr lang="en-US" smtClean="0"/>
              <a:pPr/>
              <a:t>‹#›</a:t>
            </a:fld>
            <a:endParaRPr lang="en-US"/>
          </a:p>
        </p:txBody>
      </p:sp>
    </p:spTree>
    <p:extLst>
      <p:ext uri="{BB962C8B-B14F-4D97-AF65-F5344CB8AC3E}">
        <p14:creationId xmlns:p14="http://schemas.microsoft.com/office/powerpoint/2010/main" val="1500266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itchFamily="18" charset="0"/>
            </a:endParaRPr>
          </a:p>
        </p:txBody>
      </p:sp>
      <p:sp>
        <p:nvSpPr>
          <p:cNvPr id="4" name="Slide Number Placeholder 3"/>
          <p:cNvSpPr>
            <a:spLocks noGrp="1"/>
          </p:cNvSpPr>
          <p:nvPr>
            <p:ph type="sldNum" sz="quarter" idx="5"/>
          </p:nvPr>
        </p:nvSpPr>
        <p:spPr/>
        <p:txBody>
          <a:bodyPr/>
          <a:lstStyle/>
          <a:p>
            <a:pPr>
              <a:defRPr/>
            </a:pPr>
            <a:fld id="{2DE48E0B-20B0-498A-B0B1-65B62C333569}" type="slidenum">
              <a:rPr lang="tr-TR" smtClean="0"/>
              <a:pPr>
                <a:defRPr/>
              </a:pPr>
              <a:t>36</a:t>
            </a:fld>
            <a:endParaRPr lang="tr-T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1D8BD707-D9CF-40AE-B4C6-C98DA3205C09}" type="datetimeFigureOut">
              <a:rPr lang="en-US" smtClean="0"/>
              <a:pPr/>
              <a:t>12/19/2022</a:t>
            </a:fld>
            <a:endParaRPr lang="en-US" dirty="0"/>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dirty="0"/>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12/19/2022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12/19/2022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D8BD707-D9CF-40AE-B4C6-C98DA3205C09}" type="datetimeFigureOut">
              <a:rPr lang="en-US" smtClean="0"/>
              <a:pPr/>
              <a:t>12/19/2022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12/19/2022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1D8BD707-D9CF-40AE-B4C6-C98DA3205C09}" type="datetimeFigureOut">
              <a:rPr lang="en-US" smtClean="0"/>
              <a:pPr/>
              <a:t>12/19/2022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dirty="0"/>
              <a:t>Click icon to add picture</a:t>
            </a:r>
          </a:p>
        </p:txBody>
      </p:sp>
      <p:sp>
        <p:nvSpPr>
          <p:cNvPr id="5" name="Date Placeholder 4"/>
          <p:cNvSpPr>
            <a:spLocks noGrp="1"/>
          </p:cNvSpPr>
          <p:nvPr>
            <p:ph type="dt" sz="half" idx="10"/>
          </p:nvPr>
        </p:nvSpPr>
        <p:spPr/>
        <p:txBody>
          <a:bodyPr/>
          <a:lstStyle>
            <a:lvl1pPr>
              <a:defRPr>
                <a:solidFill>
                  <a:schemeClr val="tx1"/>
                </a:solidFill>
              </a:defRPr>
            </a:lvl1pPr>
            <a:extLst/>
          </a:lstStyle>
          <a:p>
            <a:fld id="{1D8BD707-D9CF-40AE-B4C6-C98DA3205C09}" type="datetimeFigureOut">
              <a:rPr lang="en-US" smtClean="0"/>
              <a:pPr/>
              <a:t>12/19/2022</a:t>
            </a:fld>
            <a:endParaRPr lang="en-US" dirty="0"/>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dirty="0"/>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B6F15528-21DE-4FAA-801E-634DDDAF4B2B}" type="slidenum">
              <a:rPr lang="en-US" smtClean="0"/>
              <a:pPr/>
              <a:t>‹#›</a:t>
            </a:fld>
            <a:endParaRPr lang="en-US"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1D8BD707-D9CF-40AE-B4C6-C98DA3205C09}" type="datetimeFigureOut">
              <a:rPr lang="en-US" smtClean="0"/>
              <a:pPr/>
              <a:t>12/19/2022</a:t>
            </a:fld>
            <a:endParaRPr lang="en-US" dirty="0"/>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dirty="0"/>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7.gi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143000"/>
            <a:ext cx="9144000" cy="2895600"/>
          </a:xfrm>
        </p:spPr>
        <p:txBody>
          <a:bodyPr>
            <a:normAutofit/>
          </a:bodyPr>
          <a:lstStyle/>
          <a:p>
            <a:pPr algn="ctr"/>
            <a:r>
              <a:rPr lang="en-US" sz="3600" dirty="0">
                <a:latin typeface="Times New Roman" pitchFamily="18" charset="0"/>
                <a:cs typeface="Times New Roman" pitchFamily="18" charset="0"/>
              </a:rPr>
              <a:t>MODULE – II</a:t>
            </a:r>
            <a:br>
              <a:rPr lang="en-US" sz="3600" dirty="0">
                <a:latin typeface="Times New Roman" pitchFamily="18" charset="0"/>
                <a:cs typeface="Times New Roman" pitchFamily="18" charset="0"/>
              </a:rPr>
            </a:br>
            <a:br>
              <a:rPr lang="en-US" sz="3600" dirty="0">
                <a:latin typeface="Times New Roman" pitchFamily="18" charset="0"/>
                <a:cs typeface="Times New Roman" pitchFamily="18" charset="0"/>
              </a:rPr>
            </a:br>
            <a:r>
              <a:rPr lang="en-US" sz="3600" dirty="0">
                <a:solidFill>
                  <a:srgbClr val="FF0000"/>
                </a:solidFill>
                <a:effectLst/>
                <a:latin typeface="Times New Roman" pitchFamily="18" charset="0"/>
                <a:cs typeface="Times New Roman" pitchFamily="18" charset="0"/>
              </a:rPr>
              <a:t>VERBAL AND NONVERBAL OF COMMUNICATION</a:t>
            </a:r>
            <a:endParaRPr lang="en-US" sz="3600" dirty="0">
              <a:solidFill>
                <a:srgbClr val="FF0000"/>
              </a:solidFill>
              <a:latin typeface="Times New Roman" pitchFamily="18" charset="0"/>
              <a:cs typeface="Times New Roman" pitchFamily="18" charset="0"/>
            </a:endParaRPr>
          </a:p>
        </p:txBody>
      </p:sp>
      <p:sp>
        <p:nvSpPr>
          <p:cNvPr id="5" name="Subtitle 4"/>
          <p:cNvSpPr>
            <a:spLocks noGrp="1"/>
          </p:cNvSpPr>
          <p:nvPr>
            <p:ph type="subTitle" idx="1"/>
          </p:nvPr>
        </p:nvSpPr>
        <p:spPr>
          <a:xfrm>
            <a:off x="0" y="3276600"/>
            <a:ext cx="9144000" cy="3581400"/>
          </a:xfrm>
        </p:spPr>
        <p:txBody>
          <a:bodyPr>
            <a:noAutofit/>
          </a:bodyPr>
          <a:lstStyle/>
          <a:p>
            <a:pPr algn="l"/>
            <a:endParaRPr lang="en-US" sz="2400" dirty="0">
              <a:latin typeface="Times New Roman" pitchFamily="18" charset="0"/>
              <a:cs typeface="Times New Roman" pitchFamily="18" charset="0"/>
            </a:endParaRPr>
          </a:p>
          <a:p>
            <a:pPr algn="l">
              <a:lnSpc>
                <a:spcPct val="150000"/>
              </a:lnSpc>
            </a:pPr>
            <a:endParaRPr lang="en-US" sz="2400" dirty="0">
              <a:latin typeface="Times New Roman" pitchFamily="18" charset="0"/>
              <a:cs typeface="Times New Roman" pitchFamily="18" charset="0"/>
            </a:endParaRPr>
          </a:p>
          <a:p>
            <a:pPr algn="l"/>
            <a:endParaRPr lang="en-US" sz="2400" dirty="0">
              <a:latin typeface="Times New Roman" pitchFamily="18" charset="0"/>
              <a:cs typeface="Times New Roman" pitchFamily="18" charset="0"/>
            </a:endParaRPr>
          </a:p>
          <a:p>
            <a:pPr algn="l"/>
            <a:endParaRPr lang="en-US" sz="2400" dirty="0">
              <a:latin typeface="Times New Roman" pitchFamily="18" charset="0"/>
              <a:cs typeface="Times New Roman" pitchFamily="18" charset="0"/>
            </a:endParaRPr>
          </a:p>
          <a:p>
            <a:pPr algn="l">
              <a:lnSpc>
                <a:spcPct val="150000"/>
              </a:lnSpc>
            </a:pPr>
            <a:endParaRPr lang="en-US" sz="2400" dirty="0">
              <a:latin typeface="Times New Roman" pitchFamily="18" charset="0"/>
              <a:cs typeface="Times New Roman" pitchFamily="18" charset="0"/>
            </a:endParaRPr>
          </a:p>
          <a:p>
            <a:pPr algn="l">
              <a:lnSpc>
                <a:spcPct val="150000"/>
              </a:lnSpc>
            </a:pPr>
            <a:endParaRPr lang="en-US" sz="2400" dirty="0">
              <a:latin typeface="Times New Roman" pitchFamily="18" charset="0"/>
              <a:cs typeface="Times New Roman" pitchFamily="18" charset="0"/>
            </a:endParaRPr>
          </a:p>
          <a:p>
            <a:pPr algn="l">
              <a:lnSpc>
                <a:spcPct val="150000"/>
              </a:lnSpc>
            </a:pPr>
            <a:endParaRPr lang="en-US" sz="2400" dirty="0">
              <a:noFill/>
              <a:latin typeface="Times New Roman" pitchFamily="18" charset="0"/>
              <a:cs typeface="Times New Roman" pitchFamily="18" charset="0"/>
            </a:endParaRPr>
          </a:p>
          <a:p>
            <a:pPr algn="l">
              <a:lnSpc>
                <a:spcPct val="150000"/>
              </a:lnSpc>
            </a:pPr>
            <a:endParaRPr lang="en-US" sz="2400" dirty="0">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pPr>
              <a:buNone/>
            </a:pPr>
            <a:endParaRPr lang="en-US" dirty="0"/>
          </a:p>
          <a:p>
            <a:pPr algn="ctr">
              <a:buNone/>
            </a:pPr>
            <a:r>
              <a:rPr lang="en-US" sz="2800" b="1" dirty="0">
                <a:latin typeface="Times New Roman" pitchFamily="18" charset="0"/>
                <a:cs typeface="Times New Roman" pitchFamily="18" charset="0"/>
              </a:rPr>
              <a:t>VERBAL  AND NON-VERBAL COMMUNICATION</a:t>
            </a:r>
          </a:p>
          <a:p>
            <a:pPr algn="ctr">
              <a:buNone/>
            </a:pPr>
            <a:endParaRPr lang="en-US" sz="2800" b="1" dirty="0">
              <a:latin typeface="Times New Roman" pitchFamily="18" charset="0"/>
              <a:cs typeface="Times New Roman" pitchFamily="18" charset="0"/>
            </a:endParaRPr>
          </a:p>
          <a:p>
            <a:pPr algn="ctr">
              <a:buNone/>
            </a:pPr>
            <a:r>
              <a:rPr lang="en-US" sz="3200" b="1" dirty="0">
                <a:latin typeface="Times New Roman" pitchFamily="18" charset="0"/>
                <a:cs typeface="Times New Roman" pitchFamily="18" charset="0"/>
              </a:rPr>
              <a:t>VERBAL COMMUNICATION</a:t>
            </a:r>
          </a:p>
          <a:p>
            <a:pPr>
              <a:lnSpc>
                <a:spcPct val="150000"/>
              </a:lnSpc>
              <a:buNone/>
            </a:pPr>
            <a:r>
              <a:rPr lang="en-US" sz="2400" b="1" dirty="0">
                <a:latin typeface="Times New Roman" pitchFamily="18" charset="0"/>
                <a:cs typeface="Times New Roman" pitchFamily="18" charset="0"/>
              </a:rPr>
              <a:t>1- INTRODUCTION :- </a:t>
            </a:r>
            <a:r>
              <a:rPr lang="en-US" sz="2000" dirty="0">
                <a:latin typeface="Times New Roman" pitchFamily="18" charset="0"/>
                <a:cs typeface="Times New Roman" pitchFamily="18" charset="0"/>
              </a:rPr>
              <a:t>All forms of communication can be categorized as either verbal or nonverbal. In turn, both verbal and nonverbal communication can be subdivided into either vocal or non vocal. Much of the communication that takes place between people is verbal; that is, it is based on language. </a:t>
            </a:r>
          </a:p>
          <a:p>
            <a:pPr>
              <a:lnSpc>
                <a:spcPct val="150000"/>
              </a:lnSpc>
              <a:buFont typeface="Wingdings" pitchFamily="2" charset="2"/>
              <a:buChar char="Ø"/>
            </a:pPr>
            <a:r>
              <a:rPr lang="en-US" sz="2000">
                <a:latin typeface="Times New Roman" pitchFamily="18" charset="0"/>
                <a:cs typeface="Times New Roman" pitchFamily="18" charset="0"/>
              </a:rPr>
              <a:t>    Verbal </a:t>
            </a:r>
            <a:r>
              <a:rPr lang="en-US" sz="2000" dirty="0">
                <a:latin typeface="Times New Roman" pitchFamily="18" charset="0"/>
                <a:cs typeface="Times New Roman" pitchFamily="18" charset="0"/>
              </a:rPr>
              <a:t>communication of the vocal category includes spoken language. </a:t>
            </a:r>
          </a:p>
          <a:p>
            <a:pPr>
              <a:lnSpc>
                <a:spcPct val="150000"/>
              </a:lnSpc>
              <a:buFont typeface="Wingdings" pitchFamily="2" charset="2"/>
              <a:buChar char="Ø"/>
            </a:pPr>
            <a:r>
              <a:rPr lang="en-US" sz="2000" dirty="0">
                <a:latin typeface="Times New Roman" pitchFamily="18" charset="0"/>
                <a:cs typeface="Times New Roman" pitchFamily="18" charset="0"/>
              </a:rPr>
              <a:t>    Non vocal verbal communication involves written communication as well as communication that is transmitted through transmitted through sign language, finger spelling, Braille, or other similar alternatives to verbal language.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pPr>
              <a:buNone/>
            </a:pPr>
            <a:endParaRPr lang="en-US" sz="2000" b="1" dirty="0">
              <a:latin typeface="Times New Roman" pitchFamily="18" charset="0"/>
              <a:cs typeface="Times New Roman" pitchFamily="18" charset="0"/>
            </a:endParaRPr>
          </a:p>
          <a:p>
            <a:pPr>
              <a:lnSpc>
                <a:spcPct val="150000"/>
              </a:lnSpc>
              <a:buNone/>
            </a:pPr>
            <a:r>
              <a:rPr lang="en-US" sz="2000" dirty="0">
                <a:latin typeface="Times New Roman" pitchFamily="18" charset="0"/>
                <a:cs typeface="Times New Roman" pitchFamily="18" charset="0"/>
              </a:rPr>
              <a:t>              The word ‘verbal means related to words and the use of words. Only man is able to use words that make language. We know that the process of communication involves the use of common set of symbols, that is why all serious or formal communication is the words. These words may be spoken or written. Spoken communication or the communication employing speech is known as Oral Communication.</a:t>
            </a:r>
          </a:p>
          <a:p>
            <a:pPr>
              <a:lnSpc>
                <a:spcPct val="150000"/>
              </a:lnSpc>
              <a:buNone/>
            </a:pPr>
            <a:r>
              <a:rPr lang="en-US" sz="2000" b="1" dirty="0">
                <a:latin typeface="Times New Roman" pitchFamily="18" charset="0"/>
                <a:cs typeface="Times New Roman" pitchFamily="18" charset="0"/>
              </a:rPr>
              <a:t>VERBAL COMMUNICATION: ORAL –</a:t>
            </a:r>
            <a:r>
              <a:rPr lang="en-US" sz="2000" dirty="0">
                <a:latin typeface="Times New Roman" pitchFamily="18" charset="0"/>
                <a:cs typeface="Times New Roman" pitchFamily="18" charset="0"/>
              </a:rPr>
              <a:t> We know that speech comes first and writing comes later and therefore, it is worthwhile to deal with oral communication first and written communication later. Man learn speaking much before writing. In the same manner, in an organization people speak much more than they write. There are many occasion, both in formal and informal when the same happen and that is why communication becomes conversational in nature.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pPr>
              <a:buNone/>
            </a:pPr>
            <a:endParaRPr lang="en-US" sz="2000" b="1" dirty="0">
              <a:latin typeface="Times New Roman" pitchFamily="18" charset="0"/>
              <a:cs typeface="Times New Roman" pitchFamily="18" charset="0"/>
            </a:endParaRPr>
          </a:p>
          <a:p>
            <a:pPr>
              <a:lnSpc>
                <a:spcPct val="150000"/>
              </a:lnSpc>
              <a:buNone/>
            </a:pPr>
            <a:r>
              <a:rPr lang="en-US" sz="2000" b="1" dirty="0">
                <a:latin typeface="Times New Roman" pitchFamily="18" charset="0"/>
                <a:cs typeface="Times New Roman" pitchFamily="18" charset="0"/>
              </a:rPr>
              <a:t>LIMITATIONS OF ORAL COMMUNICATION – </a:t>
            </a:r>
          </a:p>
          <a:p>
            <a:pPr marL="624078" indent="-514350">
              <a:lnSpc>
                <a:spcPct val="150000"/>
              </a:lnSpc>
              <a:buNone/>
            </a:pPr>
            <a:r>
              <a:rPr lang="en-US" sz="2000" b="1" dirty="0">
                <a:latin typeface="Times New Roman" pitchFamily="18" charset="0"/>
                <a:cs typeface="Times New Roman" pitchFamily="18" charset="0"/>
              </a:rPr>
              <a:t>(</a:t>
            </a:r>
            <a:r>
              <a:rPr lang="en-US" sz="2000" b="1" dirty="0" err="1">
                <a:latin typeface="Times New Roman" pitchFamily="18" charset="0"/>
                <a:cs typeface="Times New Roman" pitchFamily="18" charset="0"/>
              </a:rPr>
              <a:t>i</a:t>
            </a:r>
            <a:r>
              <a:rPr lang="en-US" sz="2000" b="1" dirty="0">
                <a:latin typeface="Times New Roman" pitchFamily="18" charset="0"/>
                <a:cs typeface="Times New Roman" pitchFamily="18" charset="0"/>
              </a:rPr>
              <a:t>) - </a:t>
            </a:r>
            <a:r>
              <a:rPr lang="en-US" sz="2000" dirty="0">
                <a:latin typeface="Times New Roman" pitchFamily="18" charset="0"/>
                <a:cs typeface="Times New Roman" pitchFamily="18" charset="0"/>
              </a:rPr>
              <a:t> Oral messages cannot always be retained in listener’s memory. The speaker himself may always not recall what he actually said or meant.</a:t>
            </a:r>
          </a:p>
          <a:p>
            <a:pPr marL="624078" indent="-514350">
              <a:lnSpc>
                <a:spcPct val="150000"/>
              </a:lnSpc>
              <a:buNone/>
            </a:pPr>
            <a:r>
              <a:rPr lang="en-US" sz="2000" b="1" dirty="0">
                <a:latin typeface="Times New Roman" pitchFamily="18" charset="0"/>
                <a:cs typeface="Times New Roman" pitchFamily="18" charset="0"/>
              </a:rPr>
              <a:t>(ii) – </a:t>
            </a:r>
            <a:r>
              <a:rPr lang="en-US" sz="2000" dirty="0">
                <a:latin typeface="Times New Roman" pitchFamily="18" charset="0"/>
                <a:cs typeface="Times New Roman" pitchFamily="18" charset="0"/>
              </a:rPr>
              <a:t>In the absence of record, oral messages do not have legal validity.</a:t>
            </a:r>
          </a:p>
          <a:p>
            <a:pPr marL="624078" indent="-514350">
              <a:lnSpc>
                <a:spcPct val="150000"/>
              </a:lnSpc>
              <a:buNone/>
            </a:pPr>
            <a:r>
              <a:rPr lang="en-US" sz="2000" b="1" dirty="0">
                <a:latin typeface="Times New Roman" pitchFamily="18" charset="0"/>
                <a:cs typeface="Times New Roman" pitchFamily="18" charset="0"/>
              </a:rPr>
              <a:t>(iii) – </a:t>
            </a:r>
            <a:r>
              <a:rPr lang="en-US" sz="2000" dirty="0">
                <a:latin typeface="Times New Roman" pitchFamily="18" charset="0"/>
                <a:cs typeface="Times New Roman" pitchFamily="18" charset="0"/>
              </a:rPr>
              <a:t>Oral communication may not always be time saving, sometimes meeting go on and on for a long time without arriving at any satisfactory conclusion.</a:t>
            </a:r>
          </a:p>
          <a:p>
            <a:pPr marL="624078" indent="-514350">
              <a:lnSpc>
                <a:spcPct val="150000"/>
              </a:lnSpc>
              <a:buNone/>
            </a:pPr>
            <a:r>
              <a:rPr lang="en-US" sz="2000" b="1" dirty="0">
                <a:latin typeface="Times New Roman" pitchFamily="18" charset="0"/>
                <a:cs typeface="Times New Roman" pitchFamily="18" charset="0"/>
              </a:rPr>
              <a:t>(iv) – </a:t>
            </a:r>
            <a:r>
              <a:rPr lang="en-US" sz="2000" dirty="0">
                <a:latin typeface="Times New Roman" pitchFamily="18" charset="0"/>
                <a:cs typeface="Times New Roman" pitchFamily="18" charset="0"/>
              </a:rPr>
              <a:t>If the speaker does not organize his thoughts carefully, oral messages may lead to misunderstanding.</a:t>
            </a:r>
          </a:p>
          <a:p>
            <a:pPr marL="624078" indent="-514350">
              <a:lnSpc>
                <a:spcPct val="150000"/>
              </a:lnSpc>
              <a:buNone/>
            </a:pPr>
            <a:r>
              <a:rPr lang="en-US" sz="2000" b="1" dirty="0">
                <a:latin typeface="Times New Roman" pitchFamily="18" charset="0"/>
                <a:cs typeface="Times New Roman" pitchFamily="18" charset="0"/>
              </a:rPr>
              <a:t>(v) – </a:t>
            </a:r>
            <a:r>
              <a:rPr lang="en-US" sz="2000" dirty="0">
                <a:latin typeface="Times New Roman" pitchFamily="18" charset="0"/>
                <a:cs typeface="Times New Roman" pitchFamily="18" charset="0"/>
              </a:rPr>
              <a:t>The length of the message may cause a problem. If the message is long it is not always suitable for oral communication.</a:t>
            </a:r>
          </a:p>
          <a:p>
            <a:pPr marL="624078" indent="-514350">
              <a:lnSpc>
                <a:spcPct val="150000"/>
              </a:lnSpc>
              <a:buNone/>
            </a:pPr>
            <a:r>
              <a:rPr lang="en-US" sz="2000" b="1" dirty="0">
                <a:latin typeface="Times New Roman" pitchFamily="18" charset="0"/>
                <a:cs typeface="Times New Roman" pitchFamily="18" charset="0"/>
              </a:rPr>
              <a:t>(vi) – </a:t>
            </a:r>
            <a:r>
              <a:rPr lang="en-US" sz="2000" dirty="0">
                <a:latin typeface="Times New Roman" pitchFamily="18" charset="0"/>
                <a:cs typeface="Times New Roman" pitchFamily="18" charset="0"/>
              </a:rPr>
              <a:t>It becomes difficult to fix responsibility </a:t>
            </a:r>
            <a:r>
              <a:rPr lang="en-US" sz="2000" dirty="0" err="1">
                <a:latin typeface="Times New Roman" pitchFamily="18" charset="0"/>
                <a:cs typeface="Times New Roman" pitchFamily="18" charset="0"/>
              </a:rPr>
              <a:t>bfor</a:t>
            </a:r>
            <a:r>
              <a:rPr lang="en-US" sz="2000" dirty="0">
                <a:latin typeface="Times New Roman" pitchFamily="18" charset="0"/>
                <a:cs typeface="Times New Roman" pitchFamily="18" charset="0"/>
              </a:rPr>
              <a:t> anything going </a:t>
            </a:r>
            <a:r>
              <a:rPr lang="en-US" sz="2000" dirty="0" err="1">
                <a:latin typeface="Times New Roman" pitchFamily="18" charset="0"/>
                <a:cs typeface="Times New Roman" pitchFamily="18" charset="0"/>
              </a:rPr>
              <a:t>bwrong</a:t>
            </a:r>
            <a:r>
              <a:rPr lang="en-US" sz="2000" dirty="0">
                <a:latin typeface="Times New Roman" pitchFamily="18" charset="0"/>
                <a:cs typeface="Times New Roman" pitchFamily="18" charset="0"/>
              </a:rPr>
              <a:t> or for any mistake in oral communication.</a:t>
            </a:r>
          </a:p>
          <a:p>
            <a:pPr>
              <a:lnSpc>
                <a:spcPct val="150000"/>
              </a:lnSpc>
              <a:buNone/>
            </a:pPr>
            <a:endParaRPr lang="en-US" sz="2000" dirty="0">
              <a:latin typeface="Times New Roman" pitchFamily="18" charset="0"/>
              <a:cs typeface="Times New Roman" pitchFamily="18" charset="0"/>
            </a:endParaRPr>
          </a:p>
          <a:p>
            <a:pPr>
              <a:buNone/>
            </a:pPr>
            <a:endParaRPr lang="en-US" sz="2000" dirty="0">
              <a:latin typeface="Times New Roman" pitchFamily="18" charset="0"/>
              <a:cs typeface="Times New Roman" pitchFamily="18" charset="0"/>
            </a:endParaRPr>
          </a:p>
          <a:p>
            <a:pPr>
              <a:buNone/>
            </a:pPr>
            <a:endParaRPr lang="en-US" sz="2000" b="1" dirty="0">
              <a:latin typeface="Times New Roman" pitchFamily="18" charset="0"/>
              <a:cs typeface="Times New Roman" pitchFamily="18" charset="0"/>
            </a:endParaRPr>
          </a:p>
          <a:p>
            <a:pPr>
              <a:buNone/>
            </a:pP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lnSpcReduction="10000"/>
          </a:bodyPr>
          <a:lstStyle/>
          <a:p>
            <a:pPr>
              <a:buNone/>
            </a:pPr>
            <a:endParaRPr lang="en-US" sz="2000" b="1" dirty="0">
              <a:latin typeface="Times New Roman" pitchFamily="18" charset="0"/>
              <a:cs typeface="Times New Roman" pitchFamily="18" charset="0"/>
            </a:endParaRPr>
          </a:p>
          <a:p>
            <a:pPr>
              <a:lnSpc>
                <a:spcPct val="150000"/>
              </a:lnSpc>
              <a:buNone/>
            </a:pPr>
            <a:r>
              <a:rPr lang="en-US" sz="2000" b="1" dirty="0">
                <a:latin typeface="Times New Roman" pitchFamily="18" charset="0"/>
                <a:cs typeface="Times New Roman" pitchFamily="18" charset="0"/>
              </a:rPr>
              <a:t>ADVANTAGES OF ORAL COMMUNICATION – </a:t>
            </a:r>
          </a:p>
          <a:p>
            <a:pPr marL="624078" indent="-514350">
              <a:lnSpc>
                <a:spcPct val="150000"/>
              </a:lnSpc>
              <a:buNone/>
            </a:pPr>
            <a:r>
              <a:rPr lang="en-US" sz="2000" b="1" dirty="0">
                <a:latin typeface="Times New Roman" pitchFamily="18" charset="0"/>
                <a:cs typeface="Times New Roman" pitchFamily="18" charset="0"/>
              </a:rPr>
              <a:t>(</a:t>
            </a:r>
            <a:r>
              <a:rPr lang="en-US" sz="2000" b="1" dirty="0" err="1">
                <a:latin typeface="Times New Roman" pitchFamily="18" charset="0"/>
                <a:cs typeface="Times New Roman" pitchFamily="18" charset="0"/>
              </a:rPr>
              <a:t>i</a:t>
            </a:r>
            <a:r>
              <a:rPr lang="en-US" sz="2000" b="1" dirty="0">
                <a:latin typeface="Times New Roman" pitchFamily="18" charset="0"/>
                <a:cs typeface="Times New Roman" pitchFamily="18" charset="0"/>
              </a:rPr>
              <a:t>) – </a:t>
            </a:r>
            <a:r>
              <a:rPr lang="en-US" sz="2000" dirty="0">
                <a:latin typeface="Times New Roman" pitchFamily="18" charset="0"/>
                <a:cs typeface="Times New Roman" pitchFamily="18" charset="0"/>
              </a:rPr>
              <a:t>In oral communication the speaker has the advantage of understanding the group he is addressing. He can immediately understand the group’s reaction and can arrive at a satisfactory conclusion.</a:t>
            </a:r>
          </a:p>
          <a:p>
            <a:pPr marL="624078" indent="-514350">
              <a:lnSpc>
                <a:spcPct val="150000"/>
              </a:lnSpc>
              <a:buNone/>
            </a:pPr>
            <a:r>
              <a:rPr lang="en-US" sz="2000" b="1" dirty="0">
                <a:latin typeface="Times New Roman" pitchFamily="18" charset="0"/>
                <a:cs typeface="Times New Roman" pitchFamily="18" charset="0"/>
              </a:rPr>
              <a:t>(ii) – </a:t>
            </a:r>
            <a:r>
              <a:rPr lang="en-US" sz="2000" dirty="0">
                <a:latin typeface="Times New Roman" pitchFamily="18" charset="0"/>
                <a:cs typeface="Times New Roman" pitchFamily="18" charset="0"/>
              </a:rPr>
              <a:t>The most important advantage of oral communication is that it gives immediate feedback to the participants in the communication, when engaged in discourse with somebody we can ask for clarification or further elaboration, justification etc.</a:t>
            </a:r>
          </a:p>
          <a:p>
            <a:pPr marL="624078" indent="-514350">
              <a:lnSpc>
                <a:spcPct val="150000"/>
              </a:lnSpc>
              <a:buNone/>
            </a:pPr>
            <a:r>
              <a:rPr lang="en-US" sz="2000" b="1" dirty="0">
                <a:latin typeface="Times New Roman" pitchFamily="18" charset="0"/>
                <a:cs typeface="Times New Roman" pitchFamily="18" charset="0"/>
              </a:rPr>
              <a:t>(iii) – </a:t>
            </a:r>
            <a:r>
              <a:rPr lang="en-US" sz="2000" dirty="0">
                <a:latin typeface="Times New Roman" pitchFamily="18" charset="0"/>
                <a:cs typeface="Times New Roman" pitchFamily="18" charset="0"/>
              </a:rPr>
              <a:t>Oral communication saves time and creates a conductive atmosphere in an organization . It brings the superiors and subordinates closer.</a:t>
            </a:r>
          </a:p>
          <a:p>
            <a:pPr marL="624078" indent="-514350">
              <a:lnSpc>
                <a:spcPct val="150000"/>
              </a:lnSpc>
              <a:buNone/>
            </a:pPr>
            <a:r>
              <a:rPr lang="en-US" sz="2000" b="1" dirty="0">
                <a:latin typeface="Times New Roman" pitchFamily="18" charset="0"/>
                <a:cs typeface="Times New Roman" pitchFamily="18" charset="0"/>
              </a:rPr>
              <a:t>(iv) – </a:t>
            </a:r>
            <a:r>
              <a:rPr lang="en-US" sz="2000" dirty="0">
                <a:latin typeface="Times New Roman" pitchFamily="18" charset="0"/>
                <a:cs typeface="Times New Roman" pitchFamily="18" charset="0"/>
              </a:rPr>
              <a:t>Oral communication also gives the speaker an opportunity to correct himself and make himself clear by changing his voice, tone, pitch etc. </a:t>
            </a:r>
          </a:p>
          <a:p>
            <a:pPr>
              <a:lnSpc>
                <a:spcPct val="150000"/>
              </a:lnSpc>
              <a:buNone/>
            </a:pPr>
            <a:endParaRPr lang="en-US" sz="2000" dirty="0">
              <a:latin typeface="Times New Roman" pitchFamily="18" charset="0"/>
              <a:cs typeface="Times New Roman" pitchFamily="18" charset="0"/>
            </a:endParaRPr>
          </a:p>
          <a:p>
            <a:pPr>
              <a:lnSpc>
                <a:spcPct val="150000"/>
              </a:lnSpc>
              <a:buNone/>
            </a:pPr>
            <a:r>
              <a:rPr lang="en-US" sz="2000" dirty="0">
                <a:latin typeface="Times New Roman" pitchFamily="18" charset="0"/>
                <a:cs typeface="Times New Roman" pitchFamily="18" charset="0"/>
              </a:rPr>
              <a:t>        </a:t>
            </a:r>
            <a:endParaRPr lang="en-US" sz="2000" b="1" dirty="0">
              <a:latin typeface="Times New Roman" pitchFamily="18" charset="0"/>
              <a:cs typeface="Times New Roman" pitchFamily="18" charset="0"/>
            </a:endParaRPr>
          </a:p>
          <a:p>
            <a:pPr>
              <a:lnSpc>
                <a:spcPct val="150000"/>
              </a:lnSpc>
              <a:buNone/>
            </a:pPr>
            <a:endParaRPr lang="en-US" sz="2000" b="1" dirty="0">
              <a:latin typeface="Times New Roman" pitchFamily="18" charset="0"/>
              <a:cs typeface="Times New Roman" pitchFamily="18" charset="0"/>
            </a:endParaRPr>
          </a:p>
          <a:p>
            <a:pPr>
              <a:lnSpc>
                <a:spcPct val="150000"/>
              </a:lnSpc>
              <a:buNone/>
            </a:pPr>
            <a:endParaRPr lang="en-US" sz="2000" dirty="0">
              <a:latin typeface="Times New Roman" pitchFamily="18" charset="0"/>
              <a:cs typeface="Times New Roman" pitchFamily="18" charset="0"/>
            </a:endParaRPr>
          </a:p>
          <a:p>
            <a:pPr>
              <a:lnSpc>
                <a:spcPct val="150000"/>
              </a:lnSpc>
              <a:buNone/>
            </a:pPr>
            <a:endParaRPr lang="en-US" sz="2000" b="1" dirty="0">
              <a:latin typeface="Times New Roman" pitchFamily="18" charset="0"/>
              <a:cs typeface="Times New Roman" pitchFamily="18" charset="0"/>
            </a:endParaRPr>
          </a:p>
          <a:p>
            <a:pPr>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pPr>
              <a:buNone/>
            </a:pPr>
            <a:endParaRPr lang="en-US" sz="2000" b="1" dirty="0">
              <a:latin typeface="Times New Roman" pitchFamily="18" charset="0"/>
              <a:cs typeface="Times New Roman" pitchFamily="18" charset="0"/>
            </a:endParaRPr>
          </a:p>
          <a:p>
            <a:pPr>
              <a:lnSpc>
                <a:spcPct val="150000"/>
              </a:lnSpc>
              <a:buNone/>
            </a:pPr>
            <a:r>
              <a:rPr lang="en-US" sz="2000" b="1" dirty="0">
                <a:latin typeface="Times New Roman" pitchFamily="18" charset="0"/>
                <a:cs typeface="Times New Roman" pitchFamily="18" charset="0"/>
              </a:rPr>
              <a:t>VERBAL COMMUNICATION: WRITTEN – </a:t>
            </a:r>
            <a:endParaRPr lang="en-US" sz="2000" dirty="0">
              <a:latin typeface="Times New Roman" pitchFamily="18" charset="0"/>
              <a:cs typeface="Times New Roman" pitchFamily="18" charset="0"/>
            </a:endParaRPr>
          </a:p>
          <a:p>
            <a:pPr algn="just">
              <a:lnSpc>
                <a:spcPct val="150000"/>
              </a:lnSpc>
              <a:buNone/>
            </a:pPr>
            <a:r>
              <a:rPr lang="en-US" sz="2600" dirty="0">
                <a:latin typeface="Times New Roman" pitchFamily="18" charset="0"/>
                <a:cs typeface="Times New Roman" pitchFamily="18" charset="0"/>
              </a:rPr>
              <a:t>               </a:t>
            </a:r>
            <a:r>
              <a:rPr lang="en-US" sz="2000" dirty="0">
                <a:latin typeface="Times New Roman" pitchFamily="18" charset="0"/>
                <a:cs typeface="Times New Roman" pitchFamily="18" charset="0"/>
              </a:rPr>
              <a:t>Written communication involves any type of interaction that makes use of the written word. It is one of the two main types of communication, along with oral/spoken communication. Written communication is very common in business situations, so it is important for small business owners and managers to develop effective written communication skills. Some of the various forms of written communication that are used internally for business operations include memos, reports, bulletins, job descriptions, employee manuals, and electronic mail. electronic mail, Internet Web sites, letters, proposals, telegrams, faxes, postcards, contracts, advertisements, brochures, and news releases.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pPr>
              <a:lnSpc>
                <a:spcPct val="150000"/>
              </a:lnSpc>
              <a:buNone/>
            </a:pPr>
            <a:endParaRPr lang="en-US" sz="2000" dirty="0">
              <a:latin typeface="Times New Roman" pitchFamily="18" charset="0"/>
              <a:cs typeface="Times New Roman" pitchFamily="18" charset="0"/>
            </a:endParaRPr>
          </a:p>
          <a:p>
            <a:pPr>
              <a:lnSpc>
                <a:spcPct val="150000"/>
              </a:lnSpc>
              <a:buNone/>
            </a:pPr>
            <a:r>
              <a:rPr lang="en-US" sz="2000" dirty="0">
                <a:latin typeface="Times New Roman" pitchFamily="18" charset="0"/>
                <a:cs typeface="Times New Roman" pitchFamily="18" charset="0"/>
              </a:rPr>
              <a:t>            While oral communication comes naturally and spontaneously to man, written communication requires a lot of efforts  but one thing is clear, whatever has been written, unless destroyed becomes permanent. Words spoken are, however, likely to be forgotten but written communication is indispensable.</a:t>
            </a:r>
          </a:p>
          <a:p>
            <a:pPr>
              <a:lnSpc>
                <a:spcPct val="150000"/>
              </a:lnSpc>
              <a:buNone/>
            </a:pPr>
            <a:r>
              <a:rPr lang="en-US" sz="2000" b="1" dirty="0">
                <a:latin typeface="Times New Roman" pitchFamily="18" charset="0"/>
                <a:cs typeface="Times New Roman" pitchFamily="18" charset="0"/>
              </a:rPr>
              <a:t>LIMITATIONS OF WRITTEN COMMUNICATION – </a:t>
            </a:r>
          </a:p>
          <a:p>
            <a:pPr marL="624078" indent="-514350">
              <a:lnSpc>
                <a:spcPct val="150000"/>
              </a:lnSpc>
              <a:buNone/>
            </a:pPr>
            <a:r>
              <a:rPr lang="en-US" sz="2000" b="1" dirty="0">
                <a:latin typeface="Times New Roman" pitchFamily="18" charset="0"/>
                <a:cs typeface="Times New Roman" pitchFamily="18" charset="0"/>
              </a:rPr>
              <a:t>(</a:t>
            </a:r>
            <a:r>
              <a:rPr lang="en-US" sz="2000" b="1" dirty="0" err="1">
                <a:latin typeface="Times New Roman" pitchFamily="18" charset="0"/>
                <a:cs typeface="Times New Roman" pitchFamily="18" charset="0"/>
              </a:rPr>
              <a:t>i</a:t>
            </a:r>
            <a:r>
              <a:rPr lang="en-US" sz="2000" b="1" dirty="0">
                <a:latin typeface="Times New Roman" pitchFamily="18" charset="0"/>
                <a:cs typeface="Times New Roman" pitchFamily="18" charset="0"/>
              </a:rPr>
              <a:t>) – </a:t>
            </a:r>
            <a:r>
              <a:rPr lang="en-US" sz="2000" dirty="0">
                <a:latin typeface="Times New Roman" pitchFamily="18" charset="0"/>
                <a:cs typeface="Times New Roman" pitchFamily="18" charset="0"/>
              </a:rPr>
              <a:t>It is time consumable, immediate feedback is not possible.</a:t>
            </a:r>
          </a:p>
          <a:p>
            <a:pPr marL="624078" indent="-514350">
              <a:lnSpc>
                <a:spcPct val="150000"/>
              </a:lnSpc>
              <a:buNone/>
            </a:pPr>
            <a:r>
              <a:rPr lang="en-US" sz="2000" b="1" dirty="0">
                <a:latin typeface="Times New Roman" pitchFamily="18" charset="0"/>
                <a:cs typeface="Times New Roman" pitchFamily="18" charset="0"/>
              </a:rPr>
              <a:t>(ii) – </a:t>
            </a:r>
            <a:r>
              <a:rPr lang="en-US" sz="2000" dirty="0">
                <a:latin typeface="Times New Roman" pitchFamily="18" charset="0"/>
                <a:cs typeface="Times New Roman" pitchFamily="18" charset="0"/>
              </a:rPr>
              <a:t>It is costly in terms of money and time.</a:t>
            </a:r>
          </a:p>
          <a:p>
            <a:pPr marL="624078" indent="-514350">
              <a:lnSpc>
                <a:spcPct val="150000"/>
              </a:lnSpc>
              <a:buNone/>
            </a:pPr>
            <a:r>
              <a:rPr lang="en-US" sz="2000" b="1" dirty="0">
                <a:latin typeface="Times New Roman" pitchFamily="18" charset="0"/>
                <a:cs typeface="Times New Roman" pitchFamily="18" charset="0"/>
              </a:rPr>
              <a:t>(iii) – </a:t>
            </a:r>
            <a:r>
              <a:rPr lang="en-US" sz="2000" dirty="0">
                <a:latin typeface="Times New Roman" pitchFamily="18" charset="0"/>
                <a:cs typeface="Times New Roman" pitchFamily="18" charset="0"/>
              </a:rPr>
              <a:t>It becomes ineffective in the hands of  those who are poor in expression. </a:t>
            </a:r>
          </a:p>
          <a:p>
            <a:pPr marL="624078" indent="-514350">
              <a:lnSpc>
                <a:spcPct val="150000"/>
              </a:lnSpc>
              <a:buNone/>
            </a:pPr>
            <a:r>
              <a:rPr lang="en-US" sz="2000" b="1" dirty="0">
                <a:latin typeface="Times New Roman" pitchFamily="18" charset="0"/>
                <a:cs typeface="Times New Roman" pitchFamily="18" charset="0"/>
              </a:rPr>
              <a:t>(iv) – </a:t>
            </a:r>
            <a:r>
              <a:rPr lang="en-US" sz="2000" dirty="0">
                <a:latin typeface="Times New Roman" pitchFamily="18" charset="0"/>
                <a:cs typeface="Times New Roman" pitchFamily="18" charset="0"/>
              </a:rPr>
              <a:t>It builds up unmanageable piles of paper and files which cost a lot to the organization.</a:t>
            </a:r>
            <a:endParaRPr lang="en-US" sz="2000" b="1" dirty="0">
              <a:latin typeface="Times New Roman" pitchFamily="18" charset="0"/>
              <a:cs typeface="Times New Roman" pitchFamily="18" charset="0"/>
            </a:endParaRPr>
          </a:p>
          <a:p>
            <a:pPr marL="624078" indent="-514350">
              <a:lnSpc>
                <a:spcPct val="150000"/>
              </a:lnSpc>
              <a:buNone/>
            </a:pPr>
            <a:endParaRPr lang="en-US" sz="2000" dirty="0">
              <a:latin typeface="Times New Roman" pitchFamily="18" charset="0"/>
              <a:cs typeface="Times New Roman" pitchFamily="18" charset="0"/>
            </a:endParaRPr>
          </a:p>
          <a:p>
            <a:pPr>
              <a:lnSpc>
                <a:spcPct val="150000"/>
              </a:lnSpc>
              <a:buNone/>
            </a:pPr>
            <a:endParaRPr lang="en-US" sz="2000" dirty="0">
              <a:latin typeface="Times New Roman" pitchFamily="18" charset="0"/>
              <a:cs typeface="Times New Roman" pitchFamily="18" charset="0"/>
            </a:endParaRP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fontScale="25000" lnSpcReduction="20000"/>
          </a:bodyPr>
          <a:lstStyle/>
          <a:p>
            <a:pPr>
              <a:buNone/>
            </a:pPr>
            <a:endParaRPr lang="en-US" sz="2000" dirty="0">
              <a:latin typeface="Times New Roman" pitchFamily="18" charset="0"/>
              <a:cs typeface="Times New Roman" pitchFamily="18" charset="0"/>
            </a:endParaRPr>
          </a:p>
          <a:p>
            <a:pPr>
              <a:lnSpc>
                <a:spcPct val="150000"/>
              </a:lnSpc>
              <a:buNone/>
            </a:pPr>
            <a:endParaRPr lang="en-US" sz="8000" b="1" dirty="0">
              <a:latin typeface="Times New Roman" pitchFamily="18" charset="0"/>
              <a:cs typeface="Times New Roman" pitchFamily="18" charset="0"/>
            </a:endParaRPr>
          </a:p>
          <a:p>
            <a:pPr>
              <a:lnSpc>
                <a:spcPct val="150000"/>
              </a:lnSpc>
              <a:buNone/>
            </a:pPr>
            <a:r>
              <a:rPr lang="en-US" sz="8000" b="1" dirty="0">
                <a:latin typeface="Times New Roman" pitchFamily="18" charset="0"/>
                <a:cs typeface="Times New Roman" pitchFamily="18" charset="0"/>
              </a:rPr>
              <a:t>ADVANTAGES OF WRITTEN COMMUNICATION –</a:t>
            </a:r>
          </a:p>
          <a:p>
            <a:pPr>
              <a:lnSpc>
                <a:spcPct val="150000"/>
              </a:lnSpc>
              <a:buNone/>
            </a:pPr>
            <a:r>
              <a:rPr lang="en-US" sz="8000" b="1" dirty="0">
                <a:latin typeface="Times New Roman" pitchFamily="18" charset="0"/>
                <a:cs typeface="Times New Roman" pitchFamily="18" charset="0"/>
              </a:rPr>
              <a:t>(</a:t>
            </a:r>
            <a:r>
              <a:rPr lang="en-US" sz="8000" b="1" dirty="0" err="1">
                <a:latin typeface="Times New Roman" pitchFamily="18" charset="0"/>
                <a:cs typeface="Times New Roman" pitchFamily="18" charset="0"/>
              </a:rPr>
              <a:t>i</a:t>
            </a:r>
            <a:r>
              <a:rPr lang="en-US" sz="8000" b="1" dirty="0">
                <a:latin typeface="Times New Roman" pitchFamily="18" charset="0"/>
                <a:cs typeface="Times New Roman" pitchFamily="18" charset="0"/>
              </a:rPr>
              <a:t>) - </a:t>
            </a:r>
            <a:r>
              <a:rPr lang="en-US" sz="8000" dirty="0">
                <a:latin typeface="Times New Roman" pitchFamily="18" charset="0"/>
                <a:cs typeface="Times New Roman" pitchFamily="18" charset="0"/>
              </a:rPr>
              <a:t>It provides us records, references etc. on which important decision rests.</a:t>
            </a:r>
          </a:p>
          <a:p>
            <a:pPr marL="624078" indent="-514350">
              <a:lnSpc>
                <a:spcPct val="170000"/>
              </a:lnSpc>
              <a:buNone/>
            </a:pPr>
            <a:r>
              <a:rPr lang="en-US" sz="8000" b="1" dirty="0">
                <a:latin typeface="Times New Roman" pitchFamily="18" charset="0"/>
                <a:cs typeface="Times New Roman" pitchFamily="18" charset="0"/>
              </a:rPr>
              <a:t>(ii) – </a:t>
            </a:r>
            <a:r>
              <a:rPr lang="en-US" sz="8000" dirty="0">
                <a:latin typeface="Times New Roman" pitchFamily="18" charset="0"/>
                <a:cs typeface="Times New Roman" pitchFamily="18" charset="0"/>
              </a:rPr>
              <a:t>It gives the legal defense to the organization through records, lectures and     instructions etc.</a:t>
            </a:r>
          </a:p>
          <a:p>
            <a:pPr marL="624078" indent="-514350">
              <a:lnSpc>
                <a:spcPct val="170000"/>
              </a:lnSpc>
              <a:buNone/>
            </a:pPr>
            <a:r>
              <a:rPr lang="en-US" sz="8000" b="1" dirty="0">
                <a:latin typeface="Times New Roman" pitchFamily="18" charset="0"/>
                <a:cs typeface="Times New Roman" pitchFamily="18" charset="0"/>
              </a:rPr>
              <a:t>(iii) – </a:t>
            </a:r>
            <a:r>
              <a:rPr lang="en-US" sz="8000" dirty="0">
                <a:latin typeface="Times New Roman" pitchFamily="18" charset="0"/>
                <a:cs typeface="Times New Roman" pitchFamily="18" charset="0"/>
              </a:rPr>
              <a:t>it builds up the good image of the company.</a:t>
            </a:r>
          </a:p>
          <a:p>
            <a:pPr marL="624078" indent="-514350">
              <a:lnSpc>
                <a:spcPct val="170000"/>
              </a:lnSpc>
              <a:buNone/>
            </a:pPr>
            <a:r>
              <a:rPr lang="en-US" sz="8000" b="1" dirty="0">
                <a:latin typeface="Times New Roman" pitchFamily="18" charset="0"/>
                <a:cs typeface="Times New Roman" pitchFamily="18" charset="0"/>
              </a:rPr>
              <a:t>(iv) – </a:t>
            </a:r>
            <a:r>
              <a:rPr lang="en-US" sz="8000" dirty="0">
                <a:latin typeface="Times New Roman" pitchFamily="18" charset="0"/>
                <a:cs typeface="Times New Roman" pitchFamily="18" charset="0"/>
              </a:rPr>
              <a:t>It is permanent and responsibility can be easily assigned.  </a:t>
            </a:r>
          </a:p>
          <a:p>
            <a:pPr>
              <a:lnSpc>
                <a:spcPct val="170000"/>
              </a:lnSpc>
              <a:buNone/>
            </a:pPr>
            <a:r>
              <a:rPr lang="en-US" sz="8000" b="1" dirty="0">
                <a:latin typeface="Times New Roman" pitchFamily="18" charset="0"/>
                <a:cs typeface="Times New Roman" pitchFamily="18" charset="0"/>
              </a:rPr>
              <a:t>(v) - </a:t>
            </a:r>
            <a:r>
              <a:rPr lang="en-US" sz="8000" dirty="0">
                <a:latin typeface="Times New Roman" pitchFamily="18" charset="0"/>
                <a:cs typeface="Times New Roman" pitchFamily="18" charset="0"/>
              </a:rPr>
              <a:t>Language used in written communication is less subject to change</a:t>
            </a:r>
          </a:p>
          <a:p>
            <a:pPr>
              <a:lnSpc>
                <a:spcPct val="170000"/>
              </a:lnSpc>
              <a:buNone/>
            </a:pPr>
            <a:r>
              <a:rPr lang="en-US" sz="8000" b="1" dirty="0">
                <a:latin typeface="Times New Roman" pitchFamily="18" charset="0"/>
                <a:cs typeface="Times New Roman" pitchFamily="18" charset="0"/>
              </a:rPr>
              <a:t>(vi) - </a:t>
            </a:r>
            <a:r>
              <a:rPr lang="en-US" sz="8000" dirty="0">
                <a:latin typeface="Times New Roman" pitchFamily="18" charset="0"/>
                <a:cs typeface="Times New Roman" pitchFamily="18" charset="0"/>
              </a:rPr>
              <a:t>Can be reviewed when required over a period of time</a:t>
            </a:r>
          </a:p>
          <a:p>
            <a:pPr>
              <a:lnSpc>
                <a:spcPct val="170000"/>
              </a:lnSpc>
              <a:buNone/>
            </a:pPr>
            <a:r>
              <a:rPr lang="en-US" sz="8000" b="1" dirty="0">
                <a:latin typeface="Times New Roman" pitchFamily="18" charset="0"/>
                <a:cs typeface="Times New Roman" pitchFamily="18" charset="0"/>
              </a:rPr>
              <a:t>(vii) - </a:t>
            </a:r>
            <a:r>
              <a:rPr lang="en-US" sz="8000" dirty="0">
                <a:latin typeface="Times New Roman" pitchFamily="18" charset="0"/>
                <a:cs typeface="Times New Roman" pitchFamily="18" charset="0"/>
              </a:rPr>
              <a:t>Less likely to be misunderstood in case of doubt they can be read again</a:t>
            </a:r>
          </a:p>
          <a:p>
            <a:pPr>
              <a:lnSpc>
                <a:spcPct val="170000"/>
              </a:lnSpc>
              <a:buNone/>
            </a:pPr>
            <a:r>
              <a:rPr lang="en-US" sz="8000" b="1" dirty="0">
                <a:latin typeface="Times New Roman" pitchFamily="18" charset="0"/>
                <a:cs typeface="Times New Roman" pitchFamily="18" charset="0"/>
              </a:rPr>
              <a:t>(viii) - </a:t>
            </a:r>
            <a:r>
              <a:rPr lang="en-US" sz="8000" dirty="0">
                <a:latin typeface="Times New Roman" pitchFamily="18" charset="0"/>
                <a:cs typeface="Times New Roman" pitchFamily="18" charset="0"/>
              </a:rPr>
              <a:t>Information can be disseminated widely with the help of printing and duplicating machines</a:t>
            </a:r>
          </a:p>
          <a:p>
            <a:pPr>
              <a:buNone/>
            </a:pPr>
            <a:endParaRPr lang="en-US" sz="8000" dirty="0">
              <a:latin typeface="Times New Roman" pitchFamily="18" charset="0"/>
              <a:cs typeface="Times New Roman" pitchFamily="18" charset="0"/>
            </a:endParaRPr>
          </a:p>
          <a:p>
            <a:pPr marL="624078" indent="-514350">
              <a:lnSpc>
                <a:spcPct val="150000"/>
              </a:lnSpc>
              <a:buNone/>
            </a:pPr>
            <a:endParaRPr lang="en-US" sz="2000" dirty="0">
              <a:latin typeface="Times New Roman" pitchFamily="18" charset="0"/>
              <a:cs typeface="Times New Roman" pitchFamily="18" charset="0"/>
            </a:endParaRPr>
          </a:p>
          <a:p>
            <a:pPr>
              <a:lnSpc>
                <a:spcPct val="150000"/>
              </a:lnSpc>
              <a:buNone/>
            </a:pPr>
            <a:endParaRPr lang="en-US" sz="2000" b="1" dirty="0"/>
          </a:p>
          <a:p>
            <a:pPr>
              <a:lnSpc>
                <a:spcPct val="150000"/>
              </a:lnSpc>
              <a:buNone/>
            </a:pPr>
            <a:endParaRPr lang="en-US" sz="2000" b="1" dirty="0"/>
          </a:p>
          <a:p>
            <a:pPr>
              <a:lnSpc>
                <a:spcPct val="150000"/>
              </a:lnSpc>
              <a:buNone/>
            </a:pPr>
            <a:r>
              <a:rPr lang="en-US" sz="2000" b="1" dirty="0">
                <a:latin typeface="Times New Roman" pitchFamily="18" charset="0"/>
                <a:cs typeface="Times New Roman" pitchFamily="18" charset="0"/>
              </a:rPr>
              <a:t> </a:t>
            </a:r>
            <a:endParaRPr lang="en-US" sz="2000" dirty="0"/>
          </a:p>
          <a:p>
            <a:pPr>
              <a:buNone/>
            </a:pPr>
            <a:endParaRPr lang="en-US" sz="2000"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pPr>
              <a:buNone/>
            </a:pPr>
            <a:endParaRPr lang="en-US" sz="2000" b="1" dirty="0">
              <a:latin typeface="Times New Roman" pitchFamily="18" charset="0"/>
              <a:cs typeface="Times New Roman" pitchFamily="18" charset="0"/>
            </a:endParaRPr>
          </a:p>
          <a:p>
            <a:pPr algn="ctr">
              <a:buNone/>
            </a:pPr>
            <a:r>
              <a:rPr lang="en-US" sz="3200" b="1" dirty="0">
                <a:latin typeface="Times New Roman" pitchFamily="18" charset="0"/>
                <a:cs typeface="Times New Roman" pitchFamily="18" charset="0"/>
              </a:rPr>
              <a:t>NON-VERBAL COMMUNICATION</a:t>
            </a:r>
          </a:p>
          <a:p>
            <a:pPr>
              <a:lnSpc>
                <a:spcPct val="160000"/>
              </a:lnSpc>
              <a:buNone/>
            </a:pPr>
            <a:endParaRPr lang="en-US" sz="8000" dirty="0">
              <a:latin typeface="Times New Roman" pitchFamily="18" charset="0"/>
              <a:cs typeface="Times New Roman" pitchFamily="18" charset="0"/>
            </a:endParaRPr>
          </a:p>
          <a:p>
            <a:pPr>
              <a:lnSpc>
                <a:spcPct val="150000"/>
              </a:lnSpc>
              <a:buNone/>
            </a:pPr>
            <a:endParaRPr lang="en-US" sz="2000" dirty="0">
              <a:latin typeface="Times New Roman" pitchFamily="18" charset="0"/>
              <a:cs typeface="Times New Roman" pitchFamily="18" charset="0"/>
            </a:endParaRPr>
          </a:p>
          <a:p>
            <a:pPr>
              <a:buNone/>
            </a:pPr>
            <a:endParaRPr lang="en-US" dirty="0"/>
          </a:p>
        </p:txBody>
      </p:sp>
      <p:pic>
        <p:nvPicPr>
          <p:cNvPr id="3" name="Picture 1" descr="people.jpg"/>
          <p:cNvPicPr>
            <a:picLocks noGrp="1" noChangeAspect="1"/>
          </p:cNvPicPr>
          <p:nvPr isPhoto="1"/>
        </p:nvPicPr>
        <p:blipFill>
          <a:blip r:embed="rId2"/>
          <a:srcRect/>
          <a:stretch>
            <a:fillRect/>
          </a:stretch>
        </p:blipFill>
        <p:spPr bwMode="auto">
          <a:xfrm>
            <a:off x="0" y="1371600"/>
            <a:ext cx="9144000" cy="548640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
          <p:cNvSpPr>
            <a:spLocks noChangeArrowheads="1"/>
          </p:cNvSpPr>
          <p:nvPr/>
        </p:nvSpPr>
        <p:spPr bwMode="auto">
          <a:xfrm>
            <a:off x="28575" y="0"/>
            <a:ext cx="4467225" cy="13726835"/>
          </a:xfrm>
          <a:prstGeom prst="rect">
            <a:avLst/>
          </a:prstGeom>
          <a:noFill/>
          <a:ln w="9525">
            <a:noFill/>
            <a:miter lim="800000"/>
            <a:headEnd/>
            <a:tailEnd/>
          </a:ln>
        </p:spPr>
        <p:txBody>
          <a:bodyPr wrap="square">
            <a:spAutoFit/>
          </a:bodyPr>
          <a:lstStyle/>
          <a:p>
            <a:pPr>
              <a:lnSpc>
                <a:spcPct val="150000"/>
              </a:lnSpc>
            </a:pPr>
            <a:r>
              <a:rPr lang="en-US" sz="2000" dirty="0">
                <a:latin typeface="Times New Roman" pitchFamily="18" charset="0"/>
                <a:cs typeface="Times New Roman" pitchFamily="18" charset="0"/>
              </a:rPr>
              <a:t>"I am the most spontaneous speaker in the world because every word, every gesture, and every retort has been carefully rehearsed.“</a:t>
            </a:r>
          </a:p>
          <a:p>
            <a:pPr>
              <a:lnSpc>
                <a:spcPct val="150000"/>
              </a:lnSpc>
            </a:pPr>
            <a:r>
              <a:rPr lang="en-US" sz="2000" dirty="0">
                <a:latin typeface="Times New Roman" pitchFamily="18" charset="0"/>
                <a:cs typeface="Times New Roman" pitchFamily="18" charset="0"/>
              </a:rPr>
              <a:t>Non verbal communication means communication without words. It is a process of communication through sending and receiving wordless messages.</a:t>
            </a:r>
          </a:p>
          <a:p>
            <a:pPr>
              <a:lnSpc>
                <a:spcPct val="150000"/>
              </a:lnSpc>
            </a:pPr>
            <a:r>
              <a:rPr lang="en-US" sz="2000" kern="0" dirty="0">
                <a:latin typeface="Times New Roman" pitchFamily="18" charset="0"/>
                <a:cs typeface="Times New Roman" pitchFamily="18" charset="0"/>
              </a:rPr>
              <a:t>Before moving forward, let’s keep in your mind that verbal communication and nonverbal communication are interconnected and they operate together in communication.</a:t>
            </a:r>
          </a:p>
          <a:p>
            <a:endParaRPr lang="en-US" sz="2000" dirty="0">
              <a:latin typeface="Times New Roman" pitchFamily="18" charset="0"/>
              <a:cs typeface="Times New Roman" pitchFamily="18" charset="0"/>
            </a:endParaRPr>
          </a:p>
          <a:p>
            <a:pPr marL="342900" indent="-342900" algn="ctr">
              <a:spcBef>
                <a:spcPct val="20000"/>
              </a:spcBef>
            </a:pPr>
            <a:endParaRPr lang="en-US" sz="2000" b="1"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 </a:t>
            </a:r>
          </a:p>
          <a:p>
            <a:endParaRPr lang="en-US" sz="2000" i="1" dirty="0">
              <a:latin typeface="Times New Roman" pitchFamily="18" charset="0"/>
              <a:cs typeface="Times New Roman" pitchFamily="18" charset="0"/>
            </a:endParaRPr>
          </a:p>
          <a:p>
            <a:endParaRPr lang="en-US" sz="2000" i="1" dirty="0">
              <a:latin typeface="Times New Roman" pitchFamily="18" charset="0"/>
              <a:cs typeface="Times New Roman" pitchFamily="18" charset="0"/>
            </a:endParaRPr>
          </a:p>
          <a:p>
            <a:endParaRPr lang="en-US" sz="2000" i="1" dirty="0">
              <a:latin typeface="Times New Roman" pitchFamily="18" charset="0"/>
              <a:cs typeface="Times New Roman" pitchFamily="18" charset="0"/>
            </a:endParaRPr>
          </a:p>
          <a:p>
            <a:endParaRPr lang="en-US" sz="2000" i="1" dirty="0">
              <a:latin typeface="Times New Roman" pitchFamily="18" charset="0"/>
              <a:cs typeface="Times New Roman" pitchFamily="18" charset="0"/>
            </a:endParaRPr>
          </a:p>
          <a:p>
            <a:endParaRPr lang="en-US" sz="2000" i="1" dirty="0">
              <a:latin typeface="Times New Roman" pitchFamily="18" charset="0"/>
              <a:cs typeface="Times New Roman" pitchFamily="18" charset="0"/>
            </a:endParaRPr>
          </a:p>
          <a:p>
            <a:endParaRPr lang="en-US" sz="2000" i="1" dirty="0">
              <a:latin typeface="Times New Roman" pitchFamily="18" charset="0"/>
              <a:cs typeface="Times New Roman" pitchFamily="18" charset="0"/>
            </a:endParaRPr>
          </a:p>
          <a:p>
            <a:endParaRPr lang="en-US" sz="2000" i="1" dirty="0">
              <a:latin typeface="Times New Roman" pitchFamily="18" charset="0"/>
              <a:cs typeface="Times New Roman" pitchFamily="18" charset="0"/>
            </a:endParaRPr>
          </a:p>
          <a:p>
            <a:endParaRPr lang="en-US" sz="2000" i="1" dirty="0">
              <a:latin typeface="Times New Roman" pitchFamily="18" charset="0"/>
              <a:cs typeface="Times New Roman" pitchFamily="18" charset="0"/>
            </a:endParaRPr>
          </a:p>
          <a:p>
            <a:endParaRPr lang="en-US" sz="2000" i="1" dirty="0">
              <a:latin typeface="Times New Roman" pitchFamily="18" charset="0"/>
              <a:cs typeface="Times New Roman" pitchFamily="18" charset="0"/>
            </a:endParaRPr>
          </a:p>
          <a:p>
            <a:endParaRPr lang="en-US" sz="2000" i="1" dirty="0">
              <a:latin typeface="Times New Roman" pitchFamily="18" charset="0"/>
              <a:cs typeface="Times New Roman" pitchFamily="18" charset="0"/>
            </a:endParaRPr>
          </a:p>
          <a:p>
            <a:br>
              <a:rPr lang="en-US" i="1" dirty="0"/>
            </a:br>
            <a:br>
              <a:rPr lang="en-US" dirty="0"/>
            </a:br>
            <a:endParaRPr lang="en-US" dirty="0"/>
          </a:p>
          <a:p>
            <a:endParaRPr lang="en-US" dirty="0"/>
          </a:p>
          <a:p>
            <a:endParaRPr lang="en-US" dirty="0"/>
          </a:p>
          <a:p>
            <a:endParaRPr lang="en-US" dirty="0"/>
          </a:p>
          <a:p>
            <a:endParaRPr lang="en-US" dirty="0"/>
          </a:p>
          <a:p>
            <a:endParaRPr lang="en-US" dirty="0"/>
          </a:p>
          <a:p>
            <a:endParaRPr lang="en-US" dirty="0"/>
          </a:p>
        </p:txBody>
      </p:sp>
      <p:grpSp>
        <p:nvGrpSpPr>
          <p:cNvPr id="2" name="Group 5"/>
          <p:cNvGrpSpPr>
            <a:grpSpLocks/>
          </p:cNvGrpSpPr>
          <p:nvPr/>
        </p:nvGrpSpPr>
        <p:grpSpPr bwMode="auto">
          <a:xfrm>
            <a:off x="1524000" y="514350"/>
            <a:ext cx="7416800" cy="6049994"/>
            <a:chOff x="1447800" y="452149"/>
            <a:chExt cx="7493000" cy="6050251"/>
          </a:xfrm>
        </p:grpSpPr>
        <p:pic>
          <p:nvPicPr>
            <p:cNvPr id="3077" name="Picture 3" descr="George_Bernard_Shaw.png"/>
            <p:cNvPicPr>
              <a:picLocks noChangeAspect="1"/>
            </p:cNvPicPr>
            <p:nvPr/>
          </p:nvPicPr>
          <p:blipFill>
            <a:blip r:embed="rId2"/>
            <a:srcRect/>
            <a:stretch>
              <a:fillRect/>
            </a:stretch>
          </p:blipFill>
          <p:spPr bwMode="auto">
            <a:xfrm>
              <a:off x="4572000" y="452149"/>
              <a:ext cx="4368800" cy="6050251"/>
            </a:xfrm>
            <a:prstGeom prst="rect">
              <a:avLst/>
            </a:prstGeom>
            <a:noFill/>
            <a:ln w="9525">
              <a:noFill/>
              <a:miter lim="800000"/>
              <a:headEnd/>
              <a:tailEnd/>
            </a:ln>
          </p:spPr>
        </p:pic>
        <p:sp>
          <p:nvSpPr>
            <p:cNvPr id="3078" name="Rectangle 4"/>
            <p:cNvSpPr>
              <a:spLocks noChangeArrowheads="1"/>
            </p:cNvSpPr>
            <p:nvPr/>
          </p:nvSpPr>
          <p:spPr bwMode="auto">
            <a:xfrm>
              <a:off x="1447800" y="1461842"/>
              <a:ext cx="2913811" cy="369348"/>
            </a:xfrm>
            <a:prstGeom prst="rect">
              <a:avLst/>
            </a:prstGeom>
            <a:noFill/>
            <a:ln w="9525">
              <a:noFill/>
              <a:miter lim="800000"/>
              <a:headEnd/>
              <a:tailEnd/>
            </a:ln>
          </p:spPr>
          <p:txBody>
            <a:bodyPr>
              <a:spAutoFit/>
            </a:bodyPr>
            <a:lstStyle/>
            <a:p>
              <a:r>
                <a:rPr lang="en-US" dirty="0">
                  <a:solidFill>
                    <a:schemeClr val="accent2">
                      <a:lumMod val="75000"/>
                    </a:schemeClr>
                  </a:solidFill>
                </a:rPr>
                <a:t>   George Bernard Shaw</a:t>
              </a: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pPr>
              <a:lnSpc>
                <a:spcPct val="160000"/>
              </a:lnSpc>
              <a:buNone/>
            </a:pPr>
            <a:endParaRPr lang="en-US" sz="2000" dirty="0">
              <a:latin typeface="Times New Roman" pitchFamily="18" charset="0"/>
              <a:cs typeface="Times New Roman" pitchFamily="18" charset="0"/>
            </a:endParaRPr>
          </a:p>
          <a:p>
            <a:pPr>
              <a:lnSpc>
                <a:spcPct val="150000"/>
              </a:lnSpc>
              <a:buNone/>
            </a:pPr>
            <a:r>
              <a:rPr lang="en-US" sz="2000" dirty="0">
                <a:latin typeface="Ace"/>
              </a:rPr>
              <a:t>           </a:t>
            </a:r>
            <a:r>
              <a:rPr lang="en-US" sz="2000" dirty="0">
                <a:latin typeface="Times New Roman" pitchFamily="18" charset="0"/>
                <a:cs typeface="Times New Roman" pitchFamily="18" charset="0"/>
              </a:rPr>
              <a:t>Verbal and non verbal are all types of communication. But the difference between them is that we use our </a:t>
            </a:r>
            <a:r>
              <a:rPr lang="en-US" sz="2000" b="1" dirty="0">
                <a:latin typeface="Times New Roman" pitchFamily="18" charset="0"/>
                <a:cs typeface="Times New Roman" pitchFamily="18" charset="0"/>
              </a:rPr>
              <a:t>voice</a:t>
            </a:r>
            <a:r>
              <a:rPr lang="en-US" sz="2000" dirty="0">
                <a:latin typeface="Times New Roman" pitchFamily="18" charset="0"/>
                <a:cs typeface="Times New Roman" pitchFamily="18" charset="0"/>
              </a:rPr>
              <a:t> in verbal communication and we use </a:t>
            </a:r>
            <a:r>
              <a:rPr lang="en-US" sz="2000" b="1" dirty="0">
                <a:latin typeface="Times New Roman" pitchFamily="18" charset="0"/>
                <a:cs typeface="Times New Roman" pitchFamily="18" charset="0"/>
              </a:rPr>
              <a:t>body signs</a:t>
            </a:r>
            <a:r>
              <a:rPr lang="en-US" sz="2000" dirty="0">
                <a:latin typeface="Times New Roman" pitchFamily="18" charset="0"/>
                <a:cs typeface="Times New Roman" pitchFamily="18" charset="0"/>
              </a:rPr>
              <a:t> in non-verbal communication. Verbal &amp; nonverbal Communication plays an important role in how people interact with one another. People are using around </a:t>
            </a:r>
            <a:r>
              <a:rPr lang="en-US" sz="2000" b="1" dirty="0">
                <a:latin typeface="Times New Roman" pitchFamily="18" charset="0"/>
                <a:cs typeface="Times New Roman" pitchFamily="18" charset="0"/>
              </a:rPr>
              <a:t>35% verbal communication</a:t>
            </a:r>
            <a:r>
              <a:rPr lang="en-US" sz="2000" dirty="0">
                <a:latin typeface="Times New Roman" pitchFamily="18" charset="0"/>
                <a:cs typeface="Times New Roman" pitchFamily="18" charset="0"/>
              </a:rPr>
              <a:t> and </a:t>
            </a:r>
            <a:r>
              <a:rPr lang="en-US" sz="2000" b="1" dirty="0">
                <a:latin typeface="Times New Roman" pitchFamily="18" charset="0"/>
                <a:cs typeface="Times New Roman" pitchFamily="18" charset="0"/>
              </a:rPr>
              <a:t>65% nonverbal communication</a:t>
            </a:r>
            <a:r>
              <a:rPr lang="en-US" sz="2000" dirty="0">
                <a:latin typeface="Times New Roman" pitchFamily="18" charset="0"/>
                <a:cs typeface="Times New Roman" pitchFamily="18" charset="0"/>
              </a:rPr>
              <a:t> in daily life. Nonverbal communication has also </a:t>
            </a:r>
            <a:r>
              <a:rPr lang="en-US" sz="2000" b="1" dirty="0">
                <a:latin typeface="Times New Roman" pitchFamily="18" charset="0"/>
                <a:cs typeface="Times New Roman" pitchFamily="18" charset="0"/>
              </a:rPr>
              <a:t>cultural meaning</a:t>
            </a:r>
            <a:r>
              <a:rPr lang="en-US" sz="2000" dirty="0">
                <a:latin typeface="Times New Roman" pitchFamily="18" charset="0"/>
                <a:cs typeface="Times New Roman" pitchFamily="18" charset="0"/>
              </a:rPr>
              <a:t>.</a:t>
            </a:r>
          </a:p>
          <a:p>
            <a:endParaRPr lang="en-US" sz="2000" dirty="0">
              <a:latin typeface="Times New Roman" pitchFamily="18" charset="0"/>
              <a:cs typeface="Times New Roman" pitchFamily="18" charset="0"/>
            </a:endParaRPr>
          </a:p>
          <a:p>
            <a:pPr>
              <a:buNone/>
            </a:pPr>
            <a:r>
              <a:rPr lang="en-US" sz="2000" dirty="0">
                <a:latin typeface="Times New Roman" pitchFamily="18" charset="0"/>
                <a:cs typeface="Times New Roman" pitchFamily="18" charset="0"/>
              </a:rPr>
              <a:t>“The most important thing in communication </a:t>
            </a:r>
          </a:p>
          <a:p>
            <a:pPr>
              <a:buNone/>
            </a:pPr>
            <a:r>
              <a:rPr lang="en-US" sz="2000" dirty="0">
                <a:latin typeface="Times New Roman" pitchFamily="18" charset="0"/>
                <a:cs typeface="Times New Roman" pitchFamily="18" charset="0"/>
              </a:rPr>
              <a:t>   is to hear what isn't being said.”</a:t>
            </a:r>
          </a:p>
          <a:p>
            <a:pPr>
              <a:buNone/>
            </a:pPr>
            <a:r>
              <a:rPr lang="en-US" sz="2000" dirty="0">
                <a:latin typeface="Times New Roman" pitchFamily="18" charset="0"/>
                <a:cs typeface="Times New Roman" pitchFamily="18" charset="0"/>
              </a:rPr>
              <a:t>			                   Peter F. </a:t>
            </a:r>
            <a:r>
              <a:rPr lang="en-US" sz="2000" dirty="0" err="1">
                <a:latin typeface="Times New Roman" pitchFamily="18" charset="0"/>
                <a:cs typeface="Times New Roman" pitchFamily="18" charset="0"/>
              </a:rPr>
              <a:t>Drucker</a:t>
            </a:r>
            <a:endParaRPr lang="en-US" sz="2000" dirty="0">
              <a:latin typeface="Times New Roman" pitchFamily="18" charset="0"/>
              <a:cs typeface="Times New Roman" pitchFamily="18" charset="0"/>
            </a:endParaRPr>
          </a:p>
          <a:p>
            <a:endParaRPr lang="en-US" sz="2000" dirty="0">
              <a:latin typeface="Ace"/>
            </a:endParaRPr>
          </a:p>
          <a:p>
            <a:pPr>
              <a:lnSpc>
                <a:spcPct val="160000"/>
              </a:lnSpc>
              <a:buNone/>
            </a:pPr>
            <a:endParaRPr lang="en-US" sz="2000" dirty="0">
              <a:latin typeface="Times New Roman" pitchFamily="18" charset="0"/>
              <a:cs typeface="Times New Roman" pitchFamily="18" charset="0"/>
            </a:endParaRPr>
          </a:p>
          <a:p>
            <a:pPr>
              <a:buNone/>
            </a:pPr>
            <a:endParaRPr lang="en-US" dirty="0"/>
          </a:p>
        </p:txBody>
      </p:sp>
      <p:pic>
        <p:nvPicPr>
          <p:cNvPr id="3" name="Picture 4" descr="verbal.jpeg"/>
          <p:cNvPicPr>
            <a:picLocks noChangeAspect="1"/>
          </p:cNvPicPr>
          <p:nvPr/>
        </p:nvPicPr>
        <p:blipFill>
          <a:blip r:embed="rId2"/>
          <a:srcRect/>
          <a:stretch>
            <a:fillRect/>
          </a:stretch>
        </p:blipFill>
        <p:spPr bwMode="auto">
          <a:xfrm>
            <a:off x="4953001" y="3276600"/>
            <a:ext cx="4190999" cy="3609975"/>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705600"/>
          </a:xfrm>
        </p:spPr>
        <p:txBody>
          <a:bodyPr/>
          <a:lstStyle/>
          <a:p>
            <a:pPr>
              <a:buNone/>
            </a:pPr>
            <a:endParaRPr lang="en-US" sz="2400" b="1" dirty="0">
              <a:latin typeface="Times New Roman" pitchFamily="18" charset="0"/>
              <a:cs typeface="Times New Roman" pitchFamily="18" charset="0"/>
            </a:endParaRPr>
          </a:p>
          <a:p>
            <a:pPr>
              <a:buNone/>
            </a:pPr>
            <a:r>
              <a:rPr lang="en-US" sz="2400" b="1" dirty="0">
                <a:latin typeface="Times New Roman" pitchFamily="18" charset="0"/>
                <a:cs typeface="Times New Roman" pitchFamily="18" charset="0"/>
              </a:rPr>
              <a:t>FORM OF NONVERBAL COMMUNICATION\</a:t>
            </a:r>
          </a:p>
          <a:p>
            <a:pPr>
              <a:buNone/>
            </a:pPr>
            <a:endParaRPr lang="en-US" sz="2400" b="1" dirty="0">
              <a:latin typeface="Times New Roman" pitchFamily="18" charset="0"/>
              <a:cs typeface="Times New Roman" pitchFamily="18" charset="0"/>
            </a:endParaRPr>
          </a:p>
          <a:p>
            <a:pPr marL="342900" indent="-342900">
              <a:spcBef>
                <a:spcPct val="20000"/>
              </a:spcBef>
              <a:buFont typeface="Arial" pitchFamily="34" charset="0"/>
              <a:buChar char="•"/>
            </a:pPr>
            <a:r>
              <a:rPr lang="en-US" sz="2400" dirty="0">
                <a:latin typeface="Times New Roman" pitchFamily="18" charset="0"/>
                <a:cs typeface="Times New Roman" pitchFamily="18" charset="0"/>
              </a:rPr>
              <a:t>Eye Contact</a:t>
            </a:r>
          </a:p>
          <a:p>
            <a:pPr marL="342900" indent="-342900">
              <a:spcBef>
                <a:spcPct val="20000"/>
              </a:spcBef>
              <a:buFont typeface="Arial" pitchFamily="34" charset="0"/>
              <a:buChar char="•"/>
            </a:pPr>
            <a:r>
              <a:rPr lang="en-US" sz="2400" dirty="0">
                <a:latin typeface="Times New Roman" pitchFamily="18" charset="0"/>
                <a:cs typeface="Times New Roman" pitchFamily="18" charset="0"/>
              </a:rPr>
              <a:t>Voice Modulation</a:t>
            </a:r>
          </a:p>
          <a:p>
            <a:pPr marL="342900" indent="-342900">
              <a:spcBef>
                <a:spcPct val="20000"/>
              </a:spcBef>
              <a:buFont typeface="Arial" pitchFamily="34" charset="0"/>
              <a:buChar char="•"/>
            </a:pPr>
            <a:r>
              <a:rPr lang="en-US" sz="2400" dirty="0">
                <a:latin typeface="Times New Roman" pitchFamily="18" charset="0"/>
                <a:cs typeface="Times New Roman" pitchFamily="18" charset="0"/>
              </a:rPr>
              <a:t>Gestures</a:t>
            </a:r>
          </a:p>
          <a:p>
            <a:pPr marL="342900" indent="-342900">
              <a:spcBef>
                <a:spcPct val="20000"/>
              </a:spcBef>
              <a:buFont typeface="Arial" pitchFamily="34" charset="0"/>
              <a:buChar char="•"/>
            </a:pPr>
            <a:r>
              <a:rPr lang="en-US" sz="2400" dirty="0">
                <a:latin typeface="Times New Roman" pitchFamily="18" charset="0"/>
                <a:cs typeface="Times New Roman" pitchFamily="18" charset="0"/>
              </a:rPr>
              <a:t>Body language</a:t>
            </a:r>
          </a:p>
          <a:p>
            <a:pPr marL="342900" indent="-342900">
              <a:spcBef>
                <a:spcPct val="20000"/>
              </a:spcBef>
              <a:buFont typeface="Arial" pitchFamily="34" charset="0"/>
              <a:buChar char="•"/>
            </a:pPr>
            <a:r>
              <a:rPr lang="en-US" sz="2400" dirty="0">
                <a:latin typeface="Times New Roman" pitchFamily="18" charset="0"/>
                <a:cs typeface="Times New Roman" pitchFamily="18" charset="0"/>
              </a:rPr>
              <a:t>Posture</a:t>
            </a:r>
          </a:p>
          <a:p>
            <a:pPr marL="342900" indent="-342900">
              <a:spcBef>
                <a:spcPct val="20000"/>
              </a:spcBef>
              <a:buFont typeface="Arial" pitchFamily="34" charset="0"/>
              <a:buChar char="•"/>
            </a:pPr>
            <a:r>
              <a:rPr lang="en-US" sz="2400" dirty="0">
                <a:latin typeface="Times New Roman" pitchFamily="18" charset="0"/>
                <a:cs typeface="Times New Roman" pitchFamily="18" charset="0"/>
              </a:rPr>
              <a:t>Facial Expressions</a:t>
            </a:r>
          </a:p>
          <a:p>
            <a:pPr marL="342900" indent="-342900">
              <a:spcBef>
                <a:spcPct val="20000"/>
              </a:spcBef>
              <a:buFont typeface="Arial" pitchFamily="34" charset="0"/>
              <a:buChar char="•"/>
            </a:pPr>
            <a:r>
              <a:rPr lang="en-US" sz="2400" dirty="0" err="1">
                <a:latin typeface="Times New Roman" pitchFamily="18" charset="0"/>
                <a:cs typeface="Times New Roman" pitchFamily="18" charset="0"/>
              </a:rPr>
              <a:t>Haptics</a:t>
            </a:r>
            <a:r>
              <a:rPr lang="en-US" sz="2400" dirty="0">
                <a:latin typeface="Times New Roman" pitchFamily="18" charset="0"/>
                <a:cs typeface="Times New Roman" pitchFamily="18" charset="0"/>
              </a:rPr>
              <a:t> or Touch</a:t>
            </a:r>
          </a:p>
          <a:p>
            <a:pPr marL="342900" indent="-342900">
              <a:spcBef>
                <a:spcPct val="20000"/>
              </a:spcBef>
              <a:buFont typeface="Arial" pitchFamily="34" charset="0"/>
              <a:buChar char="•"/>
            </a:pPr>
            <a:r>
              <a:rPr lang="en-US" sz="2400" dirty="0">
                <a:latin typeface="Times New Roman" pitchFamily="18" charset="0"/>
                <a:cs typeface="Times New Roman" pitchFamily="18" charset="0"/>
              </a:rPr>
              <a:t>Personal Space</a:t>
            </a:r>
          </a:p>
          <a:p>
            <a:pPr>
              <a:buNone/>
            </a:pPr>
            <a:endParaRPr lang="en-US" sz="2400" b="1" dirty="0">
              <a:latin typeface="Times New Roman" pitchFamily="18" charset="0"/>
              <a:cs typeface="Times New Roman" pitchFamily="18" charset="0"/>
            </a:endParaRPr>
          </a:p>
          <a:p>
            <a:pPr>
              <a:buNone/>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lnSpcReduction="10000"/>
          </a:bodyPr>
          <a:lstStyle/>
          <a:p>
            <a:pPr algn="ctr">
              <a:buNone/>
            </a:pPr>
            <a:endParaRPr lang="en-US" dirty="0"/>
          </a:p>
          <a:p>
            <a:pPr>
              <a:lnSpc>
                <a:spcPct val="150000"/>
              </a:lnSpc>
              <a:buNone/>
            </a:pPr>
            <a:r>
              <a:rPr lang="en-US" sz="2000" dirty="0">
                <a:latin typeface="Times New Roman" pitchFamily="18" charset="0"/>
                <a:cs typeface="Times New Roman" pitchFamily="18" charset="0"/>
              </a:rPr>
              <a:t> </a:t>
            </a:r>
            <a:r>
              <a:rPr lang="en-US" sz="2400" b="1" dirty="0">
                <a:latin typeface="Times New Roman" pitchFamily="18" charset="0"/>
                <a:cs typeface="Times New Roman" pitchFamily="18" charset="0"/>
              </a:rPr>
              <a:t>EYE CONTACT           </a:t>
            </a:r>
          </a:p>
          <a:p>
            <a:pPr>
              <a:lnSpc>
                <a:spcPct val="150000"/>
              </a:lnSpc>
              <a:buNone/>
            </a:pPr>
            <a:r>
              <a:rPr lang="en-US" sz="2000" dirty="0">
                <a:latin typeface="Times New Roman" pitchFamily="18" charset="0"/>
                <a:cs typeface="Times New Roman" pitchFamily="18" charset="0"/>
              </a:rPr>
              <a:t>              Eye contact, a key characteristic of non-verbal communication, expresses</a:t>
            </a:r>
          </a:p>
          <a:p>
            <a:pPr>
              <a:lnSpc>
                <a:spcPct val="150000"/>
              </a:lnSpc>
              <a:buNone/>
            </a:pPr>
            <a:r>
              <a:rPr lang="en-US" sz="2000" dirty="0">
                <a:latin typeface="Times New Roman" pitchFamily="18" charset="0"/>
                <a:cs typeface="Times New Roman" pitchFamily="18" charset="0"/>
              </a:rPr>
              <a:t>much without using a single word. In American culture, maintaining eye contact</a:t>
            </a:r>
          </a:p>
          <a:p>
            <a:pPr>
              <a:lnSpc>
                <a:spcPct val="150000"/>
              </a:lnSpc>
              <a:buNone/>
            </a:pPr>
            <a:r>
              <a:rPr lang="en-US" sz="2000" dirty="0">
                <a:latin typeface="Times New Roman" pitchFamily="18" charset="0"/>
                <a:cs typeface="Times New Roman" pitchFamily="18" charset="0"/>
              </a:rPr>
              <a:t>shows respect and indicates interest. Eye contact also establish the nature of a</a:t>
            </a:r>
          </a:p>
          <a:p>
            <a:pPr>
              <a:lnSpc>
                <a:spcPct val="150000"/>
              </a:lnSpc>
              <a:buNone/>
            </a:pPr>
            <a:r>
              <a:rPr lang="en-US" sz="2000" dirty="0">
                <a:latin typeface="Times New Roman" pitchFamily="18" charset="0"/>
                <a:cs typeface="Times New Roman" pitchFamily="18" charset="0"/>
              </a:rPr>
              <a:t>relationship. Eyes, the ‘portals of the soul’, communicate fundamental messages,</a:t>
            </a:r>
          </a:p>
          <a:p>
            <a:pPr>
              <a:lnSpc>
                <a:spcPct val="150000"/>
              </a:lnSpc>
              <a:buNone/>
            </a:pPr>
            <a:r>
              <a:rPr lang="en-US" sz="2000" dirty="0">
                <a:latin typeface="Times New Roman" pitchFamily="18" charset="0"/>
                <a:cs typeface="Times New Roman" pitchFamily="18" charset="0"/>
              </a:rPr>
              <a:t>sometimes consciously, sometimes unconsciously. There are numerous messages in</a:t>
            </a:r>
          </a:p>
          <a:p>
            <a:pPr>
              <a:lnSpc>
                <a:spcPct val="150000"/>
              </a:lnSpc>
              <a:buNone/>
            </a:pPr>
            <a:r>
              <a:rPr lang="en-US" sz="2000" dirty="0">
                <a:latin typeface="Times New Roman" pitchFamily="18" charset="0"/>
                <a:cs typeface="Times New Roman" pitchFamily="18" charset="0"/>
              </a:rPr>
              <a:t>western culture relating to eye contact. </a:t>
            </a:r>
          </a:p>
          <a:p>
            <a:pPr>
              <a:lnSpc>
                <a:spcPct val="150000"/>
              </a:lnSpc>
              <a:buNone/>
            </a:pPr>
            <a:r>
              <a:rPr lang="en-US" sz="2000" dirty="0">
                <a:latin typeface="Times New Roman" pitchFamily="18" charset="0"/>
                <a:cs typeface="Times New Roman" pitchFamily="18" charset="0"/>
              </a:rPr>
              <a:t>Eye contact, or direct gaze, means different things to different people. Euro-American, </a:t>
            </a:r>
          </a:p>
          <a:p>
            <a:pPr>
              <a:lnSpc>
                <a:spcPct val="150000"/>
              </a:lnSpc>
              <a:buNone/>
            </a:pPr>
            <a:r>
              <a:rPr lang="en-US" sz="2000" dirty="0">
                <a:latin typeface="Times New Roman" pitchFamily="18" charset="0"/>
                <a:cs typeface="Times New Roman" pitchFamily="18" charset="0"/>
              </a:rPr>
              <a:t>Saudi Arabian, Korean and Thai people tend to </a:t>
            </a:r>
          </a:p>
          <a:p>
            <a:pPr>
              <a:lnSpc>
                <a:spcPct val="150000"/>
              </a:lnSpc>
              <a:buNone/>
            </a:pPr>
            <a:r>
              <a:rPr lang="en-US" sz="2000" dirty="0">
                <a:latin typeface="Times New Roman" pitchFamily="18" charset="0"/>
                <a:cs typeface="Times New Roman" pitchFamily="18" charset="0"/>
              </a:rPr>
              <a:t>regard a direct gaze as a desirable characteristic </a:t>
            </a:r>
          </a:p>
          <a:p>
            <a:pPr>
              <a:lnSpc>
                <a:spcPct val="150000"/>
              </a:lnSpc>
              <a:buNone/>
            </a:pPr>
            <a:r>
              <a:rPr lang="en-US" sz="2000" dirty="0">
                <a:latin typeface="Times New Roman" pitchFamily="18" charset="0"/>
                <a:cs typeface="Times New Roman" pitchFamily="18" charset="0"/>
              </a:rPr>
              <a:t>indicating openness and honesty. Conversely, an </a:t>
            </a:r>
          </a:p>
          <a:p>
            <a:pPr>
              <a:lnSpc>
                <a:spcPct val="150000"/>
              </a:lnSpc>
              <a:buNone/>
            </a:pPr>
            <a:r>
              <a:rPr lang="en-US" sz="2000" dirty="0">
                <a:latin typeface="Times New Roman" pitchFamily="18" charset="0"/>
                <a:cs typeface="Times New Roman" pitchFamily="18" charset="0"/>
              </a:rPr>
              <a:t>averted gaze can be construed </a:t>
            </a:r>
          </a:p>
          <a:p>
            <a:pPr>
              <a:lnSpc>
                <a:spcPct val="150000"/>
              </a:lnSpc>
              <a:buNone/>
            </a:pPr>
            <a:r>
              <a:rPr lang="en-US" sz="2000" dirty="0">
                <a:latin typeface="Times New Roman" pitchFamily="18" charset="0"/>
                <a:cs typeface="Times New Roman" pitchFamily="18" charset="0"/>
              </a:rPr>
              <a:t>as suggesting dishonesty or shiftiness. </a:t>
            </a:r>
          </a:p>
          <a:p>
            <a:pPr>
              <a:lnSpc>
                <a:spcPct val="150000"/>
              </a:lnSpc>
              <a:buNone/>
            </a:pPr>
            <a:endParaRPr lang="en-US" sz="2000" dirty="0">
              <a:latin typeface="Times New Roman" pitchFamily="18" charset="0"/>
              <a:cs typeface="Times New Roman" pitchFamily="18" charset="0"/>
            </a:endParaRPr>
          </a:p>
          <a:p>
            <a:pPr>
              <a:lnSpc>
                <a:spcPct val="150000"/>
              </a:lnSpc>
              <a:buNone/>
            </a:pPr>
            <a:endParaRPr lang="en-US" sz="2000" dirty="0">
              <a:latin typeface="Times New Roman" pitchFamily="18" charset="0"/>
              <a:cs typeface="Times New Roman" pitchFamily="18" charset="0"/>
            </a:endParaRPr>
          </a:p>
          <a:p>
            <a:pPr>
              <a:lnSpc>
                <a:spcPct val="150000"/>
              </a:lnSpc>
            </a:pPr>
            <a:endParaRPr lang="en-US" sz="2000" dirty="0">
              <a:latin typeface="Times New Roman" pitchFamily="18" charset="0"/>
              <a:cs typeface="Times New Roman" pitchFamily="18" charset="0"/>
            </a:endParaRPr>
          </a:p>
          <a:p>
            <a:pPr algn="ctr">
              <a:buNone/>
            </a:pPr>
            <a:endParaRPr lang="en-US" sz="2000" dirty="0">
              <a:latin typeface="Times New Roman" pitchFamily="18" charset="0"/>
              <a:cs typeface="Times New Roman" pitchFamily="18" charset="0"/>
            </a:endParaRPr>
          </a:p>
          <a:p>
            <a:pPr algn="ctr">
              <a:buNone/>
            </a:pPr>
            <a:endParaRPr lang="en-US" dirty="0"/>
          </a:p>
        </p:txBody>
      </p:sp>
      <p:pic>
        <p:nvPicPr>
          <p:cNvPr id="3" name="Picture 1" descr="eye contact.jpg"/>
          <p:cNvPicPr>
            <a:picLocks noGrp="1" noChangeAspect="1"/>
          </p:cNvPicPr>
          <p:nvPr isPhoto="1"/>
        </p:nvPicPr>
        <p:blipFill>
          <a:blip r:embed="rId2"/>
          <a:srcRect/>
          <a:stretch>
            <a:fillRect/>
          </a:stretch>
        </p:blipFill>
        <p:spPr bwMode="auto">
          <a:xfrm>
            <a:off x="5334000" y="3429000"/>
            <a:ext cx="3810000" cy="342900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lstStyle/>
          <a:p>
            <a:pPr>
              <a:lnSpc>
                <a:spcPct val="150000"/>
              </a:lnSpc>
              <a:buNone/>
            </a:pPr>
            <a:r>
              <a:rPr lang="en-US" sz="2000" dirty="0">
                <a:latin typeface="Times New Roman" pitchFamily="18" charset="0"/>
                <a:cs typeface="Times New Roman" pitchFamily="18" charset="0"/>
              </a:rPr>
              <a:t>      </a:t>
            </a:r>
          </a:p>
          <a:p>
            <a:pPr>
              <a:lnSpc>
                <a:spcPct val="150000"/>
              </a:lnSpc>
              <a:buNone/>
            </a:pPr>
            <a:r>
              <a:rPr lang="en-US" sz="2000" dirty="0">
                <a:latin typeface="Times New Roman" pitchFamily="18" charset="0"/>
                <a:cs typeface="Times New Roman" pitchFamily="18" charset="0"/>
              </a:rPr>
              <a:t>          In other cultures, however, such as Japanese, Mexican, West African, direct eye</a:t>
            </a:r>
          </a:p>
          <a:p>
            <a:pPr>
              <a:lnSpc>
                <a:spcPct val="150000"/>
              </a:lnSpc>
              <a:buNone/>
            </a:pPr>
            <a:r>
              <a:rPr lang="en-US" sz="2000" dirty="0">
                <a:latin typeface="Times New Roman" pitchFamily="18" charset="0"/>
                <a:cs typeface="Times New Roman" pitchFamily="18" charset="0"/>
              </a:rPr>
              <a:t>contact may be considered rude, while an averted gaze indicates respect . There is</a:t>
            </a:r>
          </a:p>
          <a:p>
            <a:pPr>
              <a:lnSpc>
                <a:spcPct val="150000"/>
              </a:lnSpc>
              <a:buNone/>
            </a:pPr>
            <a:r>
              <a:rPr lang="en-US" sz="2000" dirty="0">
                <a:latin typeface="Times New Roman" pitchFamily="18" charset="0"/>
                <a:cs typeface="Times New Roman" pitchFamily="18" charset="0"/>
              </a:rPr>
              <a:t>obvious potential for misunderstanding here. Gaze behavior may also be linked to</a:t>
            </a:r>
          </a:p>
          <a:p>
            <a:pPr>
              <a:lnSpc>
                <a:spcPct val="150000"/>
              </a:lnSpc>
              <a:buNone/>
            </a:pPr>
            <a:r>
              <a:rPr lang="en-US" sz="2000" dirty="0">
                <a:latin typeface="Times New Roman" pitchFamily="18" charset="0"/>
                <a:cs typeface="Times New Roman" pitchFamily="18" charset="0"/>
              </a:rPr>
              <a:t>‘love at ﬁrstsight’, although Fisher takes a somewhat unromantic view of this</a:t>
            </a:r>
          </a:p>
          <a:p>
            <a:pPr>
              <a:lnSpc>
                <a:spcPct val="150000"/>
              </a:lnSpc>
              <a:buNone/>
            </a:pPr>
            <a:r>
              <a:rPr lang="en-US" sz="2000" dirty="0">
                <a:latin typeface="Times New Roman" pitchFamily="18" charset="0"/>
                <a:cs typeface="Times New Roman" pitchFamily="18" charset="0"/>
              </a:rPr>
              <a:t>phenomenon.</a:t>
            </a:r>
          </a:p>
          <a:p>
            <a:pPr>
              <a:lnSpc>
                <a:spcPct val="150000"/>
              </a:lnSpc>
              <a:buNone/>
            </a:pPr>
            <a:r>
              <a:rPr lang="en-US" sz="2000" dirty="0">
                <a:latin typeface="Times New Roman" pitchFamily="18" charset="0"/>
                <a:cs typeface="Times New Roman" pitchFamily="18" charset="0"/>
              </a:rPr>
              <a:t>         In some cultures direct eye contact implies the listener is concentrating on what</a:t>
            </a:r>
          </a:p>
          <a:p>
            <a:pPr>
              <a:lnSpc>
                <a:spcPct val="150000"/>
              </a:lnSpc>
              <a:buNone/>
            </a:pPr>
            <a:r>
              <a:rPr lang="en-US" sz="2000" dirty="0">
                <a:latin typeface="Times New Roman" pitchFamily="18" charset="0"/>
                <a:cs typeface="Times New Roman" pitchFamily="18" charset="0"/>
              </a:rPr>
              <a:t>is being said, while in others (e.g. Japanese) concentration is indicated by an averted</a:t>
            </a:r>
          </a:p>
          <a:p>
            <a:pPr>
              <a:lnSpc>
                <a:spcPct val="150000"/>
              </a:lnSpc>
              <a:buNone/>
            </a:pPr>
            <a:r>
              <a:rPr lang="en-US" sz="2000" dirty="0">
                <a:latin typeface="Times New Roman" pitchFamily="18" charset="0"/>
                <a:cs typeface="Times New Roman" pitchFamily="18" charset="0"/>
              </a:rPr>
              <a:t>gaze, or closed or half-closed eyes . An apparently universal phenomenon is the</a:t>
            </a:r>
          </a:p>
          <a:p>
            <a:pPr>
              <a:lnSpc>
                <a:spcPct val="150000"/>
              </a:lnSpc>
              <a:buNone/>
            </a:pPr>
            <a:r>
              <a:rPr lang="en-US" sz="2000" dirty="0">
                <a:latin typeface="Times New Roman" pitchFamily="18" charset="0"/>
                <a:cs typeface="Times New Roman" pitchFamily="18" charset="0"/>
              </a:rPr>
              <a:t>‘eyebrow ﬂash’ — a lifting of the eyebrows when meeting or acknowledging someone .</a:t>
            </a:r>
          </a:p>
          <a:p>
            <a:pPr>
              <a:lnSpc>
                <a:spcPct val="150000"/>
              </a:lnSpc>
              <a:buNone/>
            </a:pPr>
            <a:endParaRPr lang="en-US" sz="2000" dirty="0">
              <a:latin typeface="Times New Roman" pitchFamily="18" charset="0"/>
              <a:cs typeface="Times New Roman" pitchFamily="18" charset="0"/>
            </a:endParaRPr>
          </a:p>
          <a:p>
            <a:pPr>
              <a:buNone/>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pPr>
              <a:buNone/>
            </a:pPr>
            <a:endParaRPr lang="en-US" sz="2400" b="1" dirty="0">
              <a:latin typeface="Times New Roman" pitchFamily="18" charset="0"/>
              <a:cs typeface="Times New Roman" pitchFamily="18" charset="0"/>
            </a:endParaRPr>
          </a:p>
          <a:p>
            <a:pPr>
              <a:buNone/>
            </a:pPr>
            <a:r>
              <a:rPr lang="en-US" sz="2400" b="1" dirty="0">
                <a:latin typeface="Times New Roman" pitchFamily="18" charset="0"/>
                <a:cs typeface="Times New Roman" pitchFamily="18" charset="0"/>
              </a:rPr>
              <a:t>VOICE MODULATION</a:t>
            </a:r>
          </a:p>
          <a:p>
            <a:pPr>
              <a:lnSpc>
                <a:spcPct val="150000"/>
              </a:lnSpc>
              <a:buNone/>
            </a:pPr>
            <a:r>
              <a:rPr lang="en-US" sz="2000" dirty="0">
                <a:latin typeface="Times New Roman" pitchFamily="18" charset="0"/>
                <a:cs typeface="Times New Roman" pitchFamily="18" charset="0"/>
              </a:rPr>
              <a:t>The quality of our voices can surprise us. If you hear an audio recording of yourself, </a:t>
            </a:r>
          </a:p>
          <a:p>
            <a:pPr>
              <a:lnSpc>
                <a:spcPct val="150000"/>
              </a:lnSpc>
              <a:buNone/>
            </a:pPr>
            <a:r>
              <a:rPr lang="en-US" sz="2000" dirty="0">
                <a:latin typeface="Times New Roman" pitchFamily="18" charset="0"/>
                <a:cs typeface="Times New Roman" pitchFamily="18" charset="0"/>
              </a:rPr>
              <a:t>or watch yourself on video, what you hear (and see) may not be what you expect, but </a:t>
            </a:r>
          </a:p>
          <a:p>
            <a:pPr>
              <a:lnSpc>
                <a:spcPct val="150000"/>
              </a:lnSpc>
              <a:buNone/>
            </a:pPr>
            <a:r>
              <a:rPr lang="en-US" sz="2000" dirty="0">
                <a:latin typeface="Times New Roman" pitchFamily="18" charset="0"/>
                <a:cs typeface="Times New Roman" pitchFamily="18" charset="0"/>
              </a:rPr>
              <a:t>it does give you real feedback on the way you actually behave and how you may </a:t>
            </a:r>
          </a:p>
          <a:p>
            <a:pPr>
              <a:lnSpc>
                <a:spcPct val="150000"/>
              </a:lnSpc>
              <a:buNone/>
            </a:pPr>
            <a:r>
              <a:rPr lang="en-US" sz="2000" dirty="0">
                <a:latin typeface="Times New Roman" pitchFamily="18" charset="0"/>
                <a:cs typeface="Times New Roman" pitchFamily="18" charset="0"/>
              </a:rPr>
              <a:t>come across to others. Any strangeness you </a:t>
            </a:r>
          </a:p>
          <a:p>
            <a:pPr>
              <a:lnSpc>
                <a:spcPct val="150000"/>
              </a:lnSpc>
              <a:buNone/>
            </a:pPr>
            <a:r>
              <a:rPr lang="en-US" sz="2000" dirty="0">
                <a:latin typeface="Times New Roman" pitchFamily="18" charset="0"/>
                <a:cs typeface="Times New Roman" pitchFamily="18" charset="0"/>
              </a:rPr>
              <a:t>might feel in this self-perception is caused </a:t>
            </a:r>
          </a:p>
          <a:p>
            <a:pPr>
              <a:lnSpc>
                <a:spcPct val="150000"/>
              </a:lnSpc>
              <a:buNone/>
            </a:pPr>
            <a:r>
              <a:rPr lang="en-US" sz="2000" dirty="0">
                <a:latin typeface="Times New Roman" pitchFamily="18" charset="0"/>
                <a:cs typeface="Times New Roman" pitchFamily="18" charset="0"/>
              </a:rPr>
              <a:t>by the fact that your voice resonates through </a:t>
            </a:r>
          </a:p>
          <a:p>
            <a:pPr>
              <a:lnSpc>
                <a:spcPct val="150000"/>
              </a:lnSpc>
              <a:buNone/>
            </a:pPr>
            <a:r>
              <a:rPr lang="en-US" sz="2000" dirty="0">
                <a:latin typeface="Times New Roman" pitchFamily="18" charset="0"/>
                <a:cs typeface="Times New Roman" pitchFamily="18" charset="0"/>
              </a:rPr>
              <a:t>your skull before it reaches your ears, </a:t>
            </a:r>
          </a:p>
          <a:p>
            <a:pPr>
              <a:lnSpc>
                <a:spcPct val="150000"/>
              </a:lnSpc>
              <a:buNone/>
            </a:pPr>
            <a:r>
              <a:rPr lang="en-US" sz="2000" dirty="0">
                <a:latin typeface="Times New Roman" pitchFamily="18" charset="0"/>
                <a:cs typeface="Times New Roman" pitchFamily="18" charset="0"/>
              </a:rPr>
              <a:t>which makes it sound slightly different from </a:t>
            </a:r>
          </a:p>
          <a:p>
            <a:pPr>
              <a:lnSpc>
                <a:spcPct val="150000"/>
              </a:lnSpc>
              <a:buNone/>
            </a:pPr>
            <a:r>
              <a:rPr lang="en-US" sz="2000" dirty="0">
                <a:latin typeface="Times New Roman" pitchFamily="18" charset="0"/>
                <a:cs typeface="Times New Roman" pitchFamily="18" charset="0"/>
              </a:rPr>
              <a:t>what you hear on playback or what others hear </a:t>
            </a:r>
          </a:p>
          <a:p>
            <a:pPr>
              <a:lnSpc>
                <a:spcPct val="150000"/>
              </a:lnSpc>
              <a:buNone/>
            </a:pPr>
            <a:r>
              <a:rPr lang="en-US" sz="2000" dirty="0">
                <a:latin typeface="Times New Roman" pitchFamily="18" charset="0"/>
                <a:cs typeface="Times New Roman" pitchFamily="18" charset="0"/>
              </a:rPr>
              <a:t>the fact that, before the invention of </a:t>
            </a:r>
            <a:r>
              <a:rPr lang="en-US" sz="2000" dirty="0" err="1">
                <a:latin typeface="Times New Roman" pitchFamily="18" charset="0"/>
                <a:cs typeface="Times New Roman" pitchFamily="18" charset="0"/>
              </a:rPr>
              <a:t>ﬁlm</a:t>
            </a:r>
            <a:r>
              <a:rPr lang="en-US" sz="2000" dirty="0">
                <a:latin typeface="Times New Roman" pitchFamily="18" charset="0"/>
                <a:cs typeface="Times New Roman" pitchFamily="18" charset="0"/>
              </a:rPr>
              <a:t> and video, no-one in history had access to a</a:t>
            </a:r>
          </a:p>
          <a:p>
            <a:pPr>
              <a:lnSpc>
                <a:spcPct val="150000"/>
              </a:lnSpc>
              <a:buNone/>
            </a:pPr>
            <a:r>
              <a:rPr lang="en-US" sz="2000" dirty="0">
                <a:latin typeface="Times New Roman" pitchFamily="18" charset="0"/>
                <a:cs typeface="Times New Roman" pitchFamily="18" charset="0"/>
              </a:rPr>
              <a:t>moving representation of themselves. </a:t>
            </a:r>
          </a:p>
          <a:p>
            <a:pPr>
              <a:lnSpc>
                <a:spcPct val="150000"/>
              </a:lnSpc>
              <a:buNone/>
            </a:pPr>
            <a:endParaRPr lang="en-US" sz="2000" dirty="0">
              <a:latin typeface="Times New Roman" pitchFamily="18" charset="0"/>
              <a:cs typeface="Times New Roman" pitchFamily="18" charset="0"/>
            </a:endParaRPr>
          </a:p>
          <a:p>
            <a:pPr>
              <a:buNone/>
            </a:pPr>
            <a:endParaRPr lang="en-US" sz="2400" dirty="0"/>
          </a:p>
        </p:txBody>
      </p:sp>
      <p:pic>
        <p:nvPicPr>
          <p:cNvPr id="3" name="Picture 2" descr="Voice Change"/>
          <p:cNvPicPr/>
          <p:nvPr/>
        </p:nvPicPr>
        <p:blipFill>
          <a:blip r:embed="rId2"/>
          <a:srcRect/>
          <a:stretch>
            <a:fillRect/>
          </a:stretch>
        </p:blipFill>
        <p:spPr bwMode="auto">
          <a:xfrm>
            <a:off x="4800600" y="2362200"/>
            <a:ext cx="4343400" cy="274320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pPr>
              <a:lnSpc>
                <a:spcPct val="150000"/>
              </a:lnSpc>
              <a:buNone/>
            </a:pPr>
            <a:endParaRPr lang="en-US" sz="2000" dirty="0">
              <a:latin typeface="Times New Roman" pitchFamily="18" charset="0"/>
              <a:cs typeface="Times New Roman" pitchFamily="18" charset="0"/>
            </a:endParaRPr>
          </a:p>
          <a:p>
            <a:pPr>
              <a:lnSpc>
                <a:spcPct val="150000"/>
              </a:lnSpc>
              <a:buNone/>
            </a:pPr>
            <a:r>
              <a:rPr lang="en-US" sz="2000" dirty="0">
                <a:latin typeface="Times New Roman" pitchFamily="18" charset="0"/>
                <a:cs typeface="Times New Roman" pitchFamily="18" charset="0"/>
              </a:rPr>
              <a:t>A few could afford a portrait, and many </a:t>
            </a:r>
          </a:p>
          <a:p>
            <a:pPr>
              <a:lnSpc>
                <a:spcPct val="150000"/>
              </a:lnSpc>
              <a:buNone/>
            </a:pPr>
            <a:r>
              <a:rPr lang="en-US" sz="2000" dirty="0">
                <a:latin typeface="Times New Roman" pitchFamily="18" charset="0"/>
                <a:cs typeface="Times New Roman" pitchFamily="18" charset="0"/>
              </a:rPr>
              <a:t>had seen themselves in a mirror, but a </a:t>
            </a:r>
          </a:p>
          <a:p>
            <a:pPr>
              <a:lnSpc>
                <a:spcPct val="150000"/>
              </a:lnSpc>
              <a:buNone/>
            </a:pPr>
            <a:r>
              <a:rPr lang="en-US" sz="2000" dirty="0">
                <a:latin typeface="Times New Roman" pitchFamily="18" charset="0"/>
                <a:cs typeface="Times New Roman" pitchFamily="18" charset="0"/>
              </a:rPr>
              <a:t>mirror is a 180° distortion of how you </a:t>
            </a:r>
          </a:p>
          <a:p>
            <a:pPr>
              <a:lnSpc>
                <a:spcPct val="150000"/>
              </a:lnSpc>
              <a:buNone/>
            </a:pPr>
            <a:r>
              <a:rPr lang="en-US" sz="2000" dirty="0">
                <a:latin typeface="Times New Roman" pitchFamily="18" charset="0"/>
                <a:cs typeface="Times New Roman" pitchFamily="18" charset="0"/>
              </a:rPr>
              <a:t>actually appear: stand, for example, </a:t>
            </a:r>
          </a:p>
          <a:p>
            <a:pPr>
              <a:lnSpc>
                <a:spcPct val="150000"/>
              </a:lnSpc>
              <a:buNone/>
            </a:pPr>
            <a:r>
              <a:rPr lang="en-US" sz="2000" dirty="0">
                <a:latin typeface="Times New Roman" pitchFamily="18" charset="0"/>
                <a:cs typeface="Times New Roman" pitchFamily="18" charset="0"/>
              </a:rPr>
              <a:t>in front of a mirror with someone you </a:t>
            </a:r>
          </a:p>
          <a:p>
            <a:pPr>
              <a:lnSpc>
                <a:spcPct val="150000"/>
              </a:lnSpc>
              <a:buNone/>
            </a:pPr>
            <a:r>
              <a:rPr lang="en-US" sz="2000" dirty="0">
                <a:latin typeface="Times New Roman" pitchFamily="18" charset="0"/>
                <a:cs typeface="Times New Roman" pitchFamily="18" charset="0"/>
              </a:rPr>
              <a:t>know, and you will see that their </a:t>
            </a:r>
          </a:p>
          <a:p>
            <a:pPr>
              <a:lnSpc>
                <a:spcPct val="150000"/>
              </a:lnSpc>
              <a:buNone/>
            </a:pPr>
            <a:r>
              <a:rPr lang="en-US" sz="2000" dirty="0">
                <a:latin typeface="Times New Roman" pitchFamily="18" charset="0"/>
                <a:cs typeface="Times New Roman" pitchFamily="18" charset="0"/>
              </a:rPr>
              <a:t>reﬂection while accurate as far as it goes</a:t>
            </a:r>
          </a:p>
          <a:p>
            <a:pPr>
              <a:lnSpc>
                <a:spcPct val="150000"/>
              </a:lnSpc>
              <a:buNone/>
            </a:pPr>
            <a:r>
              <a:rPr lang="en-US" sz="2000" dirty="0">
                <a:latin typeface="Times New Roman" pitchFamily="18" charset="0"/>
                <a:cs typeface="Times New Roman" pitchFamily="18" charset="0"/>
              </a:rPr>
              <a:t>is not what you see when you look at </a:t>
            </a:r>
          </a:p>
          <a:p>
            <a:pPr>
              <a:lnSpc>
                <a:spcPct val="150000"/>
              </a:lnSpc>
              <a:buNone/>
            </a:pPr>
            <a:r>
              <a:rPr lang="en-US" sz="2000" dirty="0">
                <a:latin typeface="Times New Roman" pitchFamily="18" charset="0"/>
                <a:cs typeface="Times New Roman" pitchFamily="18" charset="0"/>
              </a:rPr>
              <a:t>them directly.</a:t>
            </a:r>
            <a:endParaRPr lang="en-US" sz="2000" dirty="0"/>
          </a:p>
        </p:txBody>
      </p:sp>
      <p:pic>
        <p:nvPicPr>
          <p:cNvPr id="1026" name="Picture 2" descr="Image result for voice modulation communication"/>
          <p:cNvPicPr>
            <a:picLocks noChangeAspect="1" noChangeArrowheads="1"/>
          </p:cNvPicPr>
          <p:nvPr/>
        </p:nvPicPr>
        <p:blipFill>
          <a:blip r:embed="rId2"/>
          <a:srcRect/>
          <a:stretch>
            <a:fillRect/>
          </a:stretch>
        </p:blipFill>
        <p:spPr bwMode="auto">
          <a:xfrm>
            <a:off x="4381500" y="990600"/>
            <a:ext cx="4762500" cy="5105400"/>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lstStyle/>
          <a:p>
            <a:pPr>
              <a:buNone/>
            </a:pPr>
            <a:endParaRPr lang="en-US" dirty="0">
              <a:latin typeface="Ace"/>
            </a:endParaRPr>
          </a:p>
          <a:p>
            <a:pPr>
              <a:lnSpc>
                <a:spcPct val="150000"/>
              </a:lnSpc>
              <a:buNone/>
            </a:pPr>
            <a:r>
              <a:rPr lang="en-US" sz="2000" b="1" dirty="0">
                <a:latin typeface="Times New Roman" pitchFamily="18" charset="0"/>
                <a:cs typeface="Times New Roman" pitchFamily="18" charset="0"/>
              </a:rPr>
              <a:t>FACIAL EXPRESSIONS</a:t>
            </a:r>
          </a:p>
          <a:p>
            <a:pPr>
              <a:lnSpc>
                <a:spcPct val="150000"/>
              </a:lnSpc>
              <a:buNone/>
            </a:pPr>
            <a:r>
              <a:rPr lang="en-US" sz="2000" dirty="0">
                <a:latin typeface="Times New Roman" pitchFamily="18" charset="0"/>
                <a:cs typeface="Times New Roman" pitchFamily="18" charset="0"/>
              </a:rPr>
              <a:t>Facial expressions are the key characteristics </a:t>
            </a:r>
          </a:p>
          <a:p>
            <a:pPr>
              <a:lnSpc>
                <a:spcPct val="150000"/>
              </a:lnSpc>
              <a:buNone/>
            </a:pPr>
            <a:r>
              <a:rPr lang="en-US" sz="2000" dirty="0">
                <a:latin typeface="Times New Roman" pitchFamily="18" charset="0"/>
                <a:cs typeface="Times New Roman" pitchFamily="18" charset="0"/>
              </a:rPr>
              <a:t>of nonverbal communication. Your facial </a:t>
            </a:r>
          </a:p>
          <a:p>
            <a:pPr>
              <a:lnSpc>
                <a:spcPct val="150000"/>
              </a:lnSpc>
              <a:buNone/>
            </a:pPr>
            <a:r>
              <a:rPr lang="en-US" sz="2000" dirty="0">
                <a:latin typeface="Times New Roman" pitchFamily="18" charset="0"/>
                <a:cs typeface="Times New Roman" pitchFamily="18" charset="0"/>
              </a:rPr>
              <a:t>expression can communicate happiness, </a:t>
            </a:r>
          </a:p>
          <a:p>
            <a:pPr>
              <a:lnSpc>
                <a:spcPct val="170000"/>
              </a:lnSpc>
              <a:buNone/>
            </a:pPr>
            <a:r>
              <a:rPr lang="en-US" sz="2000" dirty="0">
                <a:latin typeface="Times New Roman" pitchFamily="18" charset="0"/>
                <a:cs typeface="Times New Roman" pitchFamily="18" charset="0"/>
              </a:rPr>
              <a:t>sadness, anger or fear. The face reveals </a:t>
            </a:r>
          </a:p>
          <a:p>
            <a:pPr>
              <a:lnSpc>
                <a:spcPct val="170000"/>
              </a:lnSpc>
              <a:buNone/>
            </a:pPr>
            <a:r>
              <a:rPr lang="en-US" sz="2000" dirty="0">
                <a:latin typeface="Times New Roman" pitchFamily="18" charset="0"/>
                <a:cs typeface="Times New Roman" pitchFamily="18" charset="0"/>
              </a:rPr>
              <a:t>much of our emotional disposition, and </a:t>
            </a:r>
          </a:p>
          <a:p>
            <a:pPr>
              <a:lnSpc>
                <a:spcPct val="170000"/>
              </a:lnSpc>
              <a:buNone/>
            </a:pPr>
            <a:r>
              <a:rPr lang="en-US" sz="2000" dirty="0">
                <a:latin typeface="Times New Roman" pitchFamily="18" charset="0"/>
                <a:cs typeface="Times New Roman" pitchFamily="18" charset="0"/>
              </a:rPr>
              <a:t>there are strong cultural and social messages</a:t>
            </a:r>
          </a:p>
          <a:p>
            <a:pPr>
              <a:lnSpc>
                <a:spcPct val="170000"/>
              </a:lnSpc>
              <a:buNone/>
            </a:pPr>
            <a:r>
              <a:rPr lang="en-US" sz="2000" dirty="0">
                <a:latin typeface="Times New Roman" pitchFamily="18" charset="0"/>
                <a:cs typeface="Times New Roman" pitchFamily="18" charset="0"/>
              </a:rPr>
              <a:t>involved in suppressing or expressing those </a:t>
            </a:r>
          </a:p>
          <a:p>
            <a:pPr>
              <a:lnSpc>
                <a:spcPct val="170000"/>
              </a:lnSpc>
              <a:buNone/>
            </a:pPr>
            <a:r>
              <a:rPr lang="en-US" sz="2000" dirty="0">
                <a:latin typeface="Times New Roman" pitchFamily="18" charset="0"/>
                <a:cs typeface="Times New Roman" pitchFamily="18" charset="0"/>
              </a:rPr>
              <a:t>emotions. </a:t>
            </a:r>
          </a:p>
          <a:p>
            <a:pPr>
              <a:buNone/>
            </a:pPr>
            <a:endParaRPr lang="en-US" dirty="0"/>
          </a:p>
        </p:txBody>
      </p:sp>
      <p:pic>
        <p:nvPicPr>
          <p:cNvPr id="4" name="Picture 1" descr="Face Expressions.jpg"/>
          <p:cNvPicPr>
            <a:picLocks noGrp="1" noChangeAspect="1"/>
          </p:cNvPicPr>
          <p:nvPr isPhoto="1"/>
        </p:nvPicPr>
        <p:blipFill>
          <a:blip r:embed="rId2"/>
          <a:srcRect/>
          <a:stretch>
            <a:fillRect/>
          </a:stretch>
        </p:blipFill>
        <p:spPr bwMode="auto">
          <a:xfrm>
            <a:off x="4876800" y="0"/>
            <a:ext cx="4267200" cy="6858000"/>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fontScale="25000" lnSpcReduction="20000"/>
          </a:bodyPr>
          <a:lstStyle/>
          <a:p>
            <a:pPr>
              <a:buNone/>
            </a:pPr>
            <a:endParaRPr lang="en-US" dirty="0"/>
          </a:p>
          <a:p>
            <a:pPr>
              <a:lnSpc>
                <a:spcPct val="170000"/>
              </a:lnSpc>
              <a:buNone/>
            </a:pPr>
            <a:endParaRPr lang="en-US" sz="8000" dirty="0">
              <a:latin typeface="Times New Roman" pitchFamily="18" charset="0"/>
              <a:cs typeface="Times New Roman" pitchFamily="18" charset="0"/>
            </a:endParaRPr>
          </a:p>
          <a:p>
            <a:pPr>
              <a:lnSpc>
                <a:spcPct val="170000"/>
              </a:lnSpc>
              <a:buNone/>
            </a:pPr>
            <a:r>
              <a:rPr lang="en-US" sz="8000" dirty="0">
                <a:latin typeface="Times New Roman" pitchFamily="18" charset="0"/>
                <a:cs typeface="Times New Roman" pitchFamily="18" charset="0"/>
              </a:rPr>
              <a:t>In Japanese culture, and to a lesser extent British culture, great value is placed on not</a:t>
            </a:r>
          </a:p>
          <a:p>
            <a:pPr>
              <a:lnSpc>
                <a:spcPct val="170000"/>
              </a:lnSpc>
              <a:buNone/>
            </a:pPr>
            <a:r>
              <a:rPr lang="en-US" sz="8000" dirty="0">
                <a:latin typeface="Times New Roman" pitchFamily="18" charset="0"/>
                <a:cs typeface="Times New Roman" pitchFamily="18" charset="0"/>
              </a:rPr>
              <a:t>revealing emotions, thereby demonstrating the desired characteristics of self-control In</a:t>
            </a:r>
          </a:p>
          <a:p>
            <a:pPr>
              <a:lnSpc>
                <a:spcPct val="170000"/>
              </a:lnSpc>
              <a:buNone/>
            </a:pPr>
            <a:r>
              <a:rPr lang="en-US" sz="8000" dirty="0">
                <a:latin typeface="Times New Roman" pitchFamily="18" charset="0"/>
                <a:cs typeface="Times New Roman" pitchFamily="18" charset="0"/>
              </a:rPr>
              <a:t>cultures characterized by more mobility of expression, such as the North American or</a:t>
            </a:r>
          </a:p>
          <a:p>
            <a:pPr>
              <a:lnSpc>
                <a:spcPct val="170000"/>
              </a:lnSpc>
              <a:buNone/>
            </a:pPr>
            <a:r>
              <a:rPr lang="en-US" sz="8000" dirty="0">
                <a:latin typeface="Times New Roman" pitchFamily="18" charset="0"/>
                <a:cs typeface="Times New Roman" pitchFamily="18" charset="0"/>
              </a:rPr>
              <a:t>Australian cultures, facial immobility is a clue to high-status individuals, whose</a:t>
            </a:r>
          </a:p>
          <a:p>
            <a:pPr>
              <a:lnSpc>
                <a:spcPct val="170000"/>
              </a:lnSpc>
              <a:buNone/>
            </a:pPr>
            <a:r>
              <a:rPr lang="en-US" sz="8000" dirty="0">
                <a:latin typeface="Times New Roman" pitchFamily="18" charset="0"/>
                <a:cs typeface="Times New Roman" pitchFamily="18" charset="0"/>
              </a:rPr>
              <a:t>behavior contrasts with that of others, specially with children, slaves and women. High</a:t>
            </a:r>
          </a:p>
          <a:p>
            <a:pPr>
              <a:lnSpc>
                <a:spcPct val="170000"/>
              </a:lnSpc>
              <a:buNone/>
            </a:pPr>
            <a:r>
              <a:rPr lang="en-US" sz="8000" dirty="0">
                <a:latin typeface="Times New Roman" pitchFamily="18" charset="0"/>
                <a:cs typeface="Times New Roman" pitchFamily="18" charset="0"/>
              </a:rPr>
              <a:t>Status people thus rarely smile and their voices tend to be pitched lower, while those of</a:t>
            </a:r>
          </a:p>
          <a:p>
            <a:pPr>
              <a:lnSpc>
                <a:spcPct val="170000"/>
              </a:lnSpc>
              <a:buNone/>
            </a:pPr>
            <a:r>
              <a:rPr lang="en-US" sz="8000" dirty="0">
                <a:latin typeface="Times New Roman" pitchFamily="18" charset="0"/>
                <a:cs typeface="Times New Roman" pitchFamily="18" charset="0"/>
              </a:rPr>
              <a:t>their subordinates   are pitched higher; they are looked at by but rarely look at their</a:t>
            </a:r>
          </a:p>
          <a:p>
            <a:pPr>
              <a:lnSpc>
                <a:spcPct val="170000"/>
              </a:lnSpc>
              <a:buNone/>
            </a:pPr>
            <a:r>
              <a:rPr lang="en-US" sz="8000" dirty="0">
                <a:latin typeface="Times New Roman" pitchFamily="18" charset="0"/>
                <a:cs typeface="Times New Roman" pitchFamily="18" charset="0"/>
              </a:rPr>
              <a:t>subordinates; and touch, but are rarely touched by, their subordinates. </a:t>
            </a:r>
            <a:endParaRPr lang="en-US" sz="8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lstStyle/>
          <a:p>
            <a:pPr algn="ctr">
              <a:buNone/>
            </a:pPr>
            <a:endParaRPr lang="en-US" sz="2800" b="1" dirty="0">
              <a:latin typeface="Times New Roman" pitchFamily="18" charset="0"/>
              <a:cs typeface="Times New Roman" pitchFamily="18" charset="0"/>
            </a:endParaRPr>
          </a:p>
          <a:p>
            <a:pPr>
              <a:lnSpc>
                <a:spcPct val="150000"/>
              </a:lnSpc>
              <a:buNone/>
            </a:pPr>
            <a:r>
              <a:rPr lang="en-US" sz="2000" b="1" dirty="0">
                <a:latin typeface="Times New Roman" pitchFamily="18" charset="0"/>
                <a:cs typeface="Times New Roman" pitchFamily="18" charset="0"/>
              </a:rPr>
              <a:t>POSTURE</a:t>
            </a:r>
          </a:p>
          <a:p>
            <a:pPr>
              <a:lnSpc>
                <a:spcPct val="150000"/>
              </a:lnSpc>
              <a:buNone/>
            </a:pPr>
            <a:r>
              <a:rPr lang="en-US" sz="2000" dirty="0">
                <a:latin typeface="Times New Roman" pitchFamily="18" charset="0"/>
                <a:cs typeface="Times New Roman" pitchFamily="18" charset="0"/>
              </a:rPr>
              <a:t>Posture and how you carry your self tells a lot about you. </a:t>
            </a:r>
          </a:p>
          <a:p>
            <a:pPr>
              <a:lnSpc>
                <a:spcPct val="150000"/>
              </a:lnSpc>
              <a:buNone/>
            </a:pPr>
            <a:r>
              <a:rPr lang="en-US" sz="2000" dirty="0">
                <a:latin typeface="Times New Roman" pitchFamily="18" charset="0"/>
                <a:cs typeface="Times New Roman" pitchFamily="18" charset="0"/>
              </a:rPr>
              <a:t>How you walk, sit, stand or hold your head not only </a:t>
            </a:r>
          </a:p>
          <a:p>
            <a:pPr>
              <a:lnSpc>
                <a:spcPct val="150000"/>
              </a:lnSpc>
              <a:buNone/>
            </a:pPr>
            <a:r>
              <a:rPr lang="en-US" sz="2000" dirty="0">
                <a:latin typeface="Times New Roman" pitchFamily="18" charset="0"/>
                <a:cs typeface="Times New Roman" pitchFamily="18" charset="0"/>
              </a:rPr>
              <a:t>indicates your current mood, but also your personality </a:t>
            </a:r>
          </a:p>
          <a:p>
            <a:pPr>
              <a:lnSpc>
                <a:spcPct val="150000"/>
              </a:lnSpc>
              <a:buNone/>
            </a:pPr>
            <a:r>
              <a:rPr lang="en-US" sz="2000" dirty="0">
                <a:latin typeface="Times New Roman" pitchFamily="18" charset="0"/>
                <a:cs typeface="Times New Roman" pitchFamily="18" charset="0"/>
              </a:rPr>
              <a:t>in general. </a:t>
            </a:r>
          </a:p>
          <a:p>
            <a:pPr>
              <a:lnSpc>
                <a:spcPct val="150000"/>
              </a:lnSpc>
              <a:buNone/>
            </a:pPr>
            <a:r>
              <a:rPr lang="en-US" sz="2000" b="1" dirty="0">
                <a:latin typeface="Times New Roman" pitchFamily="18" charset="0"/>
                <a:cs typeface="Times New Roman" pitchFamily="18" charset="0"/>
              </a:rPr>
              <a:t>e.g.</a:t>
            </a:r>
            <a:r>
              <a:rPr lang="en-US" sz="2000" dirty="0">
                <a:latin typeface="Times New Roman" pitchFamily="18" charset="0"/>
                <a:cs typeface="Times New Roman" pitchFamily="18" charset="0"/>
              </a:rPr>
              <a:t> If you cross your arms while standing, </a:t>
            </a:r>
          </a:p>
          <a:p>
            <a:pPr>
              <a:lnSpc>
                <a:spcPct val="150000"/>
              </a:lnSpc>
              <a:buNone/>
            </a:pPr>
            <a:r>
              <a:rPr lang="en-US" sz="2000" dirty="0">
                <a:latin typeface="Times New Roman" pitchFamily="18" charset="0"/>
                <a:cs typeface="Times New Roman" pitchFamily="18" charset="0"/>
              </a:rPr>
              <a:t>you indicate that you may be </a:t>
            </a:r>
            <a:r>
              <a:rPr lang="en-US" sz="2000" b="1" dirty="0">
                <a:latin typeface="Times New Roman" pitchFamily="18" charset="0"/>
                <a:cs typeface="Times New Roman" pitchFamily="18" charset="0"/>
              </a:rPr>
              <a:t>closed off </a:t>
            </a:r>
            <a:r>
              <a:rPr lang="en-US" sz="2000" dirty="0">
                <a:latin typeface="Times New Roman" pitchFamily="18" charset="0"/>
                <a:cs typeface="Times New Roman" pitchFamily="18" charset="0"/>
              </a:rPr>
              <a:t>and</a:t>
            </a:r>
            <a:r>
              <a:rPr lang="en-US" sz="2000" b="1" dirty="0">
                <a:latin typeface="Times New Roman" pitchFamily="18" charset="0"/>
                <a:cs typeface="Times New Roman" pitchFamily="18" charset="0"/>
              </a:rPr>
              <a:t> defensive</a:t>
            </a:r>
            <a:r>
              <a:rPr lang="en-US" sz="2000" dirty="0">
                <a:latin typeface="Times New Roman" pitchFamily="18" charset="0"/>
                <a:cs typeface="Times New Roman" pitchFamily="18" charset="0"/>
              </a:rPr>
              <a:t>. </a:t>
            </a:r>
          </a:p>
          <a:p>
            <a:pPr>
              <a:lnSpc>
                <a:spcPct val="150000"/>
              </a:lnSpc>
              <a:buNone/>
            </a:pPr>
            <a:r>
              <a:rPr lang="en-US" sz="2000" dirty="0">
                <a:latin typeface="Times New Roman" pitchFamily="18" charset="0"/>
                <a:cs typeface="Times New Roman" pitchFamily="18" charset="0"/>
              </a:rPr>
              <a:t>Meanwhile, walking with your head down and avoiding </a:t>
            </a:r>
          </a:p>
          <a:p>
            <a:pPr>
              <a:lnSpc>
                <a:spcPct val="150000"/>
              </a:lnSpc>
              <a:buNone/>
            </a:pPr>
            <a:r>
              <a:rPr lang="en-US" sz="2000" dirty="0">
                <a:latin typeface="Times New Roman" pitchFamily="18" charset="0"/>
                <a:cs typeface="Times New Roman" pitchFamily="18" charset="0"/>
              </a:rPr>
              <a:t>eye contact with others may indicate </a:t>
            </a:r>
            <a:r>
              <a:rPr lang="en-US" sz="2000" b="1" dirty="0">
                <a:latin typeface="Times New Roman" pitchFamily="18" charset="0"/>
                <a:cs typeface="Times New Roman" pitchFamily="18" charset="0"/>
              </a:rPr>
              <a:t>shyness</a:t>
            </a:r>
            <a:r>
              <a:rPr lang="en-US" sz="2800" dirty="0">
                <a:latin typeface="Times New Roman" pitchFamily="18" charset="0"/>
                <a:cs typeface="Times New Roman" pitchFamily="18" charset="0"/>
              </a:rPr>
              <a:t>. </a:t>
            </a:r>
          </a:p>
        </p:txBody>
      </p:sp>
      <p:pic>
        <p:nvPicPr>
          <p:cNvPr id="3" name="Picture 1" descr="posture.jpg"/>
          <p:cNvPicPr>
            <a:picLocks noGrp="1" noChangeAspect="1"/>
          </p:cNvPicPr>
          <p:nvPr isPhoto="1"/>
        </p:nvPicPr>
        <p:blipFill>
          <a:blip r:embed="rId2"/>
          <a:srcRect/>
          <a:stretch>
            <a:fillRect/>
          </a:stretch>
        </p:blipFill>
        <p:spPr bwMode="auto">
          <a:xfrm>
            <a:off x="6019800" y="533400"/>
            <a:ext cx="3124200" cy="5791200"/>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pPr>
              <a:buNone/>
            </a:pPr>
            <a:endParaRPr lang="en-US" sz="2000" dirty="0">
              <a:latin typeface="Times New Roman" pitchFamily="18" charset="0"/>
              <a:cs typeface="Times New Roman" pitchFamily="18" charset="0"/>
            </a:endParaRPr>
          </a:p>
          <a:p>
            <a:pPr>
              <a:buNone/>
            </a:pPr>
            <a:endParaRPr lang="en-US" sz="2000" b="1" dirty="0">
              <a:latin typeface="Times New Roman" pitchFamily="18" charset="0"/>
              <a:cs typeface="Times New Roman" pitchFamily="18" charset="0"/>
            </a:endParaRPr>
          </a:p>
          <a:p>
            <a:pPr>
              <a:buNone/>
            </a:pPr>
            <a:r>
              <a:rPr lang="en-US" sz="2000" b="1" dirty="0">
                <a:latin typeface="Times New Roman" pitchFamily="18" charset="0"/>
                <a:cs typeface="Times New Roman" pitchFamily="18" charset="0"/>
              </a:rPr>
              <a:t>HAPTIC OR TOUCH</a:t>
            </a:r>
          </a:p>
          <a:p>
            <a:pPr>
              <a:lnSpc>
                <a:spcPct val="150000"/>
              </a:lnSpc>
              <a:buNone/>
            </a:pPr>
            <a:r>
              <a:rPr lang="en-US" sz="2000" dirty="0" err="1">
                <a:latin typeface="Times New Roman" pitchFamily="18" charset="0"/>
                <a:cs typeface="Times New Roman" pitchFamily="18" charset="0"/>
              </a:rPr>
              <a:t>Haptic</a:t>
            </a:r>
            <a:r>
              <a:rPr lang="en-US" sz="2000" dirty="0">
                <a:latin typeface="Times New Roman" pitchFamily="18" charset="0"/>
                <a:cs typeface="Times New Roman" pitchFamily="18" charset="0"/>
              </a:rPr>
              <a:t> communication is communicating </a:t>
            </a:r>
          </a:p>
          <a:p>
            <a:pPr>
              <a:lnSpc>
                <a:spcPct val="150000"/>
              </a:lnSpc>
              <a:buNone/>
            </a:pPr>
            <a:r>
              <a:rPr lang="en-US" sz="2000" dirty="0">
                <a:latin typeface="Times New Roman" pitchFamily="18" charset="0"/>
                <a:cs typeface="Times New Roman" pitchFamily="18" charset="0"/>
              </a:rPr>
              <a:t>by touch. Touch or </a:t>
            </a:r>
            <a:r>
              <a:rPr lang="en-US" sz="2000" dirty="0" err="1">
                <a:latin typeface="Times New Roman" pitchFamily="18" charset="0"/>
                <a:cs typeface="Times New Roman" pitchFamily="18" charset="0"/>
              </a:rPr>
              <a:t>Haptics</a:t>
            </a:r>
            <a:r>
              <a:rPr lang="en-US" sz="2000" dirty="0">
                <a:latin typeface="Times New Roman" pitchFamily="18" charset="0"/>
                <a:cs typeface="Times New Roman" pitchFamily="18" charset="0"/>
              </a:rPr>
              <a:t> is the </a:t>
            </a:r>
          </a:p>
          <a:p>
            <a:pPr>
              <a:lnSpc>
                <a:spcPct val="150000"/>
              </a:lnSpc>
              <a:buNone/>
            </a:pPr>
            <a:r>
              <a:rPr lang="en-US" sz="2000" dirty="0">
                <a:latin typeface="Times New Roman" pitchFamily="18" charset="0"/>
                <a:cs typeface="Times New Roman" pitchFamily="18" charset="0"/>
              </a:rPr>
              <a:t>characteristic of nonverbal communication </a:t>
            </a:r>
          </a:p>
          <a:p>
            <a:pPr>
              <a:lnSpc>
                <a:spcPct val="150000"/>
              </a:lnSpc>
              <a:buNone/>
            </a:pPr>
            <a:r>
              <a:rPr lang="en-US" sz="2000" dirty="0">
                <a:latin typeface="Times New Roman" pitchFamily="18" charset="0"/>
                <a:cs typeface="Times New Roman" pitchFamily="18" charset="0"/>
              </a:rPr>
              <a:t>and used when we come into physical </a:t>
            </a:r>
          </a:p>
          <a:p>
            <a:pPr>
              <a:lnSpc>
                <a:spcPct val="150000"/>
              </a:lnSpc>
              <a:buNone/>
            </a:pPr>
            <a:r>
              <a:rPr lang="en-US" sz="2000" dirty="0">
                <a:latin typeface="Times New Roman" pitchFamily="18" charset="0"/>
                <a:cs typeface="Times New Roman" pitchFamily="18" charset="0"/>
              </a:rPr>
              <a:t>contact with other people.</a:t>
            </a:r>
          </a:p>
          <a:p>
            <a:pPr>
              <a:lnSpc>
                <a:spcPct val="150000"/>
              </a:lnSpc>
              <a:buNone/>
            </a:pPr>
            <a:r>
              <a:rPr lang="en-US" sz="2000" b="1" dirty="0">
                <a:latin typeface="Times New Roman" pitchFamily="18" charset="0"/>
                <a:cs typeface="Times New Roman" pitchFamily="18" charset="0"/>
              </a:rPr>
              <a:t>e.g.</a:t>
            </a:r>
            <a:r>
              <a:rPr lang="en-US" sz="2000" dirty="0">
                <a:latin typeface="Times New Roman" pitchFamily="18" charset="0"/>
                <a:cs typeface="Times New Roman" pitchFamily="18" charset="0"/>
              </a:rPr>
              <a:t> We use handshakes to gain trust and </a:t>
            </a:r>
          </a:p>
          <a:p>
            <a:pPr>
              <a:lnSpc>
                <a:spcPct val="150000"/>
              </a:lnSpc>
              <a:buNone/>
            </a:pPr>
            <a:r>
              <a:rPr lang="en-US" sz="2000" dirty="0">
                <a:latin typeface="Times New Roman" pitchFamily="18" charset="0"/>
                <a:cs typeface="Times New Roman" pitchFamily="18" charset="0"/>
              </a:rPr>
              <a:t>introduce ourselves. </a:t>
            </a:r>
          </a:p>
        </p:txBody>
      </p:sp>
      <p:pic>
        <p:nvPicPr>
          <p:cNvPr id="3" name="Picture 1" descr="importance-of-effective-communication-skills-01.jpg"/>
          <p:cNvPicPr>
            <a:picLocks noGrp="1" noChangeAspect="1"/>
          </p:cNvPicPr>
          <p:nvPr isPhoto="1"/>
        </p:nvPicPr>
        <p:blipFill>
          <a:blip r:embed="rId2"/>
          <a:srcRect/>
          <a:stretch>
            <a:fillRect/>
          </a:stretch>
        </p:blipFill>
        <p:spPr bwMode="auto">
          <a:xfrm>
            <a:off x="4724400" y="0"/>
            <a:ext cx="4419600" cy="685800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pPr>
              <a:buNone/>
            </a:pPr>
            <a:endParaRPr lang="en-US" sz="2000" dirty="0">
              <a:latin typeface="Times New Roman" pitchFamily="18" charset="0"/>
              <a:cs typeface="Times New Roman" pitchFamily="18" charset="0"/>
            </a:endParaRPr>
          </a:p>
          <a:p>
            <a:pPr>
              <a:lnSpc>
                <a:spcPct val="150000"/>
              </a:lnSpc>
              <a:buNone/>
            </a:pPr>
            <a:endParaRPr lang="en-US" sz="2000" b="1" dirty="0">
              <a:latin typeface="Times New Roman" pitchFamily="18" charset="0"/>
              <a:cs typeface="Times New Roman" pitchFamily="18" charset="0"/>
            </a:endParaRPr>
          </a:p>
          <a:p>
            <a:pPr>
              <a:lnSpc>
                <a:spcPct val="150000"/>
              </a:lnSpc>
              <a:buNone/>
            </a:pPr>
            <a:r>
              <a:rPr lang="en-US" sz="2000" b="1" dirty="0">
                <a:latin typeface="Times New Roman" pitchFamily="18" charset="0"/>
                <a:cs typeface="Times New Roman" pitchFamily="18" charset="0"/>
              </a:rPr>
              <a:t>GESTURE</a:t>
            </a:r>
            <a:endParaRPr lang="en-US" sz="2000" dirty="0">
              <a:latin typeface="Times New Roman" pitchFamily="18" charset="0"/>
              <a:cs typeface="Times New Roman" pitchFamily="18" charset="0"/>
            </a:endParaRPr>
          </a:p>
          <a:p>
            <a:pPr>
              <a:lnSpc>
                <a:spcPct val="150000"/>
              </a:lnSpc>
              <a:buNone/>
            </a:pPr>
            <a:r>
              <a:rPr lang="en-US" sz="2000" dirty="0">
                <a:latin typeface="Times New Roman" pitchFamily="18" charset="0"/>
                <a:cs typeface="Times New Roman" pitchFamily="18" charset="0"/>
              </a:rPr>
              <a:t>A </a:t>
            </a:r>
            <a:r>
              <a:rPr lang="en-US" sz="2000" b="1" dirty="0">
                <a:latin typeface="Times New Roman" pitchFamily="18" charset="0"/>
                <a:cs typeface="Times New Roman" pitchFamily="18" charset="0"/>
              </a:rPr>
              <a:t>gesture</a:t>
            </a:r>
            <a:r>
              <a:rPr lang="en-US" sz="2000" dirty="0">
                <a:latin typeface="Times New Roman" pitchFamily="18" charset="0"/>
                <a:cs typeface="Times New Roman" pitchFamily="18" charset="0"/>
              </a:rPr>
              <a:t> is a characteristic of </a:t>
            </a:r>
          </a:p>
          <a:p>
            <a:pPr>
              <a:lnSpc>
                <a:spcPct val="150000"/>
              </a:lnSpc>
              <a:buNone/>
            </a:pPr>
            <a:r>
              <a:rPr lang="en-US" sz="2000" dirty="0">
                <a:latin typeface="Times New Roman" pitchFamily="18" charset="0"/>
                <a:cs typeface="Times New Roman" pitchFamily="18" charset="0"/>
              </a:rPr>
              <a:t>nonverbal communication in </a:t>
            </a:r>
          </a:p>
          <a:p>
            <a:pPr>
              <a:lnSpc>
                <a:spcPct val="150000"/>
              </a:lnSpc>
              <a:buNone/>
            </a:pPr>
            <a:r>
              <a:rPr lang="en-US" sz="2000" dirty="0">
                <a:latin typeface="Times New Roman" pitchFamily="18" charset="0"/>
                <a:cs typeface="Times New Roman" pitchFamily="18" charset="0"/>
              </a:rPr>
              <a:t>which visible body actions </a:t>
            </a:r>
          </a:p>
          <a:p>
            <a:pPr>
              <a:lnSpc>
                <a:spcPct val="150000"/>
              </a:lnSpc>
              <a:buNone/>
            </a:pPr>
            <a:r>
              <a:rPr lang="en-US" sz="2000" dirty="0">
                <a:latin typeface="Times New Roman" pitchFamily="18" charset="0"/>
                <a:cs typeface="Times New Roman" pitchFamily="18" charset="0"/>
              </a:rPr>
              <a:t>communicate particular message.</a:t>
            </a:r>
          </a:p>
          <a:p>
            <a:pPr>
              <a:lnSpc>
                <a:spcPct val="150000"/>
              </a:lnSpc>
              <a:buNone/>
            </a:pPr>
            <a:r>
              <a:rPr lang="en-US" sz="2000" dirty="0">
                <a:latin typeface="Times New Roman" pitchFamily="18" charset="0"/>
                <a:cs typeface="Times New Roman" pitchFamily="18" charset="0"/>
              </a:rPr>
              <a:t>Gestures include movement of </a:t>
            </a:r>
          </a:p>
          <a:p>
            <a:pPr>
              <a:lnSpc>
                <a:spcPct val="150000"/>
              </a:lnSpc>
              <a:buNone/>
            </a:pPr>
            <a:r>
              <a:rPr lang="en-US" sz="2000" dirty="0">
                <a:latin typeface="Times New Roman" pitchFamily="18" charset="0"/>
                <a:cs typeface="Times New Roman" pitchFamily="18" charset="0"/>
              </a:rPr>
              <a:t>the hands, face, or other parts </a:t>
            </a:r>
          </a:p>
          <a:p>
            <a:pPr>
              <a:lnSpc>
                <a:spcPct val="150000"/>
              </a:lnSpc>
              <a:buNone/>
            </a:pPr>
            <a:r>
              <a:rPr lang="en-US" sz="2000" dirty="0">
                <a:latin typeface="Times New Roman" pitchFamily="18" charset="0"/>
                <a:cs typeface="Times New Roman" pitchFamily="18" charset="0"/>
              </a:rPr>
              <a:t>of the body</a:t>
            </a:r>
            <a:r>
              <a:rPr lang="en-US" sz="2000" dirty="0"/>
              <a:t>.</a:t>
            </a:r>
            <a:endParaRPr lang="en-US" sz="2000" dirty="0">
              <a:latin typeface="Ace"/>
            </a:endParaRPr>
          </a:p>
        </p:txBody>
      </p:sp>
      <p:pic>
        <p:nvPicPr>
          <p:cNvPr id="3" name="Picture 7" descr="ALGERIA-FANS-GIRLS-SMILE-BRUNETTE.jpg"/>
          <p:cNvPicPr>
            <a:picLocks noChangeAspect="1"/>
          </p:cNvPicPr>
          <p:nvPr/>
        </p:nvPicPr>
        <p:blipFill>
          <a:blip r:embed="rId2"/>
          <a:srcRect/>
          <a:stretch>
            <a:fillRect/>
          </a:stretch>
        </p:blipFill>
        <p:spPr bwMode="auto">
          <a:xfrm>
            <a:off x="3657600" y="0"/>
            <a:ext cx="5486400" cy="6858000"/>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629400"/>
          </a:xfrm>
        </p:spPr>
        <p:txBody>
          <a:bodyPr/>
          <a:lstStyle/>
          <a:p>
            <a:pPr>
              <a:buNone/>
            </a:pPr>
            <a:endParaRPr lang="en-US" sz="2800" b="1" dirty="0">
              <a:latin typeface="Times New Roman" pitchFamily="18" charset="0"/>
              <a:cs typeface="Times New Roman" pitchFamily="18" charset="0"/>
            </a:endParaRPr>
          </a:p>
          <a:p>
            <a:pPr>
              <a:buNone/>
            </a:pPr>
            <a:r>
              <a:rPr lang="en-US" sz="2800" b="1" dirty="0">
                <a:latin typeface="Times New Roman" pitchFamily="18" charset="0"/>
                <a:cs typeface="Times New Roman" pitchFamily="18" charset="0"/>
              </a:rPr>
              <a:t>BODY LANGUAGE</a:t>
            </a:r>
            <a:endParaRPr lang="en-US" dirty="0"/>
          </a:p>
        </p:txBody>
      </p:sp>
      <p:pic>
        <p:nvPicPr>
          <p:cNvPr id="4" name="Picture 3" descr="Related image"/>
          <p:cNvPicPr/>
          <p:nvPr/>
        </p:nvPicPr>
        <p:blipFill>
          <a:blip r:embed="rId2"/>
          <a:srcRect/>
          <a:stretch>
            <a:fillRect/>
          </a:stretch>
        </p:blipFill>
        <p:spPr bwMode="auto">
          <a:xfrm>
            <a:off x="1" y="990600"/>
            <a:ext cx="9144000" cy="5867399"/>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pPr>
              <a:buNone/>
            </a:pPr>
            <a:endParaRPr lang="en-US" sz="2000" b="1" dirty="0">
              <a:latin typeface="Times New Roman" pitchFamily="18" charset="0"/>
              <a:cs typeface="Times New Roman" pitchFamily="18" charset="0"/>
            </a:endParaRPr>
          </a:p>
          <a:p>
            <a:pPr>
              <a:lnSpc>
                <a:spcPct val="150000"/>
              </a:lnSpc>
              <a:buNone/>
            </a:pPr>
            <a:r>
              <a:rPr lang="en-US" sz="2000" dirty="0">
                <a:latin typeface="Times New Roman" pitchFamily="18" charset="0"/>
                <a:cs typeface="Times New Roman" pitchFamily="18" charset="0"/>
              </a:rPr>
              <a:t>Body language is a language in which physical behavior, as opposed to words, is used</a:t>
            </a:r>
          </a:p>
          <a:p>
            <a:pPr>
              <a:lnSpc>
                <a:spcPct val="150000"/>
              </a:lnSpc>
              <a:buNone/>
            </a:pPr>
            <a:r>
              <a:rPr lang="en-US" sz="2000" dirty="0">
                <a:latin typeface="Times New Roman" pitchFamily="18" charset="0"/>
                <a:cs typeface="Times New Roman" pitchFamily="18" charset="0"/>
              </a:rPr>
              <a:t>to express feelings. Such behavior includes facial expressions, body posture, gestures,</a:t>
            </a:r>
          </a:p>
          <a:p>
            <a:pPr>
              <a:lnSpc>
                <a:spcPct val="150000"/>
              </a:lnSpc>
              <a:buNone/>
            </a:pPr>
            <a:r>
              <a:rPr lang="en-US" sz="2000" dirty="0">
                <a:latin typeface="Times New Roman" pitchFamily="18" charset="0"/>
                <a:cs typeface="Times New Roman" pitchFamily="18" charset="0"/>
              </a:rPr>
              <a:t>eye movement, touch and the use of space. Body language exists in both animals and</a:t>
            </a:r>
          </a:p>
          <a:p>
            <a:pPr>
              <a:lnSpc>
                <a:spcPct val="150000"/>
              </a:lnSpc>
              <a:buNone/>
            </a:pPr>
            <a:r>
              <a:rPr lang="en-US" sz="2000" dirty="0">
                <a:latin typeface="Times New Roman" pitchFamily="18" charset="0"/>
                <a:cs typeface="Times New Roman" pitchFamily="18" charset="0"/>
              </a:rPr>
              <a:t>humans, but this article focuses on interpretations of human body language. It is also</a:t>
            </a:r>
          </a:p>
          <a:p>
            <a:pPr>
              <a:lnSpc>
                <a:spcPct val="150000"/>
              </a:lnSpc>
              <a:buNone/>
            </a:pPr>
            <a:r>
              <a:rPr lang="en-US" sz="2000" dirty="0">
                <a:latin typeface="Times New Roman" pitchFamily="18" charset="0"/>
                <a:cs typeface="Times New Roman" pitchFamily="18" charset="0"/>
              </a:rPr>
              <a:t>known as kinesics. Body language must not be confused with sign language, as sign</a:t>
            </a:r>
          </a:p>
          <a:p>
            <a:pPr>
              <a:lnSpc>
                <a:spcPct val="150000"/>
              </a:lnSpc>
              <a:buNone/>
            </a:pPr>
            <a:r>
              <a:rPr lang="en-US" sz="2000" dirty="0">
                <a:latin typeface="Times New Roman" pitchFamily="18" charset="0"/>
                <a:cs typeface="Times New Roman" pitchFamily="18" charset="0"/>
              </a:rPr>
              <a:t>languages are full languages like spoken languages and have their own complex</a:t>
            </a:r>
          </a:p>
          <a:p>
            <a:pPr>
              <a:lnSpc>
                <a:spcPct val="150000"/>
              </a:lnSpc>
              <a:buNone/>
            </a:pPr>
            <a:r>
              <a:rPr lang="en-US" sz="2000" dirty="0">
                <a:latin typeface="Times New Roman" pitchFamily="18" charset="0"/>
                <a:cs typeface="Times New Roman" pitchFamily="18" charset="0"/>
              </a:rPr>
              <a:t>grammar systems, as well as being able to exhibit the fundamental properties that exist</a:t>
            </a:r>
          </a:p>
          <a:p>
            <a:pPr>
              <a:lnSpc>
                <a:spcPct val="150000"/>
              </a:lnSpc>
              <a:buNone/>
            </a:pPr>
            <a:r>
              <a:rPr lang="en-US" sz="2000" dirty="0">
                <a:latin typeface="Times New Roman" pitchFamily="18" charset="0"/>
                <a:cs typeface="Times New Roman" pitchFamily="18" charset="0"/>
              </a:rPr>
              <a:t>in all languages. Body language, on the other hand, does not have a grammar and must</a:t>
            </a:r>
          </a:p>
          <a:p>
            <a:pPr>
              <a:lnSpc>
                <a:spcPct val="150000"/>
              </a:lnSpc>
              <a:buNone/>
            </a:pPr>
            <a:r>
              <a:rPr lang="en-US" sz="2000" dirty="0">
                <a:latin typeface="Times New Roman" pitchFamily="18" charset="0"/>
                <a:cs typeface="Times New Roman" pitchFamily="18" charset="0"/>
              </a:rPr>
              <a:t>be interpreted broadly, instead of having an absolute meaning corresponding with a</a:t>
            </a:r>
          </a:p>
          <a:p>
            <a:pPr>
              <a:lnSpc>
                <a:spcPct val="150000"/>
              </a:lnSpc>
              <a:buNone/>
            </a:pPr>
            <a:r>
              <a:rPr lang="en-US" sz="2000" dirty="0">
                <a:latin typeface="Times New Roman" pitchFamily="18" charset="0"/>
                <a:cs typeface="Times New Roman" pitchFamily="18" charset="0"/>
              </a:rPr>
              <a:t>certain movement, so it is not a language like sign language, and is simply termed as a</a:t>
            </a:r>
          </a:p>
          <a:p>
            <a:pPr>
              <a:lnSpc>
                <a:spcPct val="150000"/>
              </a:lnSpc>
              <a:buNone/>
            </a:pPr>
            <a:r>
              <a:rPr lang="en-US" sz="2000" dirty="0">
                <a:latin typeface="Times New Roman" pitchFamily="18" charset="0"/>
                <a:cs typeface="Times New Roman" pitchFamily="18" charset="0"/>
              </a:rPr>
              <a:t>"language" due to popular culture.</a:t>
            </a:r>
          </a:p>
          <a:p>
            <a:pPr marL="624078" indent="-514350">
              <a:lnSpc>
                <a:spcPct val="150000"/>
              </a:lnSpc>
              <a:buNone/>
            </a:pPr>
            <a:r>
              <a:rPr lang="en-US" sz="2000" b="1" dirty="0">
                <a:latin typeface="Times New Roman" pitchFamily="18" charset="0"/>
                <a:cs typeface="Times New Roman" pitchFamily="18" charset="0"/>
              </a:rPr>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pPr>
              <a:lnSpc>
                <a:spcPct val="150000"/>
              </a:lnSpc>
              <a:buNone/>
            </a:pPr>
            <a:endParaRPr lang="en-US" sz="2000" dirty="0">
              <a:latin typeface="Times New Roman" pitchFamily="18" charset="0"/>
              <a:cs typeface="Times New Roman" pitchFamily="18" charset="0"/>
            </a:endParaRPr>
          </a:p>
          <a:p>
            <a:pPr>
              <a:lnSpc>
                <a:spcPct val="150000"/>
              </a:lnSpc>
              <a:buNone/>
            </a:pPr>
            <a:r>
              <a:rPr lang="en-US" sz="2000" dirty="0">
                <a:latin typeface="Times New Roman" pitchFamily="18" charset="0"/>
                <a:cs typeface="Times New Roman" pitchFamily="18" charset="0"/>
              </a:rPr>
              <a:t>In a community, there are agreed-upon interpretations of particular behavior.</a:t>
            </a:r>
          </a:p>
          <a:p>
            <a:pPr>
              <a:lnSpc>
                <a:spcPct val="150000"/>
              </a:lnSpc>
              <a:buNone/>
            </a:pPr>
            <a:r>
              <a:rPr lang="en-US" sz="2000" dirty="0">
                <a:latin typeface="Times New Roman" pitchFamily="18" charset="0"/>
                <a:cs typeface="Times New Roman" pitchFamily="18" charset="0"/>
              </a:rPr>
              <a:t>Interpretations may vary from country to country, or culture to culture. On this note,</a:t>
            </a:r>
          </a:p>
          <a:p>
            <a:pPr>
              <a:lnSpc>
                <a:spcPct val="150000"/>
              </a:lnSpc>
              <a:buNone/>
            </a:pPr>
            <a:r>
              <a:rPr lang="en-US" sz="2000" dirty="0">
                <a:latin typeface="Times New Roman" pitchFamily="18" charset="0"/>
                <a:cs typeface="Times New Roman" pitchFamily="18" charset="0"/>
              </a:rPr>
              <a:t>there is controversy on whether body language is universal. Body language, a subset of</a:t>
            </a:r>
          </a:p>
          <a:p>
            <a:pPr>
              <a:lnSpc>
                <a:spcPct val="150000"/>
              </a:lnSpc>
              <a:buNone/>
            </a:pPr>
            <a:r>
              <a:rPr lang="en-US" sz="2000" dirty="0">
                <a:latin typeface="Times New Roman" pitchFamily="18" charset="0"/>
                <a:cs typeface="Times New Roman" pitchFamily="18" charset="0"/>
              </a:rPr>
              <a:t>nonverbal communication, complements verbal communication in social interaction.</a:t>
            </a:r>
          </a:p>
          <a:p>
            <a:pPr>
              <a:lnSpc>
                <a:spcPct val="150000"/>
              </a:lnSpc>
              <a:buNone/>
            </a:pPr>
            <a:r>
              <a:rPr lang="en-US" sz="2000" dirty="0">
                <a:latin typeface="Times New Roman" pitchFamily="18" charset="0"/>
                <a:cs typeface="Times New Roman" pitchFamily="18" charset="0"/>
              </a:rPr>
              <a:t>In fact some researchers conclude that nonverbal communication accounts for the</a:t>
            </a:r>
          </a:p>
          <a:p>
            <a:pPr>
              <a:lnSpc>
                <a:spcPct val="150000"/>
              </a:lnSpc>
              <a:buNone/>
            </a:pPr>
            <a:r>
              <a:rPr lang="en-US" sz="2000" dirty="0">
                <a:latin typeface="Times New Roman" pitchFamily="18" charset="0"/>
                <a:cs typeface="Times New Roman" pitchFamily="18" charset="0"/>
              </a:rPr>
              <a:t>majority of information transmitted during interpersonal interactions. It helps to</a:t>
            </a:r>
          </a:p>
          <a:p>
            <a:pPr>
              <a:lnSpc>
                <a:spcPct val="150000"/>
              </a:lnSpc>
              <a:buNone/>
            </a:pPr>
            <a:r>
              <a:rPr lang="en-US" sz="2000" dirty="0">
                <a:latin typeface="Times New Roman" pitchFamily="18" charset="0"/>
                <a:cs typeface="Times New Roman" pitchFamily="18" charset="0"/>
              </a:rPr>
              <a:t>establish the relationship between two people and regulates interaction, but can be</a:t>
            </a:r>
          </a:p>
          <a:p>
            <a:pPr>
              <a:lnSpc>
                <a:spcPct val="150000"/>
              </a:lnSpc>
              <a:buNone/>
            </a:pPr>
            <a:r>
              <a:rPr lang="en-US" sz="2000" dirty="0">
                <a:latin typeface="Times New Roman" pitchFamily="18" charset="0"/>
                <a:cs typeface="Times New Roman" pitchFamily="18" charset="0"/>
              </a:rPr>
              <a:t>ambiguous. Hence, it is crucial to accurately read body language to avoid</a:t>
            </a:r>
          </a:p>
          <a:p>
            <a:pPr>
              <a:lnSpc>
                <a:spcPct val="150000"/>
              </a:lnSpc>
              <a:buNone/>
            </a:pPr>
            <a:r>
              <a:rPr lang="en-US" sz="2000" dirty="0">
                <a:latin typeface="Times New Roman" pitchFamily="18" charset="0"/>
                <a:cs typeface="Times New Roman" pitchFamily="18" charset="0"/>
              </a:rPr>
              <a:t>misunderstanding in social interactions.ing.</a:t>
            </a:r>
          </a:p>
          <a:p>
            <a:pPr>
              <a:buNone/>
            </a:pP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Image result for dress and appearance in communication"/>
          <p:cNvPicPr>
            <a:picLocks noGrp="1"/>
          </p:cNvPicPr>
          <p:nvPr>
            <p:ph idx="1"/>
          </p:nvPr>
        </p:nvPicPr>
        <p:blipFill>
          <a:blip r:embed="rId2"/>
          <a:srcRect/>
          <a:stretch>
            <a:fillRect/>
          </a:stretch>
        </p:blipFill>
        <p:spPr bwMode="auto">
          <a:xfrm>
            <a:off x="0" y="1219200"/>
            <a:ext cx="9144000" cy="5638800"/>
          </a:xfrm>
          <a:prstGeom prst="rect">
            <a:avLst/>
          </a:prstGeom>
          <a:noFill/>
          <a:ln w="9525">
            <a:noFill/>
            <a:miter lim="800000"/>
            <a:headEnd/>
            <a:tailEnd/>
          </a:ln>
        </p:spPr>
      </p:pic>
      <p:sp>
        <p:nvSpPr>
          <p:cNvPr id="5" name="Rectangle 4"/>
          <p:cNvSpPr/>
          <p:nvPr/>
        </p:nvSpPr>
        <p:spPr>
          <a:xfrm>
            <a:off x="0" y="457200"/>
            <a:ext cx="3733800" cy="661207"/>
          </a:xfrm>
          <a:prstGeom prst="rect">
            <a:avLst/>
          </a:prstGeom>
        </p:spPr>
        <p:txBody>
          <a:bodyPr wrap="square">
            <a:spAutoFit/>
          </a:bodyPr>
          <a:lstStyle/>
          <a:p>
            <a:pPr>
              <a:lnSpc>
                <a:spcPct val="150000"/>
              </a:lnSpc>
              <a:buNone/>
            </a:pPr>
            <a:r>
              <a:rPr lang="en-US" sz="2800" b="1" dirty="0">
                <a:latin typeface="Times New Roman" pitchFamily="18" charset="0"/>
                <a:cs typeface="Times New Roman" pitchFamily="18" charset="0"/>
              </a:rPr>
              <a:t>DRESS CODE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fontScale="55000" lnSpcReduction="20000"/>
          </a:bodyPr>
          <a:lstStyle/>
          <a:p>
            <a:pPr>
              <a:buNone/>
            </a:pPr>
            <a:endParaRPr lang="en-US" sz="2000" b="1" dirty="0">
              <a:latin typeface="Times New Roman" pitchFamily="18" charset="0"/>
              <a:cs typeface="Times New Roman" pitchFamily="18" charset="0"/>
            </a:endParaRPr>
          </a:p>
          <a:p>
            <a:pPr>
              <a:lnSpc>
                <a:spcPct val="150000"/>
              </a:lnSpc>
              <a:buNone/>
            </a:pPr>
            <a:endParaRPr lang="en-US" sz="3600" b="1" dirty="0">
              <a:latin typeface="Times New Roman" pitchFamily="18" charset="0"/>
              <a:cs typeface="Times New Roman" pitchFamily="18" charset="0"/>
            </a:endParaRPr>
          </a:p>
          <a:p>
            <a:pPr>
              <a:lnSpc>
                <a:spcPct val="150000"/>
              </a:lnSpc>
              <a:buNone/>
            </a:pPr>
            <a:r>
              <a:rPr lang="en-US" sz="4400" b="1" dirty="0">
                <a:latin typeface="Times New Roman" pitchFamily="18" charset="0"/>
                <a:cs typeface="Times New Roman" pitchFamily="18" charset="0"/>
              </a:rPr>
              <a:t>DRESS CODE</a:t>
            </a:r>
          </a:p>
          <a:p>
            <a:pPr>
              <a:lnSpc>
                <a:spcPct val="170000"/>
              </a:lnSpc>
              <a:buNone/>
            </a:pPr>
            <a:r>
              <a:rPr lang="en-US" sz="3600" dirty="0">
                <a:latin typeface="Times New Roman" pitchFamily="18" charset="0"/>
                <a:cs typeface="Times New Roman" pitchFamily="18" charset="0"/>
              </a:rPr>
              <a:t>Dress is considered an aspect of non-verbal communication and has social significance</a:t>
            </a:r>
          </a:p>
          <a:p>
            <a:pPr>
              <a:lnSpc>
                <a:spcPct val="170000"/>
              </a:lnSpc>
              <a:buNone/>
            </a:pPr>
            <a:r>
              <a:rPr lang="en-US" sz="3600" dirty="0">
                <a:latin typeface="Times New Roman" pitchFamily="18" charset="0"/>
                <a:cs typeface="Times New Roman" pitchFamily="18" charset="0"/>
              </a:rPr>
              <a:t>For the audience. Dress also includes the things that people wear such as jewelry, ties,</a:t>
            </a:r>
          </a:p>
          <a:p>
            <a:pPr>
              <a:lnSpc>
                <a:spcPct val="170000"/>
              </a:lnSpc>
              <a:buNone/>
            </a:pPr>
            <a:r>
              <a:rPr lang="en-US" sz="3600" dirty="0">
                <a:latin typeface="Times New Roman" pitchFamily="18" charset="0"/>
                <a:cs typeface="Times New Roman" pitchFamily="18" charset="0"/>
              </a:rPr>
              <a:t>handbags, hats and glasses. Clothing conveys nonverbal clues about a speaker's</a:t>
            </a:r>
          </a:p>
          <a:p>
            <a:pPr>
              <a:lnSpc>
                <a:spcPct val="170000"/>
              </a:lnSpc>
              <a:buNone/>
            </a:pPr>
            <a:r>
              <a:rPr lang="en-US" sz="3600" dirty="0">
                <a:latin typeface="Times New Roman" pitchFamily="18" charset="0"/>
                <a:cs typeface="Times New Roman" pitchFamily="18" charset="0"/>
              </a:rPr>
              <a:t>personality, background and financial status. Your clothing style can demonstrate your</a:t>
            </a:r>
          </a:p>
          <a:p>
            <a:pPr>
              <a:lnSpc>
                <a:spcPct val="170000"/>
              </a:lnSpc>
              <a:buNone/>
            </a:pPr>
            <a:r>
              <a:rPr lang="en-US" sz="3600" dirty="0">
                <a:latin typeface="Times New Roman" pitchFamily="18" charset="0"/>
                <a:cs typeface="Times New Roman" pitchFamily="18" charset="0"/>
              </a:rPr>
              <a:t>culture, mood, level of confidence, interests, age, authority, values and sexual identity.</a:t>
            </a:r>
          </a:p>
          <a:p>
            <a:pPr>
              <a:lnSpc>
                <a:spcPct val="170000"/>
              </a:lnSpc>
              <a:buNone/>
            </a:pPr>
            <a:r>
              <a:rPr lang="en-US" sz="3600" dirty="0">
                <a:latin typeface="Times New Roman" pitchFamily="18" charset="0"/>
                <a:cs typeface="Times New Roman" pitchFamily="18" charset="0"/>
              </a:rPr>
              <a:t>Consider how clothing style might send a negative message. A sloppy appearance,</a:t>
            </a:r>
          </a:p>
          <a:p>
            <a:pPr>
              <a:lnSpc>
                <a:spcPct val="170000"/>
              </a:lnSpc>
              <a:buNone/>
            </a:pPr>
            <a:r>
              <a:rPr lang="en-US" sz="3600" dirty="0">
                <a:latin typeface="Times New Roman" pitchFamily="18" charset="0"/>
                <a:cs typeface="Times New Roman" pitchFamily="18" charset="0"/>
              </a:rPr>
              <a:t>messy hair and wrinkled clothes sends the message, "I don't care," while appropriate</a:t>
            </a:r>
          </a:p>
          <a:p>
            <a:pPr>
              <a:lnSpc>
                <a:spcPct val="170000"/>
              </a:lnSpc>
              <a:buNone/>
            </a:pPr>
            <a:r>
              <a:rPr lang="en-US" sz="3600" dirty="0">
                <a:latin typeface="Times New Roman" pitchFamily="18" charset="0"/>
                <a:cs typeface="Times New Roman" pitchFamily="18" charset="0"/>
              </a:rPr>
              <a:t>attire demonstrates the importance of the occasion . </a:t>
            </a:r>
            <a:br>
              <a:rPr lang="en-US" sz="3600" dirty="0">
                <a:latin typeface="Times New Roman" pitchFamily="18" charset="0"/>
                <a:cs typeface="Times New Roman" pitchFamily="18" charset="0"/>
              </a:rPr>
            </a:br>
            <a:br>
              <a:rPr lang="en-US" sz="2000" dirty="0"/>
            </a:br>
            <a:endParaRPr lang="en-US" sz="2000" dirty="0">
              <a:latin typeface="Times New Roman" pitchFamily="18" charset="0"/>
              <a:cs typeface="Times New Roman"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4"/>
          <p:cNvSpPr>
            <a:spLocks noChangeArrowheads="1"/>
          </p:cNvSpPr>
          <p:nvPr/>
        </p:nvSpPr>
        <p:spPr bwMode="auto">
          <a:xfrm>
            <a:off x="363538" y="2928938"/>
            <a:ext cx="84439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sz="3600" b="1">
                <a:latin typeface="Ace"/>
              </a:rPr>
              <a:t>Let see some most common gestures</a:t>
            </a:r>
          </a:p>
        </p:txBody>
      </p:sp>
    </p:spTree>
    <p:extLst>
      <p:ext uri="{BB962C8B-B14F-4D97-AF65-F5344CB8AC3E}">
        <p14:creationId xmlns:p14="http://schemas.microsoft.com/office/powerpoint/2010/main" val="3829679268"/>
      </p:ext>
    </p:extLst>
  </p:cSld>
  <p:clrMapOvr>
    <a:masterClrMapping/>
  </p:clrMapOvr>
  <p:transition advTm="20000"/>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1" descr="2101209033861-640x480.jpg"/>
          <p:cNvPicPr>
            <a:picLocks noGrp="1" noChangeAspect="1"/>
          </p:cNvPicPr>
          <p:nvPr isPhoto="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01101862"/>
      </p:ext>
    </p:extLst>
  </p:cSld>
  <p:clrMapOvr>
    <a:masterClrMapping/>
  </p:clrMapOvr>
  <p:transition advTm="5000"/>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1" descr="nawaz-sharif-media-640x480.jpg"/>
          <p:cNvPicPr>
            <a:picLocks noGrp="1" noChangeAspect="1"/>
          </p:cNvPicPr>
          <p:nvPr isPhoto="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41255093"/>
      </p:ext>
    </p:extLst>
  </p:cSld>
  <p:clrMapOvr>
    <a:masterClrMapping/>
  </p:clrMapOvr>
  <p:transition advTm="5000"/>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1" descr="Musharraf.jpg"/>
          <p:cNvPicPr>
            <a:picLocks noGrp="1" noChangeAspect="1"/>
          </p:cNvPicPr>
          <p:nvPr isPhoto="1"/>
        </p:nvPicPr>
        <p:blipFill>
          <a:blip r:embed="rId2">
            <a:extLst>
              <a:ext uri="{28A0092B-C50C-407E-A947-70E740481C1C}">
                <a14:useLocalDpi xmlns:a14="http://schemas.microsoft.com/office/drawing/2010/main" val="0"/>
              </a:ext>
            </a:extLst>
          </a:blip>
          <a:srcRect/>
          <a:stretch>
            <a:fillRect/>
          </a:stretch>
        </p:blipFill>
        <p:spPr bwMode="auto">
          <a:xfrm>
            <a:off x="1754188" y="0"/>
            <a:ext cx="5634037"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21628404"/>
      </p:ext>
    </p:extLst>
  </p:cSld>
  <p:clrMapOvr>
    <a:masterClrMapping/>
  </p:clrMapOvr>
  <p:transition advTm="5000"/>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1" descr="Asif Ali Zardari.jpg"/>
          <p:cNvPicPr>
            <a:picLocks noGrp="1" noChangeAspect="1"/>
          </p:cNvPicPr>
          <p:nvPr isPhoto="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87102431"/>
      </p:ext>
    </p:extLst>
  </p:cSld>
  <p:clrMapOvr>
    <a:masterClrMapping/>
  </p:clrMapOvr>
  <p:transition advTm="5000"/>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Altaf-Hussain.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81288" y="0"/>
            <a:ext cx="37814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79355133"/>
      </p:ext>
    </p:extLst>
  </p:cSld>
  <p:clrMapOvr>
    <a:masterClrMapping/>
  </p:clrMapOvr>
  <p:transition advTm="5000"/>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ChangeArrowheads="1"/>
          </p:cNvSpPr>
          <p:nvPr/>
        </p:nvSpPr>
        <p:spPr bwMode="auto">
          <a:xfrm>
            <a:off x="219075" y="1857375"/>
            <a:ext cx="3657600" cy="301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atin typeface="Ace"/>
              </a:rPr>
              <a:t>Personal space is your "bubble" - the space you place between yourself and others. This invisible boundary becomes apparent only when someone bumps or tries to enter your bubble.</a:t>
            </a:r>
          </a:p>
        </p:txBody>
      </p:sp>
      <p:sp>
        <p:nvSpPr>
          <p:cNvPr id="24579" name="Title 1"/>
          <p:cNvSpPr txBox="1">
            <a:spLocks/>
          </p:cNvSpPr>
          <p:nvPr/>
        </p:nvSpPr>
        <p:spPr bwMode="auto">
          <a:xfrm>
            <a:off x="-469900" y="1292225"/>
            <a:ext cx="436721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cs typeface="Arial" pitchFamily="34" charset="0"/>
              </a:defRPr>
            </a:lvl1pPr>
            <a:lvl2pPr marL="742950" indent="-285750" eaLnBrk="0" hangingPunct="0">
              <a:defRPr sz="2400">
                <a:solidFill>
                  <a:schemeClr val="tx1"/>
                </a:solidFill>
                <a:latin typeface="Times New Roman" pitchFamily="18" charset="0"/>
                <a:cs typeface="Arial" pitchFamily="34" charset="0"/>
              </a:defRPr>
            </a:lvl2pPr>
            <a:lvl3pPr marL="1143000" indent="-228600" eaLnBrk="0" hangingPunct="0">
              <a:defRPr sz="2400">
                <a:solidFill>
                  <a:schemeClr val="tx1"/>
                </a:solidFill>
                <a:latin typeface="Times New Roman" pitchFamily="18" charset="0"/>
                <a:cs typeface="Arial" pitchFamily="34" charset="0"/>
              </a:defRPr>
            </a:lvl3pPr>
            <a:lvl4pPr marL="1600200" indent="-228600" eaLnBrk="0" hangingPunct="0">
              <a:defRPr sz="2400">
                <a:solidFill>
                  <a:schemeClr val="tx1"/>
                </a:solidFill>
                <a:latin typeface="Times New Roman" pitchFamily="18" charset="0"/>
                <a:cs typeface="Arial" pitchFamily="34" charset="0"/>
              </a:defRPr>
            </a:lvl4pPr>
            <a:lvl5pPr marL="2057400" indent="-228600" eaLnBrk="0" hangingPunct="0">
              <a:defRPr sz="2400">
                <a:solidFill>
                  <a:schemeClr val="tx1"/>
                </a:solidFill>
                <a:latin typeface="Times New Roman" pitchFamily="18" charset="0"/>
                <a:cs typeface="Arial" pitchFamily="34"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pitchFamily="34"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pitchFamily="34"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pitchFamily="34"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pitchFamily="34" charset="0"/>
              </a:defRPr>
            </a:lvl9pPr>
          </a:lstStyle>
          <a:p>
            <a:pPr algn="ctr" eaLnBrk="1" hangingPunct="1"/>
            <a:r>
              <a:rPr lang="en-US" sz="3200">
                <a:latin typeface="Ace"/>
              </a:rPr>
              <a:t>Personal space</a:t>
            </a:r>
          </a:p>
        </p:txBody>
      </p:sp>
      <p:pic>
        <p:nvPicPr>
          <p:cNvPr id="24580" name="Picture 6" descr="personal_spa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32263" y="-242888"/>
            <a:ext cx="5119687" cy="717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2604445"/>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txBox="1">
            <a:spLocks/>
          </p:cNvSpPr>
          <p:nvPr/>
        </p:nvSpPr>
        <p:spPr bwMode="auto">
          <a:xfrm>
            <a:off x="323850" y="493713"/>
            <a:ext cx="8569325"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cs typeface="Arial" pitchFamily="34" charset="0"/>
              </a:defRPr>
            </a:lvl1pPr>
            <a:lvl2pPr marL="742950" indent="-285750" eaLnBrk="0" hangingPunct="0">
              <a:defRPr sz="2400">
                <a:solidFill>
                  <a:schemeClr val="tx1"/>
                </a:solidFill>
                <a:latin typeface="Times New Roman" pitchFamily="18" charset="0"/>
                <a:cs typeface="Arial" pitchFamily="34" charset="0"/>
              </a:defRPr>
            </a:lvl2pPr>
            <a:lvl3pPr marL="1143000" indent="-228600" eaLnBrk="0" hangingPunct="0">
              <a:defRPr sz="2400">
                <a:solidFill>
                  <a:schemeClr val="tx1"/>
                </a:solidFill>
                <a:latin typeface="Times New Roman" pitchFamily="18" charset="0"/>
                <a:cs typeface="Arial" pitchFamily="34" charset="0"/>
              </a:defRPr>
            </a:lvl3pPr>
            <a:lvl4pPr marL="1600200" indent="-228600" eaLnBrk="0" hangingPunct="0">
              <a:defRPr sz="2400">
                <a:solidFill>
                  <a:schemeClr val="tx1"/>
                </a:solidFill>
                <a:latin typeface="Times New Roman" pitchFamily="18" charset="0"/>
                <a:cs typeface="Arial" pitchFamily="34" charset="0"/>
              </a:defRPr>
            </a:lvl4pPr>
            <a:lvl5pPr marL="2057400" indent="-228600" eaLnBrk="0" hangingPunct="0">
              <a:defRPr sz="2400">
                <a:solidFill>
                  <a:schemeClr val="tx1"/>
                </a:solidFill>
                <a:latin typeface="Times New Roman" pitchFamily="18" charset="0"/>
                <a:cs typeface="Arial" pitchFamily="34"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pitchFamily="34"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pitchFamily="34"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pitchFamily="34"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pitchFamily="34" charset="0"/>
              </a:defRPr>
            </a:lvl9pPr>
          </a:lstStyle>
          <a:p>
            <a:pPr algn="ctr" eaLnBrk="1" hangingPunct="1"/>
            <a:r>
              <a:rPr lang="en-US" sz="3200">
                <a:latin typeface="Ace"/>
              </a:rPr>
              <a:t>Nonverbal Communication Around the World</a:t>
            </a:r>
            <a:endParaRPr lang="en-US" sz="3200">
              <a:solidFill>
                <a:srgbClr val="000000"/>
              </a:solidFill>
              <a:latin typeface="Ace"/>
            </a:endParaRPr>
          </a:p>
        </p:txBody>
      </p:sp>
      <p:sp>
        <p:nvSpPr>
          <p:cNvPr id="17411" name="Rectangle 3"/>
          <p:cNvSpPr>
            <a:spLocks noChangeArrowheads="1"/>
          </p:cNvSpPr>
          <p:nvPr/>
        </p:nvSpPr>
        <p:spPr bwMode="auto">
          <a:xfrm>
            <a:off x="-12700" y="2200275"/>
            <a:ext cx="2870200" cy="2708275"/>
          </a:xfrm>
          <a:prstGeom prst="rect">
            <a:avLst/>
          </a:prstGeom>
          <a:noFill/>
          <a:ln w="9525">
            <a:noFill/>
            <a:miter lim="800000"/>
            <a:headEnd/>
            <a:tailEnd/>
          </a:ln>
        </p:spPr>
        <p:txBody>
          <a:bodyPr anchor="ctr">
            <a:spAutoFit/>
          </a:bodyPr>
          <a:lstStyle/>
          <a:p>
            <a:pPr algn="ctr">
              <a:defRPr/>
            </a:pPr>
            <a:r>
              <a:rPr lang="en-US" b="1" dirty="0">
                <a:latin typeface="Ace"/>
              </a:rPr>
              <a:t>Nonverbal Communication in </a:t>
            </a:r>
            <a:r>
              <a:rPr lang="en-US" sz="3200" b="1" dirty="0">
                <a:solidFill>
                  <a:schemeClr val="accent1">
                    <a:lumMod val="75000"/>
                  </a:schemeClr>
                </a:solidFill>
                <a:latin typeface="Ace"/>
              </a:rPr>
              <a:t>Pakistan</a:t>
            </a:r>
          </a:p>
          <a:p>
            <a:pPr algn="ctr">
              <a:defRPr/>
            </a:pPr>
            <a:endParaRPr lang="tr-TR" b="1" dirty="0">
              <a:latin typeface="Ace"/>
            </a:endParaRPr>
          </a:p>
          <a:p>
            <a:pPr algn="ctr" eaLnBrk="0" hangingPunct="0">
              <a:defRPr/>
            </a:pPr>
            <a:r>
              <a:rPr lang="en-US" sz="2200" dirty="0">
                <a:latin typeface="Ace"/>
              </a:rPr>
              <a:t>Expressing happiness, respect and love for others.</a:t>
            </a:r>
          </a:p>
        </p:txBody>
      </p:sp>
      <p:sp>
        <p:nvSpPr>
          <p:cNvPr id="25604" name="Title 1"/>
          <p:cNvSpPr txBox="1">
            <a:spLocks/>
          </p:cNvSpPr>
          <p:nvPr/>
        </p:nvSpPr>
        <p:spPr bwMode="auto">
          <a:xfrm>
            <a:off x="-642938" y="6500813"/>
            <a:ext cx="436721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cs typeface="Arial" pitchFamily="34" charset="0"/>
              </a:defRPr>
            </a:lvl1pPr>
            <a:lvl2pPr marL="742950" indent="-285750" eaLnBrk="0" hangingPunct="0">
              <a:defRPr sz="2400">
                <a:solidFill>
                  <a:schemeClr val="tx1"/>
                </a:solidFill>
                <a:latin typeface="Times New Roman" pitchFamily="18" charset="0"/>
                <a:cs typeface="Arial" pitchFamily="34" charset="0"/>
              </a:defRPr>
            </a:lvl2pPr>
            <a:lvl3pPr marL="1143000" indent="-228600" eaLnBrk="0" hangingPunct="0">
              <a:defRPr sz="2400">
                <a:solidFill>
                  <a:schemeClr val="tx1"/>
                </a:solidFill>
                <a:latin typeface="Times New Roman" pitchFamily="18" charset="0"/>
                <a:cs typeface="Arial" pitchFamily="34" charset="0"/>
              </a:defRPr>
            </a:lvl3pPr>
            <a:lvl4pPr marL="1600200" indent="-228600" eaLnBrk="0" hangingPunct="0">
              <a:defRPr sz="2400">
                <a:solidFill>
                  <a:schemeClr val="tx1"/>
                </a:solidFill>
                <a:latin typeface="Times New Roman" pitchFamily="18" charset="0"/>
                <a:cs typeface="Arial" pitchFamily="34" charset="0"/>
              </a:defRPr>
            </a:lvl4pPr>
            <a:lvl5pPr marL="2057400" indent="-228600" eaLnBrk="0" hangingPunct="0">
              <a:defRPr sz="2400">
                <a:solidFill>
                  <a:schemeClr val="tx1"/>
                </a:solidFill>
                <a:latin typeface="Times New Roman" pitchFamily="18" charset="0"/>
                <a:cs typeface="Arial" pitchFamily="34"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pitchFamily="34"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pitchFamily="34"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pitchFamily="34"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pitchFamily="34" charset="0"/>
              </a:defRPr>
            </a:lvl9pPr>
          </a:lstStyle>
          <a:p>
            <a:pPr algn="ctr" eaLnBrk="1" hangingPunct="1"/>
            <a:r>
              <a:rPr lang="en-US" sz="1600" b="1"/>
              <a:t>Cultural effect</a:t>
            </a:r>
            <a:endParaRPr lang="en-US" sz="1600">
              <a:latin typeface="Ace"/>
            </a:endParaRPr>
          </a:p>
        </p:txBody>
      </p:sp>
      <p:pic>
        <p:nvPicPr>
          <p:cNvPr id="25605" name="Picture 5" descr="eid1.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887663" y="1285875"/>
            <a:ext cx="7042150" cy="557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87121036"/>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txBox="1">
            <a:spLocks/>
          </p:cNvSpPr>
          <p:nvPr/>
        </p:nvSpPr>
        <p:spPr bwMode="auto">
          <a:xfrm>
            <a:off x="323850" y="333375"/>
            <a:ext cx="8569325"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cs typeface="Arial" pitchFamily="34" charset="0"/>
              </a:defRPr>
            </a:lvl1pPr>
            <a:lvl2pPr marL="742950" indent="-285750" eaLnBrk="0" hangingPunct="0">
              <a:defRPr sz="2400">
                <a:solidFill>
                  <a:schemeClr val="tx1"/>
                </a:solidFill>
                <a:latin typeface="Times New Roman" pitchFamily="18" charset="0"/>
                <a:cs typeface="Arial" pitchFamily="34" charset="0"/>
              </a:defRPr>
            </a:lvl2pPr>
            <a:lvl3pPr marL="1143000" indent="-228600" eaLnBrk="0" hangingPunct="0">
              <a:defRPr sz="2400">
                <a:solidFill>
                  <a:schemeClr val="tx1"/>
                </a:solidFill>
                <a:latin typeface="Times New Roman" pitchFamily="18" charset="0"/>
                <a:cs typeface="Arial" pitchFamily="34" charset="0"/>
              </a:defRPr>
            </a:lvl3pPr>
            <a:lvl4pPr marL="1600200" indent="-228600" eaLnBrk="0" hangingPunct="0">
              <a:defRPr sz="2400">
                <a:solidFill>
                  <a:schemeClr val="tx1"/>
                </a:solidFill>
                <a:latin typeface="Times New Roman" pitchFamily="18" charset="0"/>
                <a:cs typeface="Arial" pitchFamily="34" charset="0"/>
              </a:defRPr>
            </a:lvl4pPr>
            <a:lvl5pPr marL="2057400" indent="-228600" eaLnBrk="0" hangingPunct="0">
              <a:defRPr sz="2400">
                <a:solidFill>
                  <a:schemeClr val="tx1"/>
                </a:solidFill>
                <a:latin typeface="Times New Roman" pitchFamily="18" charset="0"/>
                <a:cs typeface="Arial" pitchFamily="34"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pitchFamily="34"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pitchFamily="34"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pitchFamily="34"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pitchFamily="34" charset="0"/>
              </a:defRPr>
            </a:lvl9pPr>
          </a:lstStyle>
          <a:p>
            <a:pPr algn="ctr" eaLnBrk="1" hangingPunct="1"/>
            <a:r>
              <a:rPr lang="en-US" sz="3200">
                <a:latin typeface="Ace"/>
              </a:rPr>
              <a:t>Nonverbal Communication Around the World</a:t>
            </a:r>
            <a:endParaRPr lang="en-US" sz="3200">
              <a:solidFill>
                <a:srgbClr val="000000"/>
              </a:solidFill>
              <a:latin typeface="Ace"/>
            </a:endParaRPr>
          </a:p>
        </p:txBody>
      </p:sp>
      <p:sp>
        <p:nvSpPr>
          <p:cNvPr id="18435" name="Rectangle 3"/>
          <p:cNvSpPr>
            <a:spLocks noChangeArrowheads="1"/>
          </p:cNvSpPr>
          <p:nvPr/>
        </p:nvSpPr>
        <p:spPr bwMode="auto">
          <a:xfrm>
            <a:off x="285750" y="1773238"/>
            <a:ext cx="4105275" cy="2432050"/>
          </a:xfrm>
          <a:prstGeom prst="rect">
            <a:avLst/>
          </a:prstGeom>
          <a:noFill/>
          <a:ln w="9525">
            <a:noFill/>
            <a:miter lim="800000"/>
            <a:headEnd/>
            <a:tailEnd/>
          </a:ln>
        </p:spPr>
        <p:txBody>
          <a:bodyPr anchor="ctr">
            <a:spAutoFit/>
          </a:bodyPr>
          <a:lstStyle/>
          <a:p>
            <a:pPr algn="ctr">
              <a:defRPr/>
            </a:pPr>
            <a:r>
              <a:rPr lang="en-US" b="1" dirty="0"/>
              <a:t>Nonverbal Communication in </a:t>
            </a:r>
            <a:r>
              <a:rPr lang="en-US" sz="3200" b="1" dirty="0">
                <a:solidFill>
                  <a:schemeClr val="accent5">
                    <a:lumMod val="50000"/>
                  </a:schemeClr>
                </a:solidFill>
              </a:rPr>
              <a:t>China</a:t>
            </a:r>
            <a:endParaRPr lang="en-US" b="1" dirty="0">
              <a:solidFill>
                <a:schemeClr val="accent5">
                  <a:lumMod val="50000"/>
                </a:schemeClr>
              </a:solidFill>
            </a:endParaRPr>
          </a:p>
          <a:p>
            <a:pPr algn="ctr">
              <a:defRPr/>
            </a:pPr>
            <a:endParaRPr lang="tr-TR" b="1" dirty="0"/>
          </a:p>
          <a:p>
            <a:pPr eaLnBrk="0" hangingPunct="0">
              <a:defRPr/>
            </a:pPr>
            <a:r>
              <a:rPr lang="en-US" dirty="0"/>
              <a:t>The Chinese don't like being touched by strangers. Therefore don’t make any body contact. </a:t>
            </a:r>
            <a:endParaRPr lang="tr-TR" dirty="0"/>
          </a:p>
        </p:txBody>
      </p:sp>
      <p:pic>
        <p:nvPicPr>
          <p:cNvPr id="26628" name="Picture 5" descr="chin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1038" y="908050"/>
            <a:ext cx="4652962" cy="594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9" name="Title 1"/>
          <p:cNvSpPr txBox="1">
            <a:spLocks/>
          </p:cNvSpPr>
          <p:nvPr/>
        </p:nvSpPr>
        <p:spPr bwMode="auto">
          <a:xfrm>
            <a:off x="-80963" y="6500813"/>
            <a:ext cx="436721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cs typeface="Arial" pitchFamily="34" charset="0"/>
              </a:defRPr>
            </a:lvl1pPr>
            <a:lvl2pPr marL="742950" indent="-285750" eaLnBrk="0" hangingPunct="0">
              <a:defRPr sz="2400">
                <a:solidFill>
                  <a:schemeClr val="tx1"/>
                </a:solidFill>
                <a:latin typeface="Times New Roman" pitchFamily="18" charset="0"/>
                <a:cs typeface="Arial" pitchFamily="34" charset="0"/>
              </a:defRPr>
            </a:lvl2pPr>
            <a:lvl3pPr marL="1143000" indent="-228600" eaLnBrk="0" hangingPunct="0">
              <a:defRPr sz="2400">
                <a:solidFill>
                  <a:schemeClr val="tx1"/>
                </a:solidFill>
                <a:latin typeface="Times New Roman" pitchFamily="18" charset="0"/>
                <a:cs typeface="Arial" pitchFamily="34" charset="0"/>
              </a:defRPr>
            </a:lvl3pPr>
            <a:lvl4pPr marL="1600200" indent="-228600" eaLnBrk="0" hangingPunct="0">
              <a:defRPr sz="2400">
                <a:solidFill>
                  <a:schemeClr val="tx1"/>
                </a:solidFill>
                <a:latin typeface="Times New Roman" pitchFamily="18" charset="0"/>
                <a:cs typeface="Arial" pitchFamily="34" charset="0"/>
              </a:defRPr>
            </a:lvl4pPr>
            <a:lvl5pPr marL="2057400" indent="-228600" eaLnBrk="0" hangingPunct="0">
              <a:defRPr sz="2400">
                <a:solidFill>
                  <a:schemeClr val="tx1"/>
                </a:solidFill>
                <a:latin typeface="Times New Roman" pitchFamily="18" charset="0"/>
                <a:cs typeface="Arial" pitchFamily="34"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pitchFamily="34"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pitchFamily="34"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pitchFamily="34"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pitchFamily="34" charset="0"/>
              </a:defRPr>
            </a:lvl9pPr>
          </a:lstStyle>
          <a:p>
            <a:pPr algn="ctr" eaLnBrk="1" hangingPunct="1"/>
            <a:r>
              <a:rPr lang="en-US" sz="1600" b="1"/>
              <a:t>Cultural effect</a:t>
            </a:r>
            <a:endParaRPr lang="en-US" sz="1600">
              <a:latin typeface="Ace"/>
            </a:endParaRPr>
          </a:p>
        </p:txBody>
      </p:sp>
    </p:spTree>
    <p:extLst>
      <p:ext uri="{BB962C8B-B14F-4D97-AF65-F5344CB8AC3E}">
        <p14:creationId xmlns:p14="http://schemas.microsoft.com/office/powerpoint/2010/main" val="4117586077"/>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txBox="1">
            <a:spLocks/>
          </p:cNvSpPr>
          <p:nvPr/>
        </p:nvSpPr>
        <p:spPr bwMode="auto">
          <a:xfrm>
            <a:off x="323850" y="333375"/>
            <a:ext cx="8569325"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cs typeface="Arial" pitchFamily="34" charset="0"/>
              </a:defRPr>
            </a:lvl1pPr>
            <a:lvl2pPr marL="742950" indent="-285750" eaLnBrk="0" hangingPunct="0">
              <a:defRPr sz="2400">
                <a:solidFill>
                  <a:schemeClr val="tx1"/>
                </a:solidFill>
                <a:latin typeface="Times New Roman" pitchFamily="18" charset="0"/>
                <a:cs typeface="Arial" pitchFamily="34" charset="0"/>
              </a:defRPr>
            </a:lvl2pPr>
            <a:lvl3pPr marL="1143000" indent="-228600" eaLnBrk="0" hangingPunct="0">
              <a:defRPr sz="2400">
                <a:solidFill>
                  <a:schemeClr val="tx1"/>
                </a:solidFill>
                <a:latin typeface="Times New Roman" pitchFamily="18" charset="0"/>
                <a:cs typeface="Arial" pitchFamily="34" charset="0"/>
              </a:defRPr>
            </a:lvl3pPr>
            <a:lvl4pPr marL="1600200" indent="-228600" eaLnBrk="0" hangingPunct="0">
              <a:defRPr sz="2400">
                <a:solidFill>
                  <a:schemeClr val="tx1"/>
                </a:solidFill>
                <a:latin typeface="Times New Roman" pitchFamily="18" charset="0"/>
                <a:cs typeface="Arial" pitchFamily="34" charset="0"/>
              </a:defRPr>
            </a:lvl4pPr>
            <a:lvl5pPr marL="2057400" indent="-228600" eaLnBrk="0" hangingPunct="0">
              <a:defRPr sz="2400">
                <a:solidFill>
                  <a:schemeClr val="tx1"/>
                </a:solidFill>
                <a:latin typeface="Times New Roman" pitchFamily="18" charset="0"/>
                <a:cs typeface="Arial" pitchFamily="34"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pitchFamily="34"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pitchFamily="34"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pitchFamily="34"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pitchFamily="34" charset="0"/>
              </a:defRPr>
            </a:lvl9pPr>
          </a:lstStyle>
          <a:p>
            <a:pPr algn="ctr" eaLnBrk="1" hangingPunct="1"/>
            <a:r>
              <a:rPr lang="en-US" sz="3200">
                <a:latin typeface="Ace"/>
              </a:rPr>
              <a:t>Nonverbal Communication Around the World</a:t>
            </a:r>
            <a:endParaRPr lang="en-US" sz="3200">
              <a:solidFill>
                <a:srgbClr val="000000"/>
              </a:solidFill>
              <a:latin typeface="Ace"/>
            </a:endParaRPr>
          </a:p>
        </p:txBody>
      </p:sp>
      <p:sp>
        <p:nvSpPr>
          <p:cNvPr id="27651" name="Rectangle 7"/>
          <p:cNvSpPr>
            <a:spLocks noChangeArrowheads="1"/>
          </p:cNvSpPr>
          <p:nvPr/>
        </p:nvSpPr>
        <p:spPr bwMode="auto">
          <a:xfrm>
            <a:off x="323850" y="1955800"/>
            <a:ext cx="4105275"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r>
              <a:rPr lang="tr-TR" b="1"/>
              <a:t>Nonverbal Communication in </a:t>
            </a:r>
            <a:r>
              <a:rPr lang="tr-TR" b="1">
                <a:solidFill>
                  <a:srgbClr val="FF0000"/>
                </a:solidFill>
              </a:rPr>
              <a:t>Argentina</a:t>
            </a:r>
            <a:endParaRPr lang="en-US" b="1">
              <a:solidFill>
                <a:srgbClr val="FF0000"/>
              </a:solidFill>
            </a:endParaRPr>
          </a:p>
          <a:p>
            <a:pPr algn="ctr"/>
            <a:endParaRPr lang="tr-TR" b="1"/>
          </a:p>
          <a:p>
            <a:pPr eaLnBrk="0" hangingPunct="0"/>
            <a:r>
              <a:rPr lang="en-US"/>
              <a:t>A handshake and nod show respect when greeting someone. </a:t>
            </a:r>
            <a:endParaRPr lang="tr-TR"/>
          </a:p>
        </p:txBody>
      </p:sp>
      <p:pic>
        <p:nvPicPr>
          <p:cNvPr id="27652" name="Picture 8" descr="argentin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3750" y="908050"/>
            <a:ext cx="4540250" cy="594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3" name="Title 1"/>
          <p:cNvSpPr txBox="1">
            <a:spLocks/>
          </p:cNvSpPr>
          <p:nvPr/>
        </p:nvSpPr>
        <p:spPr bwMode="auto">
          <a:xfrm>
            <a:off x="-80963" y="6500813"/>
            <a:ext cx="436721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cs typeface="Arial" pitchFamily="34" charset="0"/>
              </a:defRPr>
            </a:lvl1pPr>
            <a:lvl2pPr marL="742950" indent="-285750" eaLnBrk="0" hangingPunct="0">
              <a:defRPr sz="2400">
                <a:solidFill>
                  <a:schemeClr val="tx1"/>
                </a:solidFill>
                <a:latin typeface="Times New Roman" pitchFamily="18" charset="0"/>
                <a:cs typeface="Arial" pitchFamily="34" charset="0"/>
              </a:defRPr>
            </a:lvl2pPr>
            <a:lvl3pPr marL="1143000" indent="-228600" eaLnBrk="0" hangingPunct="0">
              <a:defRPr sz="2400">
                <a:solidFill>
                  <a:schemeClr val="tx1"/>
                </a:solidFill>
                <a:latin typeface="Times New Roman" pitchFamily="18" charset="0"/>
                <a:cs typeface="Arial" pitchFamily="34" charset="0"/>
              </a:defRPr>
            </a:lvl3pPr>
            <a:lvl4pPr marL="1600200" indent="-228600" eaLnBrk="0" hangingPunct="0">
              <a:defRPr sz="2400">
                <a:solidFill>
                  <a:schemeClr val="tx1"/>
                </a:solidFill>
                <a:latin typeface="Times New Roman" pitchFamily="18" charset="0"/>
                <a:cs typeface="Arial" pitchFamily="34" charset="0"/>
              </a:defRPr>
            </a:lvl4pPr>
            <a:lvl5pPr marL="2057400" indent="-228600" eaLnBrk="0" hangingPunct="0">
              <a:defRPr sz="2400">
                <a:solidFill>
                  <a:schemeClr val="tx1"/>
                </a:solidFill>
                <a:latin typeface="Times New Roman" pitchFamily="18" charset="0"/>
                <a:cs typeface="Arial" pitchFamily="34"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pitchFamily="34"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pitchFamily="34"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pitchFamily="34"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pitchFamily="34" charset="0"/>
              </a:defRPr>
            </a:lvl9pPr>
          </a:lstStyle>
          <a:p>
            <a:pPr algn="ctr" eaLnBrk="1" hangingPunct="1"/>
            <a:r>
              <a:rPr lang="en-US" sz="1600" b="1"/>
              <a:t>Cultural effect</a:t>
            </a:r>
            <a:endParaRPr lang="en-US" sz="1600">
              <a:latin typeface="Ace"/>
            </a:endParaRPr>
          </a:p>
        </p:txBody>
      </p:sp>
    </p:spTree>
    <p:extLst>
      <p:ext uri="{BB962C8B-B14F-4D97-AF65-F5344CB8AC3E}">
        <p14:creationId xmlns:p14="http://schemas.microsoft.com/office/powerpoint/2010/main" val="1335290222"/>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txBox="1">
            <a:spLocks/>
          </p:cNvSpPr>
          <p:nvPr/>
        </p:nvSpPr>
        <p:spPr bwMode="auto">
          <a:xfrm>
            <a:off x="323850" y="333375"/>
            <a:ext cx="8569325"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cs typeface="Arial" pitchFamily="34" charset="0"/>
              </a:defRPr>
            </a:lvl1pPr>
            <a:lvl2pPr marL="742950" indent="-285750" eaLnBrk="0" hangingPunct="0">
              <a:defRPr sz="2400">
                <a:solidFill>
                  <a:schemeClr val="tx1"/>
                </a:solidFill>
                <a:latin typeface="Times New Roman" pitchFamily="18" charset="0"/>
                <a:cs typeface="Arial" pitchFamily="34" charset="0"/>
              </a:defRPr>
            </a:lvl2pPr>
            <a:lvl3pPr marL="1143000" indent="-228600" eaLnBrk="0" hangingPunct="0">
              <a:defRPr sz="2400">
                <a:solidFill>
                  <a:schemeClr val="tx1"/>
                </a:solidFill>
                <a:latin typeface="Times New Roman" pitchFamily="18" charset="0"/>
                <a:cs typeface="Arial" pitchFamily="34" charset="0"/>
              </a:defRPr>
            </a:lvl3pPr>
            <a:lvl4pPr marL="1600200" indent="-228600" eaLnBrk="0" hangingPunct="0">
              <a:defRPr sz="2400">
                <a:solidFill>
                  <a:schemeClr val="tx1"/>
                </a:solidFill>
                <a:latin typeface="Times New Roman" pitchFamily="18" charset="0"/>
                <a:cs typeface="Arial" pitchFamily="34" charset="0"/>
              </a:defRPr>
            </a:lvl4pPr>
            <a:lvl5pPr marL="2057400" indent="-228600" eaLnBrk="0" hangingPunct="0">
              <a:defRPr sz="2400">
                <a:solidFill>
                  <a:schemeClr val="tx1"/>
                </a:solidFill>
                <a:latin typeface="Times New Roman" pitchFamily="18" charset="0"/>
                <a:cs typeface="Arial" pitchFamily="34"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pitchFamily="34"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pitchFamily="34"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pitchFamily="34"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pitchFamily="34" charset="0"/>
              </a:defRPr>
            </a:lvl9pPr>
          </a:lstStyle>
          <a:p>
            <a:pPr algn="ctr" eaLnBrk="1" hangingPunct="1"/>
            <a:r>
              <a:rPr lang="en-US" sz="3200">
                <a:latin typeface="Ace"/>
              </a:rPr>
              <a:t>Nonverbal Communication Around the World</a:t>
            </a:r>
            <a:endParaRPr lang="en-US" sz="3200">
              <a:solidFill>
                <a:srgbClr val="000000"/>
              </a:solidFill>
              <a:latin typeface="Ace"/>
            </a:endParaRPr>
          </a:p>
        </p:txBody>
      </p:sp>
      <p:sp>
        <p:nvSpPr>
          <p:cNvPr id="28675" name="Rectangle 3"/>
          <p:cNvSpPr>
            <a:spLocks noChangeArrowheads="1"/>
          </p:cNvSpPr>
          <p:nvPr/>
        </p:nvSpPr>
        <p:spPr bwMode="auto">
          <a:xfrm>
            <a:off x="250825" y="1995488"/>
            <a:ext cx="4464050"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r>
              <a:rPr lang="en-US" b="1">
                <a:latin typeface="Ace"/>
              </a:rPr>
              <a:t>Nonverbal Communication in </a:t>
            </a:r>
            <a:r>
              <a:rPr lang="en-US" sz="3200" b="1">
                <a:solidFill>
                  <a:srgbClr val="C00000"/>
                </a:solidFill>
                <a:latin typeface="Ace"/>
              </a:rPr>
              <a:t>India</a:t>
            </a:r>
            <a:endParaRPr lang="en-US" b="1">
              <a:solidFill>
                <a:srgbClr val="C00000"/>
              </a:solidFill>
              <a:latin typeface="Ace"/>
            </a:endParaRPr>
          </a:p>
          <a:p>
            <a:pPr algn="ctr"/>
            <a:endParaRPr lang="tr-TR" b="1">
              <a:latin typeface="Ace"/>
            </a:endParaRPr>
          </a:p>
          <a:p>
            <a:pPr eaLnBrk="0" hangingPunct="0"/>
            <a:r>
              <a:rPr lang="en-US">
                <a:latin typeface="Ace"/>
              </a:rPr>
              <a:t>Greeting with 'namaste' - placing both hands together with a slight bow is a very common nonverbal communication and shows respect.</a:t>
            </a:r>
            <a:endParaRPr lang="tr-TR">
              <a:latin typeface="Ace"/>
            </a:endParaRPr>
          </a:p>
        </p:txBody>
      </p:sp>
      <p:pic>
        <p:nvPicPr>
          <p:cNvPr id="28676" name="Picture 5" descr="Ind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6950" y="1052513"/>
            <a:ext cx="4354513" cy="580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7" name="Title 1"/>
          <p:cNvSpPr txBox="1">
            <a:spLocks/>
          </p:cNvSpPr>
          <p:nvPr/>
        </p:nvSpPr>
        <p:spPr bwMode="auto">
          <a:xfrm>
            <a:off x="-80963" y="6500813"/>
            <a:ext cx="436721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cs typeface="Arial" pitchFamily="34" charset="0"/>
              </a:defRPr>
            </a:lvl1pPr>
            <a:lvl2pPr marL="742950" indent="-285750" eaLnBrk="0" hangingPunct="0">
              <a:defRPr sz="2400">
                <a:solidFill>
                  <a:schemeClr val="tx1"/>
                </a:solidFill>
                <a:latin typeface="Times New Roman" pitchFamily="18" charset="0"/>
                <a:cs typeface="Arial" pitchFamily="34" charset="0"/>
              </a:defRPr>
            </a:lvl2pPr>
            <a:lvl3pPr marL="1143000" indent="-228600" eaLnBrk="0" hangingPunct="0">
              <a:defRPr sz="2400">
                <a:solidFill>
                  <a:schemeClr val="tx1"/>
                </a:solidFill>
                <a:latin typeface="Times New Roman" pitchFamily="18" charset="0"/>
                <a:cs typeface="Arial" pitchFamily="34" charset="0"/>
              </a:defRPr>
            </a:lvl3pPr>
            <a:lvl4pPr marL="1600200" indent="-228600" eaLnBrk="0" hangingPunct="0">
              <a:defRPr sz="2400">
                <a:solidFill>
                  <a:schemeClr val="tx1"/>
                </a:solidFill>
                <a:latin typeface="Times New Roman" pitchFamily="18" charset="0"/>
                <a:cs typeface="Arial" pitchFamily="34" charset="0"/>
              </a:defRPr>
            </a:lvl4pPr>
            <a:lvl5pPr marL="2057400" indent="-228600" eaLnBrk="0" hangingPunct="0">
              <a:defRPr sz="2400">
                <a:solidFill>
                  <a:schemeClr val="tx1"/>
                </a:solidFill>
                <a:latin typeface="Times New Roman" pitchFamily="18" charset="0"/>
                <a:cs typeface="Arial" pitchFamily="34"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pitchFamily="34"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pitchFamily="34"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pitchFamily="34"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pitchFamily="34" charset="0"/>
              </a:defRPr>
            </a:lvl9pPr>
          </a:lstStyle>
          <a:p>
            <a:pPr algn="ctr" eaLnBrk="1" hangingPunct="1"/>
            <a:r>
              <a:rPr lang="en-US" sz="1600" b="1"/>
              <a:t>Cultural effect</a:t>
            </a:r>
            <a:endParaRPr lang="en-US" sz="1600">
              <a:latin typeface="Ace"/>
            </a:endParaRPr>
          </a:p>
        </p:txBody>
      </p:sp>
    </p:spTree>
    <p:extLst>
      <p:ext uri="{BB962C8B-B14F-4D97-AF65-F5344CB8AC3E}">
        <p14:creationId xmlns:p14="http://schemas.microsoft.com/office/powerpoint/2010/main" val="2244590875"/>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txBox="1">
            <a:spLocks/>
          </p:cNvSpPr>
          <p:nvPr/>
        </p:nvSpPr>
        <p:spPr bwMode="auto">
          <a:xfrm>
            <a:off x="323850" y="333375"/>
            <a:ext cx="8569325"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cs typeface="Arial" pitchFamily="34" charset="0"/>
              </a:defRPr>
            </a:lvl1pPr>
            <a:lvl2pPr marL="742950" indent="-285750" eaLnBrk="0" hangingPunct="0">
              <a:defRPr sz="2400">
                <a:solidFill>
                  <a:schemeClr val="tx1"/>
                </a:solidFill>
                <a:latin typeface="Times New Roman" pitchFamily="18" charset="0"/>
                <a:cs typeface="Arial" pitchFamily="34" charset="0"/>
              </a:defRPr>
            </a:lvl2pPr>
            <a:lvl3pPr marL="1143000" indent="-228600" eaLnBrk="0" hangingPunct="0">
              <a:defRPr sz="2400">
                <a:solidFill>
                  <a:schemeClr val="tx1"/>
                </a:solidFill>
                <a:latin typeface="Times New Roman" pitchFamily="18" charset="0"/>
                <a:cs typeface="Arial" pitchFamily="34" charset="0"/>
              </a:defRPr>
            </a:lvl3pPr>
            <a:lvl4pPr marL="1600200" indent="-228600" eaLnBrk="0" hangingPunct="0">
              <a:defRPr sz="2400">
                <a:solidFill>
                  <a:schemeClr val="tx1"/>
                </a:solidFill>
                <a:latin typeface="Times New Roman" pitchFamily="18" charset="0"/>
                <a:cs typeface="Arial" pitchFamily="34" charset="0"/>
              </a:defRPr>
            </a:lvl4pPr>
            <a:lvl5pPr marL="2057400" indent="-228600" eaLnBrk="0" hangingPunct="0">
              <a:defRPr sz="2400">
                <a:solidFill>
                  <a:schemeClr val="tx1"/>
                </a:solidFill>
                <a:latin typeface="Times New Roman" pitchFamily="18" charset="0"/>
                <a:cs typeface="Arial" pitchFamily="34"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pitchFamily="34"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pitchFamily="34"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pitchFamily="34"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pitchFamily="34" charset="0"/>
              </a:defRPr>
            </a:lvl9pPr>
          </a:lstStyle>
          <a:p>
            <a:pPr algn="ctr" eaLnBrk="1" hangingPunct="1"/>
            <a:r>
              <a:rPr lang="en-US" sz="3200">
                <a:latin typeface="Ace"/>
              </a:rPr>
              <a:t>Nonverbal Communication Around the World</a:t>
            </a:r>
            <a:endParaRPr lang="en-US" sz="3200">
              <a:solidFill>
                <a:srgbClr val="000000"/>
              </a:solidFill>
              <a:latin typeface="Ace"/>
            </a:endParaRPr>
          </a:p>
        </p:txBody>
      </p:sp>
      <p:sp>
        <p:nvSpPr>
          <p:cNvPr id="29699" name="Rectangle 3"/>
          <p:cNvSpPr>
            <a:spLocks noChangeArrowheads="1"/>
          </p:cNvSpPr>
          <p:nvPr/>
        </p:nvSpPr>
        <p:spPr bwMode="auto">
          <a:xfrm>
            <a:off x="323850" y="1590675"/>
            <a:ext cx="3527425" cy="317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r>
              <a:rPr lang="en-US" b="1"/>
              <a:t>Nonverbal Communication in the </a:t>
            </a:r>
            <a:r>
              <a:rPr lang="en-US" sz="3200" b="1">
                <a:solidFill>
                  <a:srgbClr val="C00000"/>
                </a:solidFill>
              </a:rPr>
              <a:t>U.S.A</a:t>
            </a:r>
            <a:endParaRPr lang="en-US" b="1">
              <a:solidFill>
                <a:srgbClr val="C00000"/>
              </a:solidFill>
            </a:endParaRPr>
          </a:p>
          <a:p>
            <a:pPr algn="ctr"/>
            <a:endParaRPr lang="tr-TR" b="1"/>
          </a:p>
          <a:p>
            <a:pPr eaLnBrk="0" hangingPunct="0"/>
            <a:r>
              <a:rPr lang="en-US"/>
              <a:t>Quite Informal way of nonverbal communication - A handshake, a smile, and 'hello'. </a:t>
            </a:r>
            <a:endParaRPr lang="tr-TR"/>
          </a:p>
        </p:txBody>
      </p:sp>
      <p:pic>
        <p:nvPicPr>
          <p:cNvPr id="29700" name="Picture 5" descr="us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7175" y="1536700"/>
            <a:ext cx="5076825" cy="455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1" name="Title 1"/>
          <p:cNvSpPr txBox="1">
            <a:spLocks/>
          </p:cNvSpPr>
          <p:nvPr/>
        </p:nvSpPr>
        <p:spPr bwMode="auto">
          <a:xfrm>
            <a:off x="-80963" y="6500813"/>
            <a:ext cx="436721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cs typeface="Arial" pitchFamily="34" charset="0"/>
              </a:defRPr>
            </a:lvl1pPr>
            <a:lvl2pPr marL="742950" indent="-285750" eaLnBrk="0" hangingPunct="0">
              <a:defRPr sz="2400">
                <a:solidFill>
                  <a:schemeClr val="tx1"/>
                </a:solidFill>
                <a:latin typeface="Times New Roman" pitchFamily="18" charset="0"/>
                <a:cs typeface="Arial" pitchFamily="34" charset="0"/>
              </a:defRPr>
            </a:lvl2pPr>
            <a:lvl3pPr marL="1143000" indent="-228600" eaLnBrk="0" hangingPunct="0">
              <a:defRPr sz="2400">
                <a:solidFill>
                  <a:schemeClr val="tx1"/>
                </a:solidFill>
                <a:latin typeface="Times New Roman" pitchFamily="18" charset="0"/>
                <a:cs typeface="Arial" pitchFamily="34" charset="0"/>
              </a:defRPr>
            </a:lvl3pPr>
            <a:lvl4pPr marL="1600200" indent="-228600" eaLnBrk="0" hangingPunct="0">
              <a:defRPr sz="2400">
                <a:solidFill>
                  <a:schemeClr val="tx1"/>
                </a:solidFill>
                <a:latin typeface="Times New Roman" pitchFamily="18" charset="0"/>
                <a:cs typeface="Arial" pitchFamily="34" charset="0"/>
              </a:defRPr>
            </a:lvl4pPr>
            <a:lvl5pPr marL="2057400" indent="-228600" eaLnBrk="0" hangingPunct="0">
              <a:defRPr sz="2400">
                <a:solidFill>
                  <a:schemeClr val="tx1"/>
                </a:solidFill>
                <a:latin typeface="Times New Roman" pitchFamily="18" charset="0"/>
                <a:cs typeface="Arial" pitchFamily="34"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pitchFamily="34"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pitchFamily="34"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pitchFamily="34"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pitchFamily="34" charset="0"/>
              </a:defRPr>
            </a:lvl9pPr>
          </a:lstStyle>
          <a:p>
            <a:pPr algn="ctr" eaLnBrk="1" hangingPunct="1"/>
            <a:r>
              <a:rPr lang="en-US" sz="1600" b="1"/>
              <a:t>Cultural effect</a:t>
            </a:r>
            <a:endParaRPr lang="en-US" sz="1600">
              <a:latin typeface="Ace"/>
            </a:endParaRPr>
          </a:p>
        </p:txBody>
      </p:sp>
    </p:spTree>
    <p:extLst>
      <p:ext uri="{BB962C8B-B14F-4D97-AF65-F5344CB8AC3E}">
        <p14:creationId xmlns:p14="http://schemas.microsoft.com/office/powerpoint/2010/main" val="2240433593"/>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4"/>
          <p:cNvSpPr>
            <a:spLocks noChangeArrowheads="1"/>
          </p:cNvSpPr>
          <p:nvPr/>
        </p:nvSpPr>
        <p:spPr bwMode="auto">
          <a:xfrm>
            <a:off x="214313" y="433388"/>
            <a:ext cx="8643937"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sz="2800" b="1" dirty="0"/>
              <a:t>Nonverbal Communication  must be understandable</a:t>
            </a:r>
          </a:p>
        </p:txBody>
      </p:sp>
      <p:pic>
        <p:nvPicPr>
          <p:cNvPr id="30723" name="Content Placeholder 3" descr="The-mysterious-ways-of-Englands-chicken-dance-51587.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00375" y="1643063"/>
            <a:ext cx="6143625" cy="5214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a:spLocks noChangeArrowheads="1"/>
          </p:cNvSpPr>
          <p:nvPr/>
        </p:nvSpPr>
        <p:spPr bwMode="auto">
          <a:xfrm>
            <a:off x="201613" y="1383507"/>
            <a:ext cx="4572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b="1" dirty="0"/>
              <a:t>But what the……..is this?</a:t>
            </a:r>
            <a:endParaRPr lang="en-US" sz="3200" dirty="0"/>
          </a:p>
        </p:txBody>
      </p:sp>
      <p:sp>
        <p:nvSpPr>
          <p:cNvPr id="7" name="Title 1"/>
          <p:cNvSpPr txBox="1">
            <a:spLocks/>
          </p:cNvSpPr>
          <p:nvPr/>
        </p:nvSpPr>
        <p:spPr bwMode="auto">
          <a:xfrm>
            <a:off x="-71438" y="2428875"/>
            <a:ext cx="3143251" cy="3071813"/>
          </a:xfrm>
          <a:prstGeom prst="rect">
            <a:avLst/>
          </a:prstGeom>
          <a:noFill/>
          <a:ln w="9525">
            <a:noFill/>
            <a:miter lim="800000"/>
            <a:headEnd/>
            <a:tailEnd/>
          </a:ln>
        </p:spPr>
        <p:txBody>
          <a:bodyPr anchor="ctr"/>
          <a:lstStyle/>
          <a:p>
            <a:pPr algn="ctr" eaLnBrk="0" hangingPunct="0">
              <a:defRPr/>
            </a:pPr>
            <a:r>
              <a:rPr lang="en-US" sz="1800" b="1" kern="0" dirty="0">
                <a:solidFill>
                  <a:schemeClr val="accent5">
                    <a:lumMod val="50000"/>
                  </a:schemeClr>
                </a:solidFill>
                <a:latin typeface="+mj-lt"/>
                <a:ea typeface="+mj-ea"/>
                <a:cs typeface="+mj-cs"/>
              </a:rPr>
              <a:t>Chicken Dance……</a:t>
            </a:r>
            <a:r>
              <a:rPr lang="en-US" sz="3600" b="1" kern="0" dirty="0">
                <a:solidFill>
                  <a:schemeClr val="accent5">
                    <a:lumMod val="50000"/>
                  </a:schemeClr>
                </a:solidFill>
                <a:latin typeface="+mj-lt"/>
                <a:ea typeface="+mj-ea"/>
                <a:cs typeface="+mj-cs"/>
                <a:sym typeface="Wingdings" pitchFamily="2" charset="2"/>
              </a:rPr>
              <a:t></a:t>
            </a:r>
            <a:br>
              <a:rPr lang="en-US" sz="1600" b="1" kern="0" dirty="0">
                <a:solidFill>
                  <a:schemeClr val="tx2"/>
                </a:solidFill>
                <a:latin typeface="+mj-lt"/>
                <a:ea typeface="+mj-ea"/>
                <a:cs typeface="+mj-cs"/>
              </a:rPr>
            </a:br>
            <a:br>
              <a:rPr lang="en-US" sz="1600" kern="0" dirty="0">
                <a:solidFill>
                  <a:schemeClr val="tx2"/>
                </a:solidFill>
                <a:latin typeface="+mj-lt"/>
                <a:ea typeface="+mj-ea"/>
                <a:cs typeface="+mj-cs"/>
              </a:rPr>
            </a:br>
            <a:r>
              <a:rPr lang="en-US" sz="1600" kern="0" dirty="0">
                <a:solidFill>
                  <a:schemeClr val="tx2"/>
                </a:solidFill>
                <a:latin typeface="+mj-lt"/>
                <a:ea typeface="+mj-ea"/>
                <a:cs typeface="+mj-cs"/>
              </a:rPr>
              <a:t>Dance is an artistic form of nonverbal communication. But no one really knows what England’s creepy chicken dance is trying to communicate.</a:t>
            </a:r>
            <a:br>
              <a:rPr lang="en-US" sz="1600" kern="0" dirty="0">
                <a:solidFill>
                  <a:schemeClr val="tx2"/>
                </a:solidFill>
                <a:latin typeface="+mj-lt"/>
                <a:ea typeface="+mj-ea"/>
                <a:cs typeface="+mj-cs"/>
              </a:rPr>
            </a:br>
            <a:br>
              <a:rPr lang="en-US" sz="1600" kern="0" dirty="0">
                <a:solidFill>
                  <a:schemeClr val="tx2"/>
                </a:solidFill>
                <a:latin typeface="+mj-lt"/>
                <a:ea typeface="+mj-ea"/>
                <a:cs typeface="+mj-cs"/>
              </a:rPr>
            </a:br>
            <a:r>
              <a:rPr lang="en-US" sz="1600" kern="0" dirty="0">
                <a:solidFill>
                  <a:schemeClr val="tx2"/>
                </a:solidFill>
                <a:latin typeface="+mj-lt"/>
                <a:ea typeface="+mj-ea"/>
                <a:cs typeface="+mj-cs"/>
              </a:rPr>
              <a:t>I just understand that they are happy.</a:t>
            </a:r>
            <a:br>
              <a:rPr lang="en-US" sz="1600" kern="0" dirty="0">
                <a:solidFill>
                  <a:schemeClr val="tx2"/>
                </a:solidFill>
                <a:latin typeface="+mj-lt"/>
                <a:ea typeface="+mj-ea"/>
                <a:cs typeface="+mj-cs"/>
              </a:rPr>
            </a:br>
            <a:endParaRPr lang="en-US" sz="1600" kern="0" dirty="0">
              <a:solidFill>
                <a:schemeClr val="tx2"/>
              </a:solidFill>
              <a:latin typeface="+mj-lt"/>
              <a:ea typeface="+mj-ea"/>
              <a:cs typeface="+mj-cs"/>
            </a:endParaRPr>
          </a:p>
        </p:txBody>
      </p:sp>
    </p:spTree>
    <p:extLst>
      <p:ext uri="{BB962C8B-B14F-4D97-AF65-F5344CB8AC3E}">
        <p14:creationId xmlns:p14="http://schemas.microsoft.com/office/powerpoint/2010/main" val="412413607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blinds(horizontal)">
                                      <p:cBhvr>
                                        <p:cTn id="7" dur="1000"/>
                                        <p:tgtEl>
                                          <p:spTgt spid="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wipe(down)">
                                      <p:cBhvr>
                                        <p:cTn id="12"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allAtOnce"/>
      <p:bldP spid="7" grpId="0" build="allAtOnce"/>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lstStyle/>
          <a:p>
            <a:pPr>
              <a:buNone/>
            </a:pPr>
            <a:endParaRPr lang="en-US" sz="2800" b="1" dirty="0">
              <a:latin typeface="Times New Roman" pitchFamily="18" charset="0"/>
              <a:cs typeface="Times New Roman" pitchFamily="18" charset="0"/>
            </a:endParaRPr>
          </a:p>
          <a:p>
            <a:pPr>
              <a:buNone/>
            </a:pPr>
            <a:endParaRPr lang="en-US" sz="2800" b="1" dirty="0">
              <a:latin typeface="Times New Roman" pitchFamily="18" charset="0"/>
              <a:cs typeface="Times New Roman" pitchFamily="18" charset="0"/>
            </a:endParaRPr>
          </a:p>
          <a:p>
            <a:pPr>
              <a:buNone/>
            </a:pPr>
            <a:endParaRPr lang="en-US" sz="2800" b="1" dirty="0">
              <a:latin typeface="Times New Roman" pitchFamily="18" charset="0"/>
              <a:cs typeface="Times New Roman" pitchFamily="18" charset="0"/>
            </a:endParaRPr>
          </a:p>
          <a:p>
            <a:pPr>
              <a:buNone/>
            </a:pPr>
            <a:endParaRPr lang="en-US" sz="2800" b="1" dirty="0">
              <a:latin typeface="Times New Roman" pitchFamily="18" charset="0"/>
              <a:cs typeface="Times New Roman" pitchFamily="18" charset="0"/>
            </a:endParaRPr>
          </a:p>
          <a:p>
            <a:pPr algn="ctr">
              <a:buNone/>
            </a:pPr>
            <a:endParaRPr lang="en-US" sz="2800" b="1" dirty="0">
              <a:latin typeface="Times New Roman" pitchFamily="18" charset="0"/>
              <a:cs typeface="Times New Roman" pitchFamily="18" charset="0"/>
            </a:endParaRPr>
          </a:p>
          <a:p>
            <a:pPr algn="ctr">
              <a:buNone/>
            </a:pPr>
            <a:r>
              <a:rPr lang="en-US" sz="6600" b="1" dirty="0">
                <a:latin typeface="Times New Roman" pitchFamily="18" charset="0"/>
                <a:cs typeface="Times New Roman" pitchFamily="18" charset="0"/>
              </a:rPr>
              <a:t>QUERY !</a:t>
            </a:r>
          </a:p>
          <a:p>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pPr algn="ctr">
              <a:buNone/>
            </a:pPr>
            <a:endParaRPr lang="en-US" sz="2800" b="1" dirty="0">
              <a:latin typeface="Times New Roman" pitchFamily="18" charset="0"/>
              <a:cs typeface="Times New Roman" pitchFamily="18" charset="0"/>
            </a:endParaRPr>
          </a:p>
          <a:p>
            <a:pPr algn="ctr">
              <a:buNone/>
            </a:pPr>
            <a:r>
              <a:rPr lang="en-US" sz="2400" b="1" dirty="0">
                <a:latin typeface="Times New Roman" pitchFamily="18" charset="0"/>
                <a:cs typeface="Times New Roman" pitchFamily="18" charset="0"/>
              </a:rPr>
              <a:t>FORMAL AND INFORMAL CHANNELS TO COMMUNICATION</a:t>
            </a:r>
          </a:p>
          <a:p>
            <a:pPr>
              <a:buNone/>
            </a:pPr>
            <a:r>
              <a:rPr lang="en-US" sz="2400" b="1" dirty="0">
                <a:latin typeface="Times New Roman" pitchFamily="18" charset="0"/>
                <a:cs typeface="Times New Roman" pitchFamily="18" charset="0"/>
              </a:rPr>
              <a:t>FORMAL COMMUNICATION</a:t>
            </a:r>
          </a:p>
          <a:p>
            <a:pPr>
              <a:lnSpc>
                <a:spcPct val="150000"/>
              </a:lnSpc>
              <a:buNone/>
            </a:pPr>
            <a:r>
              <a:rPr lang="en-US" sz="2400" b="1" dirty="0">
                <a:latin typeface="Times New Roman" pitchFamily="18" charset="0"/>
                <a:cs typeface="Times New Roman" pitchFamily="18" charset="0"/>
              </a:rPr>
              <a:t>1- INTRODUCTION</a:t>
            </a:r>
            <a:r>
              <a:rPr lang="en-US" sz="2800" b="1" dirty="0">
                <a:latin typeface="Times New Roman" pitchFamily="18" charset="0"/>
                <a:cs typeface="Times New Roman" pitchFamily="18" charset="0"/>
              </a:rPr>
              <a:t> - </a:t>
            </a:r>
            <a:r>
              <a:rPr lang="en-US" sz="2000" dirty="0">
                <a:latin typeface="Times New Roman" pitchFamily="18" charset="0"/>
                <a:cs typeface="Times New Roman" pitchFamily="18" charset="0"/>
              </a:rPr>
              <a:t>In an organization, there are two channels of</a:t>
            </a:r>
          </a:p>
          <a:p>
            <a:pPr>
              <a:lnSpc>
                <a:spcPct val="150000"/>
              </a:lnSpc>
              <a:buNone/>
            </a:pPr>
            <a:r>
              <a:rPr lang="en-US" sz="2000" dirty="0">
                <a:latin typeface="Times New Roman" pitchFamily="18" charset="0"/>
                <a:cs typeface="Times New Roman" pitchFamily="18" charset="0"/>
              </a:rPr>
              <a:t>communication – formal communication and informal communication. People often</a:t>
            </a:r>
          </a:p>
          <a:p>
            <a:pPr>
              <a:lnSpc>
                <a:spcPct val="150000"/>
              </a:lnSpc>
              <a:buNone/>
            </a:pPr>
            <a:r>
              <a:rPr lang="en-US" sz="2000" dirty="0">
                <a:latin typeface="Times New Roman" pitchFamily="18" charset="0"/>
                <a:cs typeface="Times New Roman" pitchFamily="18" charset="0"/>
              </a:rPr>
              <a:t>confuse between these two channels, so here we have presented an article which</a:t>
            </a:r>
          </a:p>
          <a:p>
            <a:pPr>
              <a:lnSpc>
                <a:spcPct val="150000"/>
              </a:lnSpc>
              <a:buNone/>
            </a:pPr>
            <a:r>
              <a:rPr lang="en-US" sz="2000" dirty="0">
                <a:latin typeface="Times New Roman" pitchFamily="18" charset="0"/>
                <a:cs typeface="Times New Roman" pitchFamily="18" charset="0"/>
              </a:rPr>
              <a:t>explains the difference between formal and informal communication network. A</a:t>
            </a:r>
          </a:p>
          <a:p>
            <a:pPr>
              <a:lnSpc>
                <a:spcPct val="150000"/>
              </a:lnSpc>
              <a:buNone/>
            </a:pPr>
            <a:r>
              <a:rPr lang="en-US" sz="2000" dirty="0">
                <a:latin typeface="Times New Roman" pitchFamily="18" charset="0"/>
                <a:cs typeface="Times New Roman" pitchFamily="18" charset="0"/>
              </a:rPr>
              <a:t>formal channel of communication can be defined as a means of communication that is</a:t>
            </a:r>
          </a:p>
          <a:p>
            <a:pPr>
              <a:lnSpc>
                <a:spcPct val="150000"/>
              </a:lnSpc>
              <a:buNone/>
            </a:pPr>
            <a:r>
              <a:rPr lang="en-US" sz="2000" dirty="0">
                <a:latin typeface="Times New Roman" pitchFamily="18" charset="0"/>
                <a:cs typeface="Times New Roman" pitchFamily="18" charset="0"/>
              </a:rPr>
              <a:t>normally controlled by managers or people occupying similar position in an</a:t>
            </a:r>
          </a:p>
          <a:p>
            <a:pPr>
              <a:lnSpc>
                <a:spcPct val="150000"/>
              </a:lnSpc>
              <a:buNone/>
            </a:pPr>
            <a:r>
              <a:rPr lang="en-US" sz="2000" dirty="0">
                <a:latin typeface="Times New Roman" pitchFamily="18" charset="0"/>
                <a:cs typeface="Times New Roman" pitchFamily="18" charset="0"/>
              </a:rPr>
              <a:t>organization. It has been called ‘the main line of organization’s operational</a:t>
            </a:r>
          </a:p>
          <a:p>
            <a:pPr>
              <a:lnSpc>
                <a:spcPct val="150000"/>
              </a:lnSpc>
              <a:buNone/>
            </a:pPr>
            <a:r>
              <a:rPr lang="en-US" sz="2000" dirty="0">
                <a:latin typeface="Times New Roman" pitchFamily="18" charset="0"/>
                <a:cs typeface="Times New Roman" pitchFamily="18" charset="0"/>
              </a:rPr>
              <a:t>communication’. In this, reports, records, orders, instructions and messages that move</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pPr>
              <a:buNone/>
            </a:pPr>
            <a:endParaRPr lang="en-US" sz="2000" b="1" dirty="0">
              <a:latin typeface="Times New Roman" pitchFamily="18" charset="0"/>
              <a:cs typeface="Times New Roman" pitchFamily="18" charset="0"/>
            </a:endParaRPr>
          </a:p>
          <a:p>
            <a:pPr>
              <a:lnSpc>
                <a:spcPct val="150000"/>
              </a:lnSpc>
              <a:buNone/>
            </a:pPr>
            <a:r>
              <a:rPr lang="en-US" sz="2000" dirty="0">
                <a:latin typeface="Times New Roman" pitchFamily="18" charset="0"/>
                <a:cs typeface="Times New Roman" pitchFamily="18" charset="0"/>
              </a:rPr>
              <a:t>    up and down in the hierarchical system. These forms of communication  just do not happen by themselves but carefully thought and well designed. Great care is taken in their design and movement.</a:t>
            </a:r>
          </a:p>
          <a:p>
            <a:pPr>
              <a:lnSpc>
                <a:spcPct val="150000"/>
              </a:lnSpc>
              <a:buNone/>
            </a:pPr>
            <a:r>
              <a:rPr lang="en-US" sz="2000" b="1" dirty="0">
                <a:latin typeface="Times New Roman" pitchFamily="18" charset="0"/>
                <a:cs typeface="Times New Roman" pitchFamily="18" charset="0"/>
              </a:rPr>
              <a:t>DIFFERENT CHANNELS OF FORMAL COMMUNICATION</a:t>
            </a:r>
            <a:r>
              <a:rPr lang="en-US" sz="2400" b="1" dirty="0">
                <a:latin typeface="Times New Roman" pitchFamily="18" charset="0"/>
                <a:cs typeface="Times New Roman" pitchFamily="18" charset="0"/>
              </a:rPr>
              <a:t> –</a:t>
            </a:r>
          </a:p>
          <a:p>
            <a:pPr>
              <a:lnSpc>
                <a:spcPct val="150000"/>
              </a:lnSpc>
              <a:buNone/>
            </a:pPr>
            <a:r>
              <a:rPr lang="en-IN" sz="2000" dirty="0">
                <a:latin typeface="Times New Roman" pitchFamily="18" charset="0"/>
                <a:cs typeface="Times New Roman" pitchFamily="18" charset="0"/>
              </a:rPr>
              <a:t>All formal communications are broadly classified as:             </a:t>
            </a:r>
          </a:p>
          <a:p>
            <a:pPr>
              <a:lnSpc>
                <a:spcPct val="150000"/>
              </a:lnSpc>
              <a:buNone/>
            </a:pPr>
            <a:r>
              <a:rPr lang="en-IN" sz="2000" dirty="0">
                <a:latin typeface="Times New Roman" pitchFamily="18" charset="0"/>
                <a:cs typeface="Times New Roman" pitchFamily="18" charset="0"/>
              </a:rPr>
              <a:t>	         1 - Horizontal communication.</a:t>
            </a:r>
          </a:p>
          <a:p>
            <a:pPr marL="0" indent="0">
              <a:lnSpc>
                <a:spcPct val="150000"/>
              </a:lnSpc>
              <a:buNone/>
            </a:pPr>
            <a:r>
              <a:rPr lang="en-IN" sz="2000" dirty="0">
                <a:latin typeface="Times New Roman" pitchFamily="18" charset="0"/>
                <a:cs typeface="Times New Roman" pitchFamily="18" charset="0"/>
              </a:rPr>
              <a:t>	2 – Vertical communication:</a:t>
            </a:r>
          </a:p>
          <a:p>
            <a:pPr marL="0" indent="0">
              <a:lnSpc>
                <a:spcPct val="150000"/>
              </a:lnSpc>
              <a:buNone/>
            </a:pPr>
            <a:r>
              <a:rPr lang="en-IN" sz="2000" dirty="0">
                <a:latin typeface="Times New Roman" pitchFamily="18" charset="0"/>
                <a:cs typeface="Times New Roman" pitchFamily="18" charset="0"/>
              </a:rPr>
              <a:t>	(</a:t>
            </a:r>
            <a:r>
              <a:rPr lang="en-IN" sz="2000" dirty="0" err="1">
                <a:latin typeface="Times New Roman" pitchFamily="18" charset="0"/>
                <a:cs typeface="Times New Roman" pitchFamily="18" charset="0"/>
              </a:rPr>
              <a:t>i</a:t>
            </a:r>
            <a:r>
              <a:rPr lang="en-IN" sz="2000" dirty="0">
                <a:latin typeface="Times New Roman" pitchFamily="18" charset="0"/>
                <a:cs typeface="Times New Roman" pitchFamily="18" charset="0"/>
              </a:rPr>
              <a:t>) Downward communication.</a:t>
            </a:r>
          </a:p>
          <a:p>
            <a:pPr marL="0" indent="0">
              <a:lnSpc>
                <a:spcPct val="150000"/>
              </a:lnSpc>
              <a:buNone/>
            </a:pPr>
            <a:r>
              <a:rPr lang="en-IN" sz="2000" dirty="0">
                <a:latin typeface="Times New Roman" pitchFamily="18" charset="0"/>
                <a:cs typeface="Times New Roman" pitchFamily="18" charset="0"/>
              </a:rPr>
              <a:t>	(ii) Upward communication.</a:t>
            </a:r>
          </a:p>
          <a:p>
            <a:pPr>
              <a:lnSpc>
                <a:spcPct val="150000"/>
              </a:lnSpc>
              <a:buNone/>
            </a:pPr>
            <a:endParaRPr lang="en-US" sz="2000" dirty="0">
              <a:latin typeface="Times New Roman" pitchFamily="18" charset="0"/>
              <a:cs typeface="Times New Roman" pitchFamily="18" charset="0"/>
            </a:endParaRPr>
          </a:p>
          <a:p>
            <a:pPr>
              <a:lnSpc>
                <a:spcPct val="150000"/>
              </a:lnSpc>
              <a:buNone/>
            </a:pPr>
            <a:endParaRPr lang="en-US" sz="2800" b="1" dirty="0">
              <a:latin typeface="Times New Roman" pitchFamily="18" charset="0"/>
              <a:cs typeface="Times New Roman" pitchFamily="18" charset="0"/>
            </a:endParaRPr>
          </a:p>
          <a:p>
            <a:pPr>
              <a:buNone/>
            </a:pPr>
            <a:endParaRPr lang="en-US" sz="2000" dirty="0">
              <a:latin typeface="Times New Roman" pitchFamily="18" charset="0"/>
              <a:cs typeface="Times New Roman" pitchFamily="18" charset="0"/>
            </a:endParaRPr>
          </a:p>
          <a:p>
            <a:pPr>
              <a:buNone/>
            </a:pPr>
            <a:endParaRPr lang="en-US" sz="2000" dirty="0">
              <a:latin typeface="Times New Roman" pitchFamily="18" charset="0"/>
              <a:cs typeface="Times New Roman"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lstStyle/>
          <a:p>
            <a:pPr>
              <a:buNone/>
            </a:pPr>
            <a:endParaRPr lang="en-US" sz="2000" b="1" dirty="0">
              <a:latin typeface="Times New Roman" pitchFamily="18" charset="0"/>
              <a:cs typeface="Times New Roman" pitchFamily="18" charset="0"/>
            </a:endParaRPr>
          </a:p>
          <a:p>
            <a:pPr>
              <a:lnSpc>
                <a:spcPct val="150000"/>
              </a:lnSpc>
              <a:buNone/>
            </a:pPr>
            <a:r>
              <a:rPr lang="en-IN" sz="2000" b="1" dirty="0">
                <a:latin typeface="Times New Roman" pitchFamily="18" charset="0"/>
                <a:cs typeface="Times New Roman" pitchFamily="18" charset="0"/>
              </a:rPr>
              <a:t>HORIZONTAL COMMUNICATION – </a:t>
            </a:r>
            <a:r>
              <a:rPr lang="en-US" sz="2000" dirty="0">
                <a:latin typeface="Times New Roman" pitchFamily="18" charset="0"/>
                <a:cs typeface="Times New Roman" pitchFamily="18" charset="0"/>
              </a:rPr>
              <a:t>The communication between two employees of different departments working at the same level.</a:t>
            </a:r>
            <a:br>
              <a:rPr lang="en-US" sz="2000" dirty="0">
                <a:latin typeface="Times New Roman" pitchFamily="18" charset="0"/>
                <a:cs typeface="Times New Roman" pitchFamily="18" charset="0"/>
              </a:rPr>
            </a:br>
            <a:br>
              <a:rPr lang="en-US" sz="2000" dirty="0"/>
            </a:br>
            <a:endParaRPr lang="en-US" sz="2000" dirty="0"/>
          </a:p>
          <a:p>
            <a:pPr>
              <a:lnSpc>
                <a:spcPct val="150000"/>
              </a:lnSpc>
              <a:buNone/>
            </a:pPr>
            <a:endParaRPr lang="en-IN" sz="2000" b="1" dirty="0">
              <a:latin typeface="Times New Roman" pitchFamily="18" charset="0"/>
              <a:cs typeface="Times New Roman" pitchFamily="18" charset="0"/>
            </a:endParaRPr>
          </a:p>
          <a:p>
            <a:pPr>
              <a:lnSpc>
                <a:spcPct val="150000"/>
              </a:lnSpc>
              <a:buNone/>
            </a:pPr>
            <a:r>
              <a:rPr lang="en-IN" sz="2000" b="1" dirty="0">
                <a:latin typeface="Times New Roman" pitchFamily="18" charset="0"/>
                <a:cs typeface="Times New Roman" pitchFamily="18" charset="0"/>
              </a:rPr>
              <a:t> </a:t>
            </a:r>
          </a:p>
          <a:p>
            <a:pPr>
              <a:lnSpc>
                <a:spcPct val="150000"/>
              </a:lnSpc>
              <a:buNone/>
            </a:pPr>
            <a:endParaRPr lang="en-US" sz="2000" b="1" dirty="0">
              <a:latin typeface="Times New Roman" pitchFamily="18" charset="0"/>
              <a:cs typeface="Times New Roman" pitchFamily="18" charset="0"/>
            </a:endParaRPr>
          </a:p>
          <a:p>
            <a:pPr>
              <a:lnSpc>
                <a:spcPct val="150000"/>
              </a:lnSpc>
              <a:buNone/>
            </a:pPr>
            <a:endParaRPr lang="en-US" sz="2000" dirty="0">
              <a:latin typeface="Times New Roman" pitchFamily="18" charset="0"/>
              <a:cs typeface="Times New Roman" pitchFamily="18" charset="0"/>
            </a:endParaRPr>
          </a:p>
          <a:p>
            <a:pPr>
              <a:lnSpc>
                <a:spcPct val="150000"/>
              </a:lnSpc>
              <a:buNone/>
            </a:pPr>
            <a:endParaRPr lang="en-US" sz="2000" dirty="0">
              <a:latin typeface="Times New Roman" pitchFamily="18" charset="0"/>
              <a:cs typeface="Times New Roman" pitchFamily="18" charset="0"/>
            </a:endParaRPr>
          </a:p>
          <a:p>
            <a:pPr>
              <a:buNone/>
            </a:pPr>
            <a:endParaRPr lang="en-US" sz="2000" dirty="0">
              <a:latin typeface="Times New Roman" pitchFamily="18" charset="0"/>
              <a:cs typeface="Times New Roman" pitchFamily="18" charset="0"/>
            </a:endParaRPr>
          </a:p>
          <a:p>
            <a:pPr>
              <a:buNone/>
            </a:pP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905000"/>
            <a:ext cx="9144000" cy="4953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fontScale="77500" lnSpcReduction="20000"/>
          </a:bodyPr>
          <a:lstStyle/>
          <a:p>
            <a:pPr>
              <a:buNone/>
            </a:pPr>
            <a:endParaRPr lang="en-US" sz="2000" b="1" dirty="0">
              <a:latin typeface="Times New Roman" pitchFamily="18" charset="0"/>
              <a:cs typeface="Times New Roman" pitchFamily="18" charset="0"/>
            </a:endParaRPr>
          </a:p>
          <a:p>
            <a:pPr>
              <a:buClrTx/>
              <a:buNone/>
            </a:pPr>
            <a:r>
              <a:rPr lang="en-IN" sz="2200" b="1" dirty="0">
                <a:latin typeface="Times New Roman" pitchFamily="18" charset="0"/>
                <a:cs typeface="Times New Roman" pitchFamily="18" charset="0"/>
              </a:rPr>
              <a:t>ADVANTAGES OF HORIZONTAL COMMUNICATION:</a:t>
            </a:r>
          </a:p>
          <a:p>
            <a:pPr marL="514350" indent="-514350">
              <a:lnSpc>
                <a:spcPct val="160000"/>
              </a:lnSpc>
              <a:buClrTx/>
              <a:buFont typeface="+mj-lt"/>
              <a:buAutoNum type="arabicPeriod"/>
            </a:pPr>
            <a:r>
              <a:rPr lang="en-IN" sz="2200" dirty="0">
                <a:latin typeface="Times New Roman" pitchFamily="18" charset="0"/>
                <a:cs typeface="Times New Roman" pitchFamily="18" charset="0"/>
              </a:rPr>
              <a:t>Horizontal communication improves the quality of team work.</a:t>
            </a:r>
          </a:p>
          <a:p>
            <a:pPr marL="514350" indent="-514350">
              <a:lnSpc>
                <a:spcPct val="160000"/>
              </a:lnSpc>
              <a:buClrTx/>
              <a:buFont typeface="+mj-lt"/>
              <a:buAutoNum type="arabicPeriod"/>
            </a:pPr>
            <a:r>
              <a:rPr lang="en-IN" sz="2200" dirty="0">
                <a:latin typeface="Times New Roman" pitchFamily="18" charset="0"/>
                <a:cs typeface="Times New Roman" pitchFamily="18" charset="0"/>
              </a:rPr>
              <a:t>Since horizontal communication means better co-ordination of individual effort, it ensures greater efficiency and better results.</a:t>
            </a:r>
          </a:p>
          <a:p>
            <a:pPr marL="514350" indent="-514350">
              <a:lnSpc>
                <a:spcPct val="160000"/>
              </a:lnSpc>
              <a:buClrTx/>
              <a:buFont typeface="+mj-lt"/>
              <a:buAutoNum type="arabicPeriod"/>
            </a:pPr>
            <a:r>
              <a:rPr lang="en-IN" sz="2200" dirty="0">
                <a:latin typeface="Times New Roman" pitchFamily="18" charset="0"/>
                <a:cs typeface="Times New Roman" pitchFamily="18" charset="0"/>
              </a:rPr>
              <a:t>Effective horizontal communication helps to eliminate misunderstanding, envy, and petty jealousies among people of equal status.</a:t>
            </a:r>
          </a:p>
          <a:p>
            <a:pPr marL="514350" indent="-514350">
              <a:buClrTx/>
              <a:buFont typeface="+mj-lt"/>
              <a:buAutoNum type="arabicPeriod"/>
            </a:pPr>
            <a:endParaRPr lang="en-IN" sz="2000" dirty="0"/>
          </a:p>
          <a:p>
            <a:pPr>
              <a:buClrTx/>
              <a:buNone/>
            </a:pPr>
            <a:r>
              <a:rPr lang="en-IN" sz="2200" b="1" dirty="0">
                <a:latin typeface="Times New Roman" pitchFamily="18" charset="0"/>
                <a:cs typeface="Times New Roman" pitchFamily="18" charset="0"/>
              </a:rPr>
              <a:t>DISADVANTAGES OF HORIZONTAL COMMUNICATION:</a:t>
            </a:r>
          </a:p>
          <a:p>
            <a:pPr>
              <a:lnSpc>
                <a:spcPct val="170000"/>
              </a:lnSpc>
              <a:buClrTx/>
              <a:buFont typeface="+mj-lt"/>
              <a:buAutoNum type="arabicPeriod"/>
            </a:pPr>
            <a:r>
              <a:rPr lang="en-IN" sz="2200" dirty="0">
                <a:latin typeface="Times New Roman" pitchFamily="18" charset="0"/>
                <a:cs typeface="Times New Roman" pitchFamily="18" charset="0"/>
              </a:rPr>
              <a:t>There may be a conflict between horizontal and vertical communication. Horizontal communication takes place more frequently than communication between seniors and juniors. So, a decision taken horizontally may go against some instructions given by senior.</a:t>
            </a:r>
          </a:p>
          <a:p>
            <a:pPr>
              <a:lnSpc>
                <a:spcPct val="170000"/>
              </a:lnSpc>
              <a:buClrTx/>
              <a:buFont typeface="+mj-lt"/>
              <a:buAutoNum type="arabicPeriod"/>
            </a:pPr>
            <a:r>
              <a:rPr lang="en-IN" sz="2200" dirty="0">
                <a:latin typeface="Times New Roman" pitchFamily="18" charset="0"/>
                <a:cs typeface="Times New Roman" pitchFamily="18" charset="0"/>
              </a:rPr>
              <a:t>At higher managerial levels horizontal communication becomes difficult when people engaged in specialised jobs use technical languages (Jargons).</a:t>
            </a:r>
          </a:p>
          <a:p>
            <a:pPr>
              <a:lnSpc>
                <a:spcPct val="170000"/>
              </a:lnSpc>
              <a:buClrTx/>
              <a:buFont typeface="+mj-lt"/>
              <a:buAutoNum type="arabicPeriod"/>
            </a:pPr>
            <a:r>
              <a:rPr lang="en-IN" sz="2200" dirty="0">
                <a:latin typeface="Times New Roman" pitchFamily="18" charset="0"/>
                <a:cs typeface="Times New Roman" pitchFamily="18" charset="0"/>
              </a:rPr>
              <a:t>Unless horizontal communication is tightly controlled and each person is made actually aware of his responsibilities, a great deal of time may be wasted </a:t>
            </a:r>
          </a:p>
          <a:p>
            <a:pPr>
              <a:lnSpc>
                <a:spcPct val="150000"/>
              </a:lnSpc>
              <a:buNone/>
            </a:pPr>
            <a:endParaRPr lang="en-US" sz="2000" dirty="0">
              <a:latin typeface="Times New Roman" pitchFamily="18" charset="0"/>
              <a:cs typeface="Times New Roman" pitchFamily="18" charset="0"/>
            </a:endParaRPr>
          </a:p>
          <a:p>
            <a:pPr>
              <a:lnSpc>
                <a:spcPct val="150000"/>
              </a:lnSpc>
              <a:buNone/>
            </a:pPr>
            <a:endParaRPr lang="en-US" sz="2000" dirty="0">
              <a:latin typeface="Times New Roman" pitchFamily="18" charset="0"/>
              <a:cs typeface="Times New Roman" pitchFamily="18" charset="0"/>
            </a:endParaRPr>
          </a:p>
          <a:p>
            <a:pPr>
              <a:lnSpc>
                <a:spcPct val="150000"/>
              </a:lnSpc>
              <a:buNone/>
            </a:pPr>
            <a:endParaRPr lang="en-US" sz="2000" dirty="0">
              <a:latin typeface="Times New Roman" pitchFamily="18" charset="0"/>
              <a:cs typeface="Times New Roman" pitchFamily="18" charset="0"/>
            </a:endParaRPr>
          </a:p>
          <a:p>
            <a:pPr>
              <a:lnSpc>
                <a:spcPct val="150000"/>
              </a:lnSpc>
              <a:buNone/>
            </a:pPr>
            <a:endParaRPr lang="en-US" sz="2000" dirty="0">
              <a:latin typeface="Times New Roman" pitchFamily="18" charset="0"/>
              <a:cs typeface="Times New Roman" pitchFamily="18" charset="0"/>
            </a:endParaRPr>
          </a:p>
          <a:p>
            <a:pPr>
              <a:buNone/>
            </a:pP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lstStyle/>
          <a:p>
            <a:pPr>
              <a:buNone/>
            </a:pPr>
            <a:endParaRPr lang="en-US" sz="2400" b="1" dirty="0">
              <a:latin typeface="Times New Roman" pitchFamily="18" charset="0"/>
              <a:cs typeface="Times New Roman" pitchFamily="18" charset="0"/>
            </a:endParaRPr>
          </a:p>
          <a:p>
            <a:pPr>
              <a:buNone/>
            </a:pPr>
            <a:endParaRPr lang="en-US" sz="2000" dirty="0"/>
          </a:p>
          <a:p>
            <a:pPr marL="566928" indent="-457200">
              <a:buAutoNum type="arabicPeriod"/>
            </a:pPr>
            <a:endParaRPr lang="en-US" sz="2000" dirty="0">
              <a:latin typeface="Times New Roman" pitchFamily="18" charset="0"/>
              <a:cs typeface="Times New Roman" pitchFamily="18" charset="0"/>
            </a:endParaRPr>
          </a:p>
          <a:p>
            <a:pPr marL="566928" indent="-457200">
              <a:buNone/>
            </a:pPr>
            <a:endParaRPr lang="en-US" sz="2000" dirty="0">
              <a:latin typeface="Times New Roman" pitchFamily="18" charset="0"/>
              <a:cs typeface="Times New Roman" pitchFamily="18" charset="0"/>
            </a:endParaRPr>
          </a:p>
          <a:p>
            <a:pPr>
              <a:buNone/>
            </a:pP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895601"/>
            <a:ext cx="9144000" cy="3962400"/>
          </a:xfrm>
          <a:prstGeom prst="rect">
            <a:avLst/>
          </a:prstGeom>
        </p:spPr>
      </p:pic>
      <p:sp>
        <p:nvSpPr>
          <p:cNvPr id="4" name="Rectangle 3"/>
          <p:cNvSpPr/>
          <p:nvPr/>
        </p:nvSpPr>
        <p:spPr>
          <a:xfrm>
            <a:off x="0" y="0"/>
            <a:ext cx="9144000" cy="6340197"/>
          </a:xfrm>
          <a:prstGeom prst="rect">
            <a:avLst/>
          </a:prstGeom>
        </p:spPr>
        <p:txBody>
          <a:bodyPr wrap="square">
            <a:spAutoFit/>
          </a:bodyPr>
          <a:lstStyle/>
          <a:p>
            <a:endParaRPr lang="en-IN" sz="2000" dirty="0">
              <a:latin typeface="Times New Roman" pitchFamily="18" charset="0"/>
              <a:cs typeface="Times New Roman" pitchFamily="18" charset="0"/>
            </a:endParaRPr>
          </a:p>
          <a:p>
            <a:pPr>
              <a:lnSpc>
                <a:spcPct val="150000"/>
              </a:lnSpc>
            </a:pPr>
            <a:r>
              <a:rPr lang="en-IN" sz="2000" b="1" dirty="0">
                <a:latin typeface="Times New Roman" pitchFamily="18" charset="0"/>
                <a:cs typeface="Times New Roman" pitchFamily="18" charset="0"/>
              </a:rPr>
              <a:t>VERTICAL COMMUNICATION – </a:t>
            </a:r>
            <a:r>
              <a:rPr lang="en-IN" sz="2000" dirty="0">
                <a:latin typeface="Times New Roman" pitchFamily="18" charset="0"/>
                <a:cs typeface="Times New Roman" pitchFamily="18" charset="0"/>
              </a:rPr>
              <a:t>Communication among different levels on the line of authority.</a:t>
            </a:r>
            <a:r>
              <a:rPr lang="en-US" sz="2000" dirty="0"/>
              <a:t> </a:t>
            </a:r>
            <a:r>
              <a:rPr lang="en-US" sz="2000" dirty="0">
                <a:latin typeface="Times New Roman" pitchFamily="18" charset="0"/>
                <a:cs typeface="Times New Roman" pitchFamily="18" charset="0"/>
              </a:rPr>
              <a:t>The communication between the employees of two different departments working at different levels.</a:t>
            </a:r>
            <a:br>
              <a:rPr lang="en-US" sz="2000" dirty="0"/>
            </a:br>
            <a:br>
              <a:rPr lang="en-US" sz="2000" dirty="0"/>
            </a:br>
            <a:endParaRPr lang="en-US" sz="2000" dirty="0"/>
          </a:p>
          <a:p>
            <a:endParaRPr lang="en-IN" sz="2000" dirty="0">
              <a:latin typeface="Times New Roman" pitchFamily="18" charset="0"/>
              <a:cs typeface="Times New Roman" pitchFamily="18" charset="0"/>
            </a:endParaRP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lstStyle/>
          <a:p>
            <a:pPr>
              <a:lnSpc>
                <a:spcPct val="150000"/>
              </a:lnSpc>
              <a:buNone/>
            </a:pPr>
            <a:endParaRPr lang="en-US" sz="2000" dirty="0">
              <a:latin typeface="Times New Roman" pitchFamily="18" charset="0"/>
              <a:cs typeface="Times New Roman" pitchFamily="18" charset="0"/>
            </a:endParaRPr>
          </a:p>
          <a:p>
            <a:pPr>
              <a:lnSpc>
                <a:spcPct val="150000"/>
              </a:lnSpc>
              <a:buNone/>
            </a:pPr>
            <a:r>
              <a:rPr lang="en-IN" sz="2000" b="1" dirty="0">
                <a:latin typeface="Times New Roman" pitchFamily="18" charset="0"/>
                <a:cs typeface="Times New Roman" pitchFamily="18" charset="0"/>
              </a:rPr>
              <a:t>DOWNWARD COMMUNICATION - </a:t>
            </a:r>
            <a:r>
              <a:rPr lang="en-IN" sz="2000" dirty="0">
                <a:latin typeface="Times New Roman" pitchFamily="18" charset="0"/>
                <a:cs typeface="Times New Roman" pitchFamily="18" charset="0"/>
              </a:rPr>
              <a:t>Traditional type of corporate communication. Downward communication takes place whenever a person belonging to a higher position  the line of authority communicates with </a:t>
            </a:r>
          </a:p>
          <a:p>
            <a:pPr>
              <a:lnSpc>
                <a:spcPct val="150000"/>
              </a:lnSpc>
              <a:buNone/>
            </a:pPr>
            <a:r>
              <a:rPr lang="en-IN" sz="2000" dirty="0">
                <a:latin typeface="Times New Roman" pitchFamily="18" charset="0"/>
                <a:cs typeface="Times New Roman" pitchFamily="18" charset="0"/>
              </a:rPr>
              <a:t>    a person belonging to the lower levels of the hierarchy.</a:t>
            </a:r>
          </a:p>
          <a:p>
            <a:pPr>
              <a:lnSpc>
                <a:spcPct val="150000"/>
              </a:lnSpc>
              <a:buNone/>
            </a:pPr>
            <a:r>
              <a:rPr lang="en-US" sz="2000" dirty="0">
                <a:latin typeface="Times New Roman" pitchFamily="18" charset="0"/>
                <a:cs typeface="Times New Roman" pitchFamily="18" charset="0"/>
              </a:rPr>
              <a:t>   The communication in which the flow of information </a:t>
            </a:r>
          </a:p>
          <a:p>
            <a:pPr>
              <a:lnSpc>
                <a:spcPct val="150000"/>
              </a:lnSpc>
              <a:buNone/>
            </a:pPr>
            <a:r>
              <a:rPr lang="en-US" sz="2000" dirty="0">
                <a:latin typeface="Times New Roman" pitchFamily="18" charset="0"/>
                <a:cs typeface="Times New Roman" pitchFamily="18" charset="0"/>
              </a:rPr>
              <a:t>   goes from superior to subordinate.</a:t>
            </a:r>
          </a:p>
          <a:p>
            <a:pPr>
              <a:lnSpc>
                <a:spcPct val="150000"/>
              </a:lnSpc>
              <a:buNone/>
            </a:pPr>
            <a:r>
              <a:rPr lang="en-US" sz="2000" b="1" dirty="0">
                <a:latin typeface="Times New Roman" pitchFamily="18" charset="0"/>
                <a:cs typeface="Times New Roman" pitchFamily="18" charset="0"/>
              </a:rPr>
              <a:t>   </a:t>
            </a:r>
            <a:r>
              <a:rPr lang="en-IN" sz="2000" b="1" dirty="0">
                <a:latin typeface="Times New Roman" pitchFamily="18" charset="0"/>
                <a:cs typeface="Times New Roman" pitchFamily="18" charset="0"/>
              </a:rPr>
              <a:t>e.g. </a:t>
            </a:r>
            <a:r>
              <a:rPr lang="en-IN" sz="2000" dirty="0">
                <a:latin typeface="Times New Roman" pitchFamily="18" charset="0"/>
                <a:cs typeface="Times New Roman" pitchFamily="18" charset="0"/>
              </a:rPr>
              <a:t>Staff meetings, interviews, circular or notices, etc.</a:t>
            </a:r>
          </a:p>
          <a:p>
            <a:pPr>
              <a:buFont typeface="+mj-lt"/>
              <a:buAutoNum type="arabicPeriod"/>
            </a:pPr>
            <a:endParaRPr lang="en-IN" sz="2000" dirty="0"/>
          </a:p>
          <a:p>
            <a:pPr>
              <a:buNone/>
            </a:pPr>
            <a:endParaRPr lang="en-US" dirty="0"/>
          </a:p>
        </p:txBody>
      </p:sp>
      <p:sp>
        <p:nvSpPr>
          <p:cNvPr id="3" name="Down Arrow 2"/>
          <p:cNvSpPr/>
          <p:nvPr/>
        </p:nvSpPr>
        <p:spPr>
          <a:xfrm>
            <a:off x="5715000" y="2133600"/>
            <a:ext cx="3429000" cy="437237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a:p>
            <a:pPr algn="ctr"/>
            <a:r>
              <a:rPr lang="en-IN" dirty="0"/>
              <a:t>M.D.</a:t>
            </a:r>
          </a:p>
          <a:p>
            <a:pPr algn="ctr"/>
            <a:endParaRPr lang="en-IN" dirty="0"/>
          </a:p>
          <a:p>
            <a:pPr algn="ctr"/>
            <a:r>
              <a:rPr lang="en-IN" dirty="0"/>
              <a:t>Director</a:t>
            </a:r>
          </a:p>
          <a:p>
            <a:pPr algn="ctr"/>
            <a:endParaRPr lang="en-IN" dirty="0"/>
          </a:p>
          <a:p>
            <a:pPr algn="ctr"/>
            <a:r>
              <a:rPr lang="en-IN" dirty="0"/>
              <a:t>Managers</a:t>
            </a:r>
          </a:p>
          <a:p>
            <a:pPr algn="ctr"/>
            <a:endParaRPr lang="en-IN" dirty="0"/>
          </a:p>
          <a:p>
            <a:pPr algn="ctr"/>
            <a:r>
              <a:rPr lang="en-IN" dirty="0"/>
              <a:t>Officers </a:t>
            </a:r>
          </a:p>
          <a:p>
            <a:pPr algn="ctr"/>
            <a:endParaRPr lang="en-IN" dirty="0"/>
          </a:p>
          <a:p>
            <a:pPr algn="ctr"/>
            <a:r>
              <a:rPr lang="en-IN" dirty="0"/>
              <a:t>Supervisors</a:t>
            </a:r>
          </a:p>
          <a:p>
            <a:pPr algn="ctr"/>
            <a:endParaRPr lang="en-IN" dirty="0"/>
          </a:p>
          <a:p>
            <a:pPr algn="ctr"/>
            <a:r>
              <a:rPr lang="en-IN" dirty="0"/>
              <a:t>Workers</a:t>
            </a:r>
          </a:p>
          <a:p>
            <a:pPr algn="ctr"/>
            <a:endParaRPr lang="en-IN"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pPr>
              <a:buNone/>
            </a:pPr>
            <a:endParaRPr lang="en-US" dirty="0"/>
          </a:p>
          <a:p>
            <a:pPr>
              <a:lnSpc>
                <a:spcPct val="150000"/>
              </a:lnSpc>
              <a:buNone/>
            </a:pPr>
            <a:r>
              <a:rPr lang="en-IN" sz="2000" b="1" dirty="0">
                <a:latin typeface="Times New Roman" pitchFamily="18" charset="0"/>
                <a:cs typeface="Times New Roman" pitchFamily="18" charset="0"/>
              </a:rPr>
              <a:t>UPWARD COMMUNICATION - </a:t>
            </a:r>
            <a:r>
              <a:rPr lang="en-IN" sz="2000" dirty="0">
                <a:latin typeface="Times New Roman" pitchFamily="18" charset="0"/>
                <a:cs typeface="Times New Roman" pitchFamily="18" charset="0"/>
              </a:rPr>
              <a:t>Flow of communication from lower levels to higher levels. Upward communication is essential to managers informed about the progress of the work. In some organisations </a:t>
            </a:r>
          </a:p>
          <a:p>
            <a:pPr>
              <a:lnSpc>
                <a:spcPct val="150000"/>
              </a:lnSpc>
              <a:buNone/>
            </a:pPr>
            <a:r>
              <a:rPr lang="en-IN" sz="2000" dirty="0">
                <a:latin typeface="Times New Roman" pitchFamily="18" charset="0"/>
                <a:cs typeface="Times New Roman" pitchFamily="18" charset="0"/>
              </a:rPr>
              <a:t>    ‘open door’ policy is followed</a:t>
            </a:r>
            <a:r>
              <a:rPr lang="en-IN" sz="2800" dirty="0"/>
              <a:t>. </a:t>
            </a:r>
            <a:r>
              <a:rPr lang="en-US" sz="2000" dirty="0">
                <a:latin typeface="Times New Roman" pitchFamily="18" charset="0"/>
                <a:cs typeface="Times New Roman" pitchFamily="18" charset="0"/>
              </a:rPr>
              <a:t>The communication </a:t>
            </a:r>
          </a:p>
          <a:p>
            <a:pPr>
              <a:lnSpc>
                <a:spcPct val="150000"/>
              </a:lnSpc>
              <a:buNone/>
            </a:pPr>
            <a:r>
              <a:rPr lang="en-US" sz="2000" dirty="0">
                <a:latin typeface="Times New Roman" pitchFamily="18" charset="0"/>
                <a:cs typeface="Times New Roman" pitchFamily="18" charset="0"/>
              </a:rPr>
              <a:t>in which the flow of information goes </a:t>
            </a:r>
          </a:p>
          <a:p>
            <a:pPr>
              <a:lnSpc>
                <a:spcPct val="150000"/>
              </a:lnSpc>
              <a:buNone/>
            </a:pPr>
            <a:r>
              <a:rPr lang="en-US" sz="2000" dirty="0">
                <a:latin typeface="Times New Roman" pitchFamily="18" charset="0"/>
                <a:cs typeface="Times New Roman" pitchFamily="18" charset="0"/>
              </a:rPr>
              <a:t>from subordinate to superior authority.</a:t>
            </a:r>
            <a:endParaRPr lang="en-US" sz="2800" dirty="0">
              <a:latin typeface="Times New Roman" pitchFamily="18" charset="0"/>
              <a:cs typeface="Times New Roman" pitchFamily="18" charset="0"/>
            </a:endParaRPr>
          </a:p>
          <a:p>
            <a:pPr>
              <a:lnSpc>
                <a:spcPct val="150000"/>
              </a:lnSpc>
              <a:buNone/>
            </a:pPr>
            <a:r>
              <a:rPr lang="en-IN" sz="2000" b="1" dirty="0">
                <a:latin typeface="Times New Roman" pitchFamily="18" charset="0"/>
                <a:cs typeface="Times New Roman" pitchFamily="18" charset="0"/>
              </a:rPr>
              <a:t>e.g.</a:t>
            </a:r>
            <a:r>
              <a:rPr lang="en-IN" sz="2000" dirty="0">
                <a:latin typeface="Times New Roman" pitchFamily="18" charset="0"/>
                <a:cs typeface="Times New Roman" pitchFamily="18" charset="0"/>
              </a:rPr>
              <a:t> Supervisors advising officers.</a:t>
            </a:r>
          </a:p>
          <a:p>
            <a:pPr marL="514350" indent="-514350">
              <a:buFont typeface="+mj-lt"/>
              <a:buAutoNum type="arabicPeriod"/>
            </a:pPr>
            <a:endParaRPr lang="en-IN" sz="2000" dirty="0">
              <a:latin typeface="Times New Roman" pitchFamily="18" charset="0"/>
              <a:cs typeface="Times New Roman" pitchFamily="18" charset="0"/>
            </a:endParaRPr>
          </a:p>
          <a:p>
            <a:pPr>
              <a:buNone/>
            </a:pPr>
            <a:endParaRPr lang="en-US" dirty="0"/>
          </a:p>
        </p:txBody>
      </p:sp>
      <p:sp>
        <p:nvSpPr>
          <p:cNvPr id="4" name="Up Arrow 3"/>
          <p:cNvSpPr/>
          <p:nvPr/>
        </p:nvSpPr>
        <p:spPr>
          <a:xfrm>
            <a:off x="4724400" y="1447800"/>
            <a:ext cx="4419600" cy="54102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M.D.</a:t>
            </a:r>
          </a:p>
          <a:p>
            <a:pPr algn="ctr"/>
            <a:endParaRPr lang="en-IN" dirty="0"/>
          </a:p>
          <a:p>
            <a:pPr algn="ctr"/>
            <a:r>
              <a:rPr lang="en-IN" dirty="0"/>
              <a:t>Director</a:t>
            </a:r>
          </a:p>
          <a:p>
            <a:pPr algn="ctr"/>
            <a:endParaRPr lang="en-IN" dirty="0"/>
          </a:p>
          <a:p>
            <a:pPr algn="ctr"/>
            <a:r>
              <a:rPr lang="en-IN" dirty="0"/>
              <a:t>Managers</a:t>
            </a:r>
          </a:p>
          <a:p>
            <a:pPr algn="ctr"/>
            <a:endParaRPr lang="en-IN" dirty="0"/>
          </a:p>
          <a:p>
            <a:pPr algn="ctr"/>
            <a:r>
              <a:rPr lang="en-IN" dirty="0"/>
              <a:t>Officers </a:t>
            </a:r>
          </a:p>
          <a:p>
            <a:pPr algn="ctr"/>
            <a:endParaRPr lang="en-IN" dirty="0"/>
          </a:p>
          <a:p>
            <a:pPr algn="ctr"/>
            <a:r>
              <a:rPr lang="en-IN" dirty="0"/>
              <a:t>Supervisors</a:t>
            </a:r>
          </a:p>
          <a:p>
            <a:pPr algn="ctr"/>
            <a:endParaRPr lang="en-IN" dirty="0"/>
          </a:p>
          <a:p>
            <a:pPr algn="ctr"/>
            <a:r>
              <a:rPr lang="en-IN" dirty="0"/>
              <a:t>Workers</a:t>
            </a:r>
          </a:p>
          <a:p>
            <a:pPr algn="ctr"/>
            <a:endParaRPr lang="en-IN"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pPr>
              <a:buNone/>
            </a:pPr>
            <a:endParaRPr lang="en-IE" sz="2000" dirty="0">
              <a:latin typeface="Times New Roman" pitchFamily="18" charset="0"/>
              <a:cs typeface="Times New Roman" pitchFamily="18" charset="0"/>
            </a:endParaRPr>
          </a:p>
          <a:p>
            <a:pPr>
              <a:lnSpc>
                <a:spcPct val="150000"/>
              </a:lnSpc>
              <a:buNone/>
            </a:pPr>
            <a:r>
              <a:rPr lang="en-US" sz="2400" b="1" dirty="0">
                <a:latin typeface="Times New Roman" pitchFamily="18" charset="0"/>
                <a:cs typeface="Times New Roman" pitchFamily="18" charset="0"/>
              </a:rPr>
              <a:t>INFORMAL COMMUNICATION - </a:t>
            </a:r>
            <a:r>
              <a:rPr lang="en-US" sz="2000" dirty="0">
                <a:latin typeface="Times New Roman" pitchFamily="18" charset="0"/>
                <a:cs typeface="Times New Roman" pitchFamily="18" charset="0"/>
              </a:rPr>
              <a:t>The communication which does not follow any pre-defined channel for the transmission of information is known as informal communication. This type of communication moves freely in all directions, and thus, it is very quick and rapid. In any organization, this type of communication is very natural as people interact with each other about their professional life, personal life, and other matter. The informal communication is of four types:</a:t>
            </a:r>
          </a:p>
          <a:p>
            <a:pPr>
              <a:lnSpc>
                <a:spcPct val="150000"/>
              </a:lnSpc>
              <a:buNone/>
            </a:pPr>
            <a:r>
              <a:rPr lang="en-US" sz="2000" b="1" dirty="0">
                <a:latin typeface="Times New Roman" pitchFamily="18" charset="0"/>
                <a:cs typeface="Times New Roman" pitchFamily="18" charset="0"/>
              </a:rPr>
              <a:t>    e.g.</a:t>
            </a:r>
            <a:r>
              <a:rPr lang="en-US" sz="2000" dirty="0">
                <a:latin typeface="Times New Roman" pitchFamily="18" charset="0"/>
                <a:cs typeface="Times New Roman" pitchFamily="18" charset="0"/>
              </a:rPr>
              <a:t> Sharing of feelings, casual discussion, gossips, etc.</a:t>
            </a:r>
          </a:p>
          <a:p>
            <a:pPr>
              <a:lnSpc>
                <a:spcPct val="150000"/>
              </a:lnSpc>
              <a:buNone/>
            </a:pPr>
            <a:r>
              <a:rPr lang="en-US" sz="2000" b="1" dirty="0">
                <a:latin typeface="Times New Roman" pitchFamily="18" charset="0"/>
                <a:cs typeface="Times New Roman" pitchFamily="18" charset="0"/>
              </a:rPr>
              <a:t>DIFFERENT CHANNELS OF FORMAL COMMUNICATION</a:t>
            </a:r>
            <a:r>
              <a:rPr lang="en-US" sz="2400" b="1" dirty="0">
                <a:latin typeface="Times New Roman" pitchFamily="18" charset="0"/>
                <a:cs typeface="Times New Roman" pitchFamily="18" charset="0"/>
              </a:rPr>
              <a:t> –</a:t>
            </a:r>
          </a:p>
          <a:p>
            <a:pPr>
              <a:lnSpc>
                <a:spcPct val="150000"/>
              </a:lnSpc>
              <a:buNone/>
            </a:pPr>
            <a:r>
              <a:rPr lang="en-US" sz="2000" b="1" dirty="0">
                <a:latin typeface="Times New Roman" pitchFamily="18" charset="0"/>
                <a:cs typeface="Times New Roman" pitchFamily="18" charset="0"/>
              </a:rPr>
              <a:t>Single Strand Chain:</a:t>
            </a:r>
            <a:r>
              <a:rPr lang="en-US" sz="2000" dirty="0">
                <a:latin typeface="Times New Roman" pitchFamily="18" charset="0"/>
                <a:cs typeface="Times New Roman" pitchFamily="18" charset="0"/>
              </a:rPr>
              <a:t> The communication in which one person tell something to another, who again says something to some other person and the process goes on.</a:t>
            </a:r>
          </a:p>
          <a:p>
            <a:pPr>
              <a:lnSpc>
                <a:spcPct val="150000"/>
              </a:lnSpc>
              <a:buNone/>
            </a:pPr>
            <a:r>
              <a:rPr lang="en-US" sz="2000" b="1" dirty="0">
                <a:latin typeface="Times New Roman" pitchFamily="18" charset="0"/>
                <a:cs typeface="Times New Roman" pitchFamily="18" charset="0"/>
              </a:rPr>
              <a:t>Cluster Chain:</a:t>
            </a:r>
            <a:r>
              <a:rPr lang="en-US" sz="2000" dirty="0">
                <a:latin typeface="Times New Roman" pitchFamily="18" charset="0"/>
                <a:cs typeface="Times New Roman" pitchFamily="18" charset="0"/>
              </a:rPr>
              <a:t> The communication in which one person tells something to some of its most trusted people, and then they tells them to their trustworthy friends and the communication continues.</a:t>
            </a:r>
          </a:p>
          <a:p>
            <a:pPr>
              <a:buNone/>
            </a:pPr>
            <a:endParaRPr lang="en-US" sz="2000" dirty="0">
              <a:latin typeface="Times New Roman" pitchFamily="18" charset="0"/>
              <a:cs typeface="Times New Roman"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lstStyle/>
          <a:p>
            <a:pPr>
              <a:buNone/>
            </a:pPr>
            <a:endParaRPr lang="en-US" sz="2000" b="1" dirty="0">
              <a:latin typeface="Times New Roman" pitchFamily="18" charset="0"/>
              <a:cs typeface="Times New Roman" pitchFamily="18" charset="0"/>
            </a:endParaRPr>
          </a:p>
          <a:p>
            <a:pPr>
              <a:lnSpc>
                <a:spcPct val="150000"/>
              </a:lnSpc>
              <a:buNone/>
            </a:pPr>
            <a:r>
              <a:rPr lang="en-US" sz="2000" b="1" dirty="0">
                <a:latin typeface="Times New Roman" pitchFamily="18" charset="0"/>
                <a:cs typeface="Times New Roman" pitchFamily="18" charset="0"/>
              </a:rPr>
              <a:t>Probability Chain:</a:t>
            </a:r>
            <a:r>
              <a:rPr lang="en-US" sz="2000" dirty="0">
                <a:latin typeface="Times New Roman" pitchFamily="18" charset="0"/>
                <a:cs typeface="Times New Roman" pitchFamily="18" charset="0"/>
              </a:rPr>
              <a:t> The communication happens when a person randomly chooses some persons to pass on the information which is of little interest but not important.</a:t>
            </a:r>
          </a:p>
          <a:p>
            <a:pPr>
              <a:lnSpc>
                <a:spcPct val="150000"/>
              </a:lnSpc>
              <a:buNone/>
            </a:pPr>
            <a:r>
              <a:rPr lang="en-US" sz="2000" b="1" dirty="0">
                <a:latin typeface="Times New Roman" pitchFamily="18" charset="0"/>
                <a:cs typeface="Times New Roman" pitchFamily="18" charset="0"/>
              </a:rPr>
              <a:t>Gossip Chain:</a:t>
            </a:r>
            <a:r>
              <a:rPr lang="en-US" sz="2000" dirty="0">
                <a:latin typeface="Times New Roman" pitchFamily="18" charset="0"/>
                <a:cs typeface="Times New Roman" pitchFamily="18" charset="0"/>
              </a:rPr>
              <a:t> The communication starts when a person tells something to a group of people, and then they pass on the information to some more people and in this way the information is passed on to everyone. </a:t>
            </a:r>
            <a:r>
              <a:rPr lang="en-IE" sz="2000" dirty="0">
                <a:latin typeface="Times New Roman" pitchFamily="18" charset="0"/>
                <a:cs typeface="Times New Roman" pitchFamily="18" charset="0"/>
              </a:rPr>
              <a:t>Informal communication occurs when people come together and talk about their working conditions, family, co-workers, etc. rumour, gossip, etc. are the examples of the informal communication.</a:t>
            </a:r>
          </a:p>
          <a:p>
            <a:pPr>
              <a:buNone/>
            </a:pPr>
            <a:endParaRPr lang="en-IE" sz="2000" dirty="0">
              <a:latin typeface="Times New Roman" pitchFamily="18" charset="0"/>
              <a:cs typeface="Times New Roman" pitchFamily="18" charset="0"/>
            </a:endParaRPr>
          </a:p>
          <a:p>
            <a:pPr>
              <a:buNone/>
            </a:pP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0" y="838200"/>
          <a:ext cx="9144000" cy="6019799"/>
        </p:xfrm>
        <a:graphic>
          <a:graphicData uri="http://schemas.openxmlformats.org/drawingml/2006/table">
            <a:tbl>
              <a:tblPr firstRow="1" bandRow="1">
                <a:tableStyleId>{5C22544A-7EE6-4342-B048-85BDC9FD1C3A}</a:tableStyleId>
              </a:tblPr>
              <a:tblGrid>
                <a:gridCol w="8382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3200400">
                  <a:extLst>
                    <a:ext uri="{9D8B030D-6E8A-4147-A177-3AD203B41FA5}">
                      <a16:colId xmlns:a16="http://schemas.microsoft.com/office/drawing/2014/main" val="20003"/>
                    </a:ext>
                  </a:extLst>
                </a:gridCol>
              </a:tblGrid>
              <a:tr h="863234">
                <a:tc>
                  <a:txBody>
                    <a:bodyPr/>
                    <a:lstStyle/>
                    <a:p>
                      <a:r>
                        <a:rPr lang="en-US" dirty="0" err="1"/>
                        <a:t>S.No</a:t>
                      </a:r>
                      <a:r>
                        <a:rPr lang="en-US" dirty="0"/>
                        <a:t>.</a:t>
                      </a:r>
                    </a:p>
                  </a:txBody>
                  <a:tcPr/>
                </a:tc>
                <a:tc>
                  <a:txBody>
                    <a:bodyPr/>
                    <a:lstStyle/>
                    <a:p>
                      <a:pPr marL="0" marR="0" algn="ctr">
                        <a:lnSpc>
                          <a:spcPct val="115000"/>
                        </a:lnSpc>
                        <a:spcBef>
                          <a:spcPts val="0"/>
                        </a:spcBef>
                        <a:spcAft>
                          <a:spcPts val="0"/>
                        </a:spcAft>
                      </a:pPr>
                      <a:r>
                        <a:rPr lang="en-US" sz="2000" b="1" dirty="0">
                          <a:latin typeface="Times New Roman"/>
                          <a:ea typeface="Times New Roman"/>
                          <a:cs typeface="Times New Roman"/>
                        </a:rPr>
                        <a:t>Basis for Comparison</a:t>
                      </a:r>
                      <a:endParaRPr lang="en-US" sz="2000" dirty="0">
                        <a:latin typeface="Calibri"/>
                        <a:ea typeface="Times New Roman"/>
                        <a:cs typeface="Times New Roman"/>
                      </a:endParaRPr>
                    </a:p>
                  </a:txBody>
                  <a:tcPr marL="9525" marR="9525" marT="9525" marB="9525" anchor="ctr"/>
                </a:tc>
                <a:tc>
                  <a:txBody>
                    <a:bodyPr/>
                    <a:lstStyle/>
                    <a:p>
                      <a:pPr marL="0" marR="0" algn="ctr">
                        <a:lnSpc>
                          <a:spcPct val="115000"/>
                        </a:lnSpc>
                        <a:spcBef>
                          <a:spcPts val="0"/>
                        </a:spcBef>
                        <a:spcAft>
                          <a:spcPts val="0"/>
                        </a:spcAft>
                      </a:pPr>
                      <a:r>
                        <a:rPr lang="en-US" sz="2000" b="1">
                          <a:latin typeface="Times New Roman"/>
                          <a:ea typeface="Times New Roman"/>
                          <a:cs typeface="Times New Roman"/>
                        </a:rPr>
                        <a:t>Formal Communication</a:t>
                      </a:r>
                      <a:endParaRPr lang="en-US" sz="2000">
                        <a:latin typeface="Calibri"/>
                        <a:ea typeface="Times New Roman"/>
                        <a:cs typeface="Times New Roman"/>
                      </a:endParaRPr>
                    </a:p>
                  </a:txBody>
                  <a:tcPr marL="9525" marR="9525" marT="9525" marB="9525" anchor="ctr"/>
                </a:tc>
                <a:tc>
                  <a:txBody>
                    <a:bodyPr/>
                    <a:lstStyle/>
                    <a:p>
                      <a:pPr marL="0" marR="0" algn="ctr">
                        <a:lnSpc>
                          <a:spcPct val="115000"/>
                        </a:lnSpc>
                        <a:spcBef>
                          <a:spcPts val="0"/>
                        </a:spcBef>
                        <a:spcAft>
                          <a:spcPts val="0"/>
                        </a:spcAft>
                      </a:pPr>
                      <a:r>
                        <a:rPr lang="en-US" sz="2000" b="1" dirty="0">
                          <a:latin typeface="Times New Roman"/>
                          <a:ea typeface="Times New Roman"/>
                          <a:cs typeface="Times New Roman"/>
                        </a:rPr>
                        <a:t>Informal Communication</a:t>
                      </a:r>
                      <a:endParaRPr lang="en-US" sz="2000" dirty="0">
                        <a:latin typeface="Calibri"/>
                        <a:ea typeface="Times New Roman"/>
                        <a:cs typeface="Times New Roman"/>
                      </a:endParaRPr>
                    </a:p>
                  </a:txBody>
                  <a:tcPr marL="9525" marR="9525" marT="9525" marB="9525" anchor="ctr"/>
                </a:tc>
                <a:extLst>
                  <a:ext uri="{0D108BD9-81ED-4DB2-BD59-A6C34878D82A}">
                    <a16:rowId xmlns:a16="http://schemas.microsoft.com/office/drawing/2014/main" val="10000"/>
                  </a:ext>
                </a:extLst>
              </a:tr>
              <a:tr h="2544028">
                <a:tc>
                  <a:txBody>
                    <a:bodyPr/>
                    <a:lstStyle/>
                    <a:p>
                      <a:r>
                        <a:rPr lang="en-US" dirty="0"/>
                        <a:t>1.</a:t>
                      </a:r>
                    </a:p>
                  </a:txBody>
                  <a:tcPr/>
                </a:tc>
                <a:tc>
                  <a:txBody>
                    <a:bodyPr/>
                    <a:lstStyle/>
                    <a:p>
                      <a:pPr marL="0" marR="0">
                        <a:lnSpc>
                          <a:spcPct val="115000"/>
                        </a:lnSpc>
                        <a:spcBef>
                          <a:spcPts val="0"/>
                        </a:spcBef>
                        <a:spcAft>
                          <a:spcPts val="0"/>
                        </a:spcAft>
                      </a:pPr>
                      <a:r>
                        <a:rPr lang="en-US" sz="2000" dirty="0">
                          <a:latin typeface="Times New Roman"/>
                          <a:ea typeface="Times New Roman"/>
                          <a:cs typeface="Times New Roman"/>
                        </a:rPr>
                        <a:t>Meaning</a:t>
                      </a:r>
                      <a:endParaRPr lang="en-US" sz="2000" dirty="0">
                        <a:latin typeface="Calibri"/>
                        <a:ea typeface="Times New Roman"/>
                        <a:cs typeface="Times New Roman"/>
                      </a:endParaRPr>
                    </a:p>
                  </a:txBody>
                  <a:tcPr marL="9525" marR="9525" marT="9525" marB="9525" anchor="ctr"/>
                </a:tc>
                <a:tc>
                  <a:txBody>
                    <a:bodyPr/>
                    <a:lstStyle/>
                    <a:p>
                      <a:pPr marL="0" marR="0">
                        <a:lnSpc>
                          <a:spcPct val="115000"/>
                        </a:lnSpc>
                        <a:spcBef>
                          <a:spcPts val="0"/>
                        </a:spcBef>
                        <a:spcAft>
                          <a:spcPts val="0"/>
                        </a:spcAft>
                      </a:pPr>
                      <a:r>
                        <a:rPr lang="en-US" sz="2000" dirty="0">
                          <a:latin typeface="Times New Roman"/>
                          <a:ea typeface="Times New Roman"/>
                          <a:cs typeface="Times New Roman"/>
                        </a:rPr>
                        <a:t>A type of verbal communication in which the interchange of information is done through the pre-defined channels is known as formal communication.</a:t>
                      </a:r>
                      <a:endParaRPr lang="en-US" sz="2000" dirty="0">
                        <a:latin typeface="Calibri"/>
                        <a:ea typeface="Times New Roman"/>
                        <a:cs typeface="Times New Roman"/>
                      </a:endParaRPr>
                    </a:p>
                  </a:txBody>
                  <a:tcPr marL="9525" marR="9525" marT="9525" marB="9525" anchor="ctr"/>
                </a:tc>
                <a:tc>
                  <a:txBody>
                    <a:bodyPr/>
                    <a:lstStyle/>
                    <a:p>
                      <a:pPr marL="0" marR="0">
                        <a:lnSpc>
                          <a:spcPct val="115000"/>
                        </a:lnSpc>
                        <a:spcBef>
                          <a:spcPts val="0"/>
                        </a:spcBef>
                        <a:spcAft>
                          <a:spcPts val="0"/>
                        </a:spcAft>
                      </a:pPr>
                      <a:r>
                        <a:rPr lang="en-US" sz="2000">
                          <a:latin typeface="Times New Roman"/>
                          <a:ea typeface="Times New Roman"/>
                          <a:cs typeface="Times New Roman"/>
                        </a:rPr>
                        <a:t>A type of verbal communication in which the interchange of information does not follow any channels i.e. the communication stretches in all directions.</a:t>
                      </a:r>
                      <a:endParaRPr lang="en-US" sz="2000">
                        <a:latin typeface="Calibri"/>
                        <a:ea typeface="Times New Roman"/>
                        <a:cs typeface="Times New Roman"/>
                      </a:endParaRPr>
                    </a:p>
                  </a:txBody>
                  <a:tcPr marL="9525" marR="9525" marT="9525" marB="9525" anchor="ctr"/>
                </a:tc>
                <a:extLst>
                  <a:ext uri="{0D108BD9-81ED-4DB2-BD59-A6C34878D82A}">
                    <a16:rowId xmlns:a16="http://schemas.microsoft.com/office/drawing/2014/main" val="10001"/>
                  </a:ext>
                </a:extLst>
              </a:tr>
              <a:tr h="443035">
                <a:tc>
                  <a:txBody>
                    <a:bodyPr/>
                    <a:lstStyle/>
                    <a:p>
                      <a:r>
                        <a:rPr lang="en-US" dirty="0"/>
                        <a:t>2.</a:t>
                      </a:r>
                    </a:p>
                  </a:txBody>
                  <a:tcPr/>
                </a:tc>
                <a:tc>
                  <a:txBody>
                    <a:bodyPr/>
                    <a:lstStyle/>
                    <a:p>
                      <a:pPr marL="0" marR="0">
                        <a:lnSpc>
                          <a:spcPct val="115000"/>
                        </a:lnSpc>
                        <a:spcBef>
                          <a:spcPts val="0"/>
                        </a:spcBef>
                        <a:spcAft>
                          <a:spcPts val="0"/>
                        </a:spcAft>
                      </a:pPr>
                      <a:r>
                        <a:rPr lang="en-US" sz="2000" dirty="0">
                          <a:latin typeface="Times New Roman"/>
                          <a:ea typeface="Times New Roman"/>
                          <a:cs typeface="Times New Roman"/>
                        </a:rPr>
                        <a:t>Another Name</a:t>
                      </a:r>
                      <a:endParaRPr lang="en-US" sz="2000" dirty="0">
                        <a:latin typeface="Calibri"/>
                        <a:ea typeface="Times New Roman"/>
                        <a:cs typeface="Times New Roman"/>
                      </a:endParaRPr>
                    </a:p>
                  </a:txBody>
                  <a:tcPr marL="9525" marR="9525" marT="9525" marB="9525" anchor="ctr"/>
                </a:tc>
                <a:tc>
                  <a:txBody>
                    <a:bodyPr/>
                    <a:lstStyle/>
                    <a:p>
                      <a:pPr marL="0" marR="0">
                        <a:lnSpc>
                          <a:spcPct val="115000"/>
                        </a:lnSpc>
                        <a:spcBef>
                          <a:spcPts val="0"/>
                        </a:spcBef>
                        <a:spcAft>
                          <a:spcPts val="0"/>
                        </a:spcAft>
                      </a:pPr>
                      <a:r>
                        <a:rPr lang="en-US" sz="2000">
                          <a:latin typeface="Times New Roman"/>
                          <a:ea typeface="Times New Roman"/>
                          <a:cs typeface="Times New Roman"/>
                        </a:rPr>
                        <a:t>Official Communication</a:t>
                      </a:r>
                      <a:endParaRPr lang="en-US" sz="2000">
                        <a:latin typeface="Calibri"/>
                        <a:ea typeface="Times New Roman"/>
                        <a:cs typeface="Times New Roman"/>
                      </a:endParaRPr>
                    </a:p>
                  </a:txBody>
                  <a:tcPr marL="9525" marR="9525" marT="9525" marB="9525" anchor="ctr"/>
                </a:tc>
                <a:tc>
                  <a:txBody>
                    <a:bodyPr/>
                    <a:lstStyle/>
                    <a:p>
                      <a:pPr marL="0" marR="0">
                        <a:lnSpc>
                          <a:spcPct val="115000"/>
                        </a:lnSpc>
                        <a:spcBef>
                          <a:spcPts val="0"/>
                        </a:spcBef>
                        <a:spcAft>
                          <a:spcPts val="0"/>
                        </a:spcAft>
                      </a:pPr>
                      <a:r>
                        <a:rPr lang="en-US" sz="2000">
                          <a:latin typeface="Times New Roman"/>
                          <a:ea typeface="Times New Roman"/>
                          <a:cs typeface="Times New Roman"/>
                        </a:rPr>
                        <a:t>Grapevine communication</a:t>
                      </a:r>
                      <a:endParaRPr lang="en-US" sz="2000">
                        <a:latin typeface="Calibri"/>
                        <a:ea typeface="Times New Roman"/>
                        <a:cs typeface="Times New Roman"/>
                      </a:endParaRPr>
                    </a:p>
                  </a:txBody>
                  <a:tcPr marL="9525" marR="9525" marT="9525" marB="9525" anchor="ctr"/>
                </a:tc>
                <a:extLst>
                  <a:ext uri="{0D108BD9-81ED-4DB2-BD59-A6C34878D82A}">
                    <a16:rowId xmlns:a16="http://schemas.microsoft.com/office/drawing/2014/main" val="10002"/>
                  </a:ext>
                </a:extLst>
              </a:tr>
              <a:tr h="443035">
                <a:tc>
                  <a:txBody>
                    <a:bodyPr/>
                    <a:lstStyle/>
                    <a:p>
                      <a:r>
                        <a:rPr lang="en-US" dirty="0"/>
                        <a:t>3.</a:t>
                      </a:r>
                    </a:p>
                  </a:txBody>
                  <a:tcPr/>
                </a:tc>
                <a:tc>
                  <a:txBody>
                    <a:bodyPr/>
                    <a:lstStyle/>
                    <a:p>
                      <a:pPr marL="0" marR="0">
                        <a:lnSpc>
                          <a:spcPct val="115000"/>
                        </a:lnSpc>
                        <a:spcBef>
                          <a:spcPts val="0"/>
                        </a:spcBef>
                        <a:spcAft>
                          <a:spcPts val="0"/>
                        </a:spcAft>
                      </a:pPr>
                      <a:r>
                        <a:rPr lang="en-US" sz="2000" dirty="0">
                          <a:latin typeface="Times New Roman"/>
                          <a:ea typeface="Times New Roman"/>
                          <a:cs typeface="Times New Roman"/>
                        </a:rPr>
                        <a:t>Reliability</a:t>
                      </a:r>
                      <a:endParaRPr lang="en-US" sz="2000" dirty="0">
                        <a:latin typeface="Calibri"/>
                        <a:ea typeface="Times New Roman"/>
                        <a:cs typeface="Times New Roman"/>
                      </a:endParaRPr>
                    </a:p>
                  </a:txBody>
                  <a:tcPr marL="9525" marR="9525" marT="9525" marB="9525" anchor="ctr"/>
                </a:tc>
                <a:tc>
                  <a:txBody>
                    <a:bodyPr/>
                    <a:lstStyle/>
                    <a:p>
                      <a:pPr marL="0" marR="0">
                        <a:lnSpc>
                          <a:spcPct val="115000"/>
                        </a:lnSpc>
                        <a:spcBef>
                          <a:spcPts val="0"/>
                        </a:spcBef>
                        <a:spcAft>
                          <a:spcPts val="0"/>
                        </a:spcAft>
                      </a:pPr>
                      <a:r>
                        <a:rPr lang="en-US" sz="2000">
                          <a:latin typeface="Times New Roman"/>
                          <a:ea typeface="Times New Roman"/>
                          <a:cs typeface="Times New Roman"/>
                        </a:rPr>
                        <a:t>More</a:t>
                      </a:r>
                      <a:endParaRPr lang="en-US" sz="2000">
                        <a:latin typeface="Calibri"/>
                        <a:ea typeface="Times New Roman"/>
                        <a:cs typeface="Times New Roman"/>
                      </a:endParaRPr>
                    </a:p>
                  </a:txBody>
                  <a:tcPr marL="9525" marR="9525" marT="9525" marB="9525" anchor="ctr"/>
                </a:tc>
                <a:tc>
                  <a:txBody>
                    <a:bodyPr/>
                    <a:lstStyle/>
                    <a:p>
                      <a:pPr marL="0" marR="0">
                        <a:lnSpc>
                          <a:spcPct val="115000"/>
                        </a:lnSpc>
                        <a:spcBef>
                          <a:spcPts val="0"/>
                        </a:spcBef>
                        <a:spcAft>
                          <a:spcPts val="0"/>
                        </a:spcAft>
                      </a:pPr>
                      <a:r>
                        <a:rPr lang="en-US" sz="2000">
                          <a:latin typeface="Times New Roman"/>
                          <a:ea typeface="Times New Roman"/>
                          <a:cs typeface="Times New Roman"/>
                        </a:rPr>
                        <a:t>Comparatively less</a:t>
                      </a:r>
                      <a:endParaRPr lang="en-US" sz="2000">
                        <a:latin typeface="Calibri"/>
                        <a:ea typeface="Times New Roman"/>
                        <a:cs typeface="Times New Roman"/>
                      </a:endParaRPr>
                    </a:p>
                  </a:txBody>
                  <a:tcPr marL="9525" marR="9525" marT="9525" marB="9525" anchor="ctr"/>
                </a:tc>
                <a:extLst>
                  <a:ext uri="{0D108BD9-81ED-4DB2-BD59-A6C34878D82A}">
                    <a16:rowId xmlns:a16="http://schemas.microsoft.com/office/drawing/2014/main" val="10003"/>
                  </a:ext>
                </a:extLst>
              </a:tr>
              <a:tr h="443035">
                <a:tc>
                  <a:txBody>
                    <a:bodyPr/>
                    <a:lstStyle/>
                    <a:p>
                      <a:r>
                        <a:rPr lang="en-US" dirty="0"/>
                        <a:t>4.</a:t>
                      </a:r>
                    </a:p>
                  </a:txBody>
                  <a:tcPr/>
                </a:tc>
                <a:tc>
                  <a:txBody>
                    <a:bodyPr/>
                    <a:lstStyle/>
                    <a:p>
                      <a:pPr marL="0" marR="0">
                        <a:lnSpc>
                          <a:spcPct val="115000"/>
                        </a:lnSpc>
                        <a:spcBef>
                          <a:spcPts val="0"/>
                        </a:spcBef>
                        <a:spcAft>
                          <a:spcPts val="0"/>
                        </a:spcAft>
                      </a:pPr>
                      <a:r>
                        <a:rPr lang="en-US" sz="2000" dirty="0">
                          <a:latin typeface="Times New Roman"/>
                          <a:ea typeface="Times New Roman"/>
                          <a:cs typeface="Times New Roman"/>
                        </a:rPr>
                        <a:t>Speed</a:t>
                      </a:r>
                      <a:endParaRPr lang="en-US" sz="2000" dirty="0">
                        <a:latin typeface="Calibri"/>
                        <a:ea typeface="Times New Roman"/>
                        <a:cs typeface="Times New Roman"/>
                      </a:endParaRPr>
                    </a:p>
                  </a:txBody>
                  <a:tcPr marL="9525" marR="9525" marT="9525" marB="9525" anchor="ctr"/>
                </a:tc>
                <a:tc>
                  <a:txBody>
                    <a:bodyPr/>
                    <a:lstStyle/>
                    <a:p>
                      <a:pPr marL="0" marR="0">
                        <a:lnSpc>
                          <a:spcPct val="115000"/>
                        </a:lnSpc>
                        <a:spcBef>
                          <a:spcPts val="0"/>
                        </a:spcBef>
                        <a:spcAft>
                          <a:spcPts val="0"/>
                        </a:spcAft>
                      </a:pPr>
                      <a:r>
                        <a:rPr lang="en-US" sz="2000">
                          <a:latin typeface="Times New Roman"/>
                          <a:ea typeface="Times New Roman"/>
                          <a:cs typeface="Times New Roman"/>
                        </a:rPr>
                        <a:t>Slow</a:t>
                      </a:r>
                      <a:endParaRPr lang="en-US" sz="2000">
                        <a:latin typeface="Calibri"/>
                        <a:ea typeface="Times New Roman"/>
                        <a:cs typeface="Times New Roman"/>
                      </a:endParaRPr>
                    </a:p>
                  </a:txBody>
                  <a:tcPr marL="9525" marR="9525" marT="9525" marB="9525" anchor="ctr"/>
                </a:tc>
                <a:tc>
                  <a:txBody>
                    <a:bodyPr/>
                    <a:lstStyle/>
                    <a:p>
                      <a:pPr marL="0" marR="0">
                        <a:lnSpc>
                          <a:spcPct val="115000"/>
                        </a:lnSpc>
                        <a:spcBef>
                          <a:spcPts val="0"/>
                        </a:spcBef>
                        <a:spcAft>
                          <a:spcPts val="0"/>
                        </a:spcAft>
                      </a:pPr>
                      <a:r>
                        <a:rPr lang="en-US" sz="2000">
                          <a:latin typeface="Times New Roman"/>
                          <a:ea typeface="Times New Roman"/>
                          <a:cs typeface="Times New Roman"/>
                        </a:rPr>
                        <a:t>Very Fast</a:t>
                      </a:r>
                      <a:endParaRPr lang="en-US" sz="2000">
                        <a:latin typeface="Calibri"/>
                        <a:ea typeface="Times New Roman"/>
                        <a:cs typeface="Times New Roman"/>
                      </a:endParaRPr>
                    </a:p>
                  </a:txBody>
                  <a:tcPr marL="9525" marR="9525" marT="9525" marB="9525" anchor="ctr"/>
                </a:tc>
                <a:extLst>
                  <a:ext uri="{0D108BD9-81ED-4DB2-BD59-A6C34878D82A}">
                    <a16:rowId xmlns:a16="http://schemas.microsoft.com/office/drawing/2014/main" val="10004"/>
                  </a:ext>
                </a:extLst>
              </a:tr>
              <a:tr h="1283432">
                <a:tc>
                  <a:txBody>
                    <a:bodyPr/>
                    <a:lstStyle/>
                    <a:p>
                      <a:r>
                        <a:rPr lang="en-US" dirty="0"/>
                        <a:t>5.</a:t>
                      </a:r>
                    </a:p>
                  </a:txBody>
                  <a:tcPr/>
                </a:tc>
                <a:tc>
                  <a:txBody>
                    <a:bodyPr/>
                    <a:lstStyle/>
                    <a:p>
                      <a:pPr marL="0" marR="0">
                        <a:lnSpc>
                          <a:spcPct val="115000"/>
                        </a:lnSpc>
                        <a:spcBef>
                          <a:spcPts val="0"/>
                        </a:spcBef>
                        <a:spcAft>
                          <a:spcPts val="0"/>
                        </a:spcAft>
                      </a:pPr>
                      <a:r>
                        <a:rPr lang="en-US" sz="2000">
                          <a:latin typeface="Times New Roman"/>
                          <a:ea typeface="Times New Roman"/>
                          <a:cs typeface="Times New Roman"/>
                        </a:rPr>
                        <a:t>Evidence</a:t>
                      </a:r>
                      <a:endParaRPr lang="en-US" sz="2000">
                        <a:latin typeface="Calibri"/>
                        <a:ea typeface="Times New Roman"/>
                        <a:cs typeface="Times New Roman"/>
                      </a:endParaRPr>
                    </a:p>
                  </a:txBody>
                  <a:tcPr marL="9525" marR="9525" marT="9525" marB="9525" anchor="ctr"/>
                </a:tc>
                <a:tc>
                  <a:txBody>
                    <a:bodyPr/>
                    <a:lstStyle/>
                    <a:p>
                      <a:pPr marL="0" marR="0">
                        <a:lnSpc>
                          <a:spcPct val="115000"/>
                        </a:lnSpc>
                        <a:spcBef>
                          <a:spcPts val="0"/>
                        </a:spcBef>
                        <a:spcAft>
                          <a:spcPts val="0"/>
                        </a:spcAft>
                      </a:pPr>
                      <a:r>
                        <a:rPr lang="en-US" sz="2000" dirty="0">
                          <a:latin typeface="Times New Roman"/>
                          <a:ea typeface="Times New Roman"/>
                          <a:cs typeface="Times New Roman"/>
                        </a:rPr>
                        <a:t>As the communication is generally written, documentary evidence is present.</a:t>
                      </a:r>
                      <a:endParaRPr lang="en-US" sz="2000" dirty="0">
                        <a:latin typeface="Calibri"/>
                        <a:ea typeface="Times New Roman"/>
                        <a:cs typeface="Times New Roman"/>
                      </a:endParaRPr>
                    </a:p>
                  </a:txBody>
                  <a:tcPr marL="9525" marR="9525" marT="9525" marB="9525" anchor="ctr"/>
                </a:tc>
                <a:tc>
                  <a:txBody>
                    <a:bodyPr/>
                    <a:lstStyle/>
                    <a:p>
                      <a:pPr marL="0" marR="0">
                        <a:lnSpc>
                          <a:spcPct val="115000"/>
                        </a:lnSpc>
                        <a:spcBef>
                          <a:spcPts val="0"/>
                        </a:spcBef>
                        <a:spcAft>
                          <a:spcPts val="0"/>
                        </a:spcAft>
                      </a:pPr>
                      <a:r>
                        <a:rPr lang="en-US" sz="2000" dirty="0">
                          <a:latin typeface="Times New Roman"/>
                          <a:ea typeface="Times New Roman"/>
                          <a:cs typeface="Times New Roman"/>
                        </a:rPr>
                        <a:t>No documentary evidence.</a:t>
                      </a:r>
                      <a:endParaRPr lang="en-US" sz="2000" dirty="0">
                        <a:latin typeface="Calibri"/>
                        <a:ea typeface="Times New Roman"/>
                        <a:cs typeface="Times New Roman"/>
                      </a:endParaRPr>
                    </a:p>
                  </a:txBody>
                  <a:tcPr marL="9525" marR="9525" marT="9525" marB="9525"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0" y="550992"/>
          <a:ext cx="9144000" cy="6307008"/>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971800">
                  <a:extLst>
                    <a:ext uri="{9D8B030D-6E8A-4147-A177-3AD203B41FA5}">
                      <a16:colId xmlns:a16="http://schemas.microsoft.com/office/drawing/2014/main" val="20003"/>
                    </a:ext>
                  </a:extLst>
                </a:gridCol>
              </a:tblGrid>
              <a:tr h="595988">
                <a:tc>
                  <a:txBody>
                    <a:bodyPr/>
                    <a:lstStyle/>
                    <a:p>
                      <a:r>
                        <a:rPr lang="en-US" dirty="0"/>
                        <a:t>6.</a:t>
                      </a:r>
                    </a:p>
                  </a:txBody>
                  <a:tcPr/>
                </a:tc>
                <a:tc>
                  <a:txBody>
                    <a:bodyPr/>
                    <a:lstStyle/>
                    <a:p>
                      <a:pPr marL="0" marR="0">
                        <a:lnSpc>
                          <a:spcPct val="115000"/>
                        </a:lnSpc>
                        <a:spcBef>
                          <a:spcPts val="0"/>
                        </a:spcBef>
                        <a:spcAft>
                          <a:spcPts val="0"/>
                        </a:spcAft>
                      </a:pPr>
                      <a:r>
                        <a:rPr lang="en-US" sz="2000" dirty="0">
                          <a:latin typeface="Times New Roman"/>
                          <a:ea typeface="Times New Roman"/>
                          <a:cs typeface="Times New Roman"/>
                        </a:rPr>
                        <a:t>Time Consuming</a:t>
                      </a:r>
                      <a:endParaRPr lang="en-US" sz="2000" dirty="0">
                        <a:latin typeface="Calibri"/>
                        <a:ea typeface="Times New Roman"/>
                        <a:cs typeface="Times New Roman"/>
                      </a:endParaRPr>
                    </a:p>
                  </a:txBody>
                  <a:tcPr marL="9525" marR="9525" marT="9525" marB="9525" anchor="ctr"/>
                </a:tc>
                <a:tc>
                  <a:txBody>
                    <a:bodyPr/>
                    <a:lstStyle/>
                    <a:p>
                      <a:pPr marL="0" marR="0">
                        <a:lnSpc>
                          <a:spcPct val="115000"/>
                        </a:lnSpc>
                        <a:spcBef>
                          <a:spcPts val="0"/>
                        </a:spcBef>
                        <a:spcAft>
                          <a:spcPts val="0"/>
                        </a:spcAft>
                      </a:pPr>
                      <a:r>
                        <a:rPr lang="en-US" sz="2000">
                          <a:latin typeface="Times New Roman"/>
                          <a:ea typeface="Times New Roman"/>
                          <a:cs typeface="Times New Roman"/>
                        </a:rPr>
                        <a:t>Yes</a:t>
                      </a:r>
                      <a:endParaRPr lang="en-US" sz="2000">
                        <a:latin typeface="Calibri"/>
                        <a:ea typeface="Times New Roman"/>
                        <a:cs typeface="Times New Roman"/>
                      </a:endParaRPr>
                    </a:p>
                  </a:txBody>
                  <a:tcPr marL="9525" marR="9525" marT="9525" marB="9525" anchor="ctr"/>
                </a:tc>
                <a:tc>
                  <a:txBody>
                    <a:bodyPr/>
                    <a:lstStyle/>
                    <a:p>
                      <a:pPr marL="0" marR="0">
                        <a:lnSpc>
                          <a:spcPct val="115000"/>
                        </a:lnSpc>
                        <a:spcBef>
                          <a:spcPts val="0"/>
                        </a:spcBef>
                        <a:spcAft>
                          <a:spcPts val="0"/>
                        </a:spcAft>
                      </a:pPr>
                      <a:r>
                        <a:rPr lang="en-US" sz="2000">
                          <a:latin typeface="Times New Roman"/>
                          <a:ea typeface="Times New Roman"/>
                          <a:cs typeface="Times New Roman"/>
                        </a:rPr>
                        <a:t>No</a:t>
                      </a:r>
                      <a:endParaRPr lang="en-US" sz="2000">
                        <a:latin typeface="Calibri"/>
                        <a:ea typeface="Times New Roman"/>
                        <a:cs typeface="Times New Roman"/>
                      </a:endParaRPr>
                    </a:p>
                  </a:txBody>
                  <a:tcPr marL="9525" marR="9525" marT="9525" marB="9525" anchor="ctr"/>
                </a:tc>
                <a:extLst>
                  <a:ext uri="{0D108BD9-81ED-4DB2-BD59-A6C34878D82A}">
                    <a16:rowId xmlns:a16="http://schemas.microsoft.com/office/drawing/2014/main" val="10000"/>
                  </a:ext>
                </a:extLst>
              </a:tr>
              <a:tr h="2299612">
                <a:tc>
                  <a:txBody>
                    <a:bodyPr/>
                    <a:lstStyle/>
                    <a:p>
                      <a:r>
                        <a:rPr lang="en-US" dirty="0"/>
                        <a:t>7.</a:t>
                      </a:r>
                    </a:p>
                  </a:txBody>
                  <a:tcPr/>
                </a:tc>
                <a:tc>
                  <a:txBody>
                    <a:bodyPr/>
                    <a:lstStyle/>
                    <a:p>
                      <a:pPr marL="0" marR="0">
                        <a:lnSpc>
                          <a:spcPct val="115000"/>
                        </a:lnSpc>
                        <a:spcBef>
                          <a:spcPts val="0"/>
                        </a:spcBef>
                        <a:spcAft>
                          <a:spcPts val="0"/>
                        </a:spcAft>
                      </a:pPr>
                      <a:r>
                        <a:rPr lang="en-US" sz="2000" dirty="0">
                          <a:latin typeface="Times New Roman"/>
                          <a:ea typeface="Times New Roman"/>
                          <a:cs typeface="Times New Roman"/>
                        </a:rPr>
                        <a:t>Advantage</a:t>
                      </a:r>
                      <a:endParaRPr lang="en-US" sz="2000" dirty="0">
                        <a:latin typeface="Calibri"/>
                        <a:ea typeface="Times New Roman"/>
                        <a:cs typeface="Times New Roman"/>
                      </a:endParaRPr>
                    </a:p>
                  </a:txBody>
                  <a:tcPr marL="9525" marR="9525" marT="9525" marB="9525" anchor="ctr"/>
                </a:tc>
                <a:tc>
                  <a:txBody>
                    <a:bodyPr/>
                    <a:lstStyle/>
                    <a:p>
                      <a:pPr marL="0" marR="0">
                        <a:lnSpc>
                          <a:spcPct val="115000"/>
                        </a:lnSpc>
                        <a:spcBef>
                          <a:spcPts val="0"/>
                        </a:spcBef>
                        <a:spcAft>
                          <a:spcPts val="0"/>
                        </a:spcAft>
                      </a:pPr>
                      <a:r>
                        <a:rPr lang="en-US" sz="2000" dirty="0">
                          <a:latin typeface="Times New Roman"/>
                          <a:ea typeface="Times New Roman"/>
                          <a:cs typeface="Times New Roman"/>
                        </a:rPr>
                        <a:t>Effective due to timely and systematic flow of information.</a:t>
                      </a:r>
                      <a:endParaRPr lang="en-US" sz="2000" dirty="0">
                        <a:latin typeface="Calibri"/>
                        <a:ea typeface="Times New Roman"/>
                        <a:cs typeface="Times New Roman"/>
                      </a:endParaRPr>
                    </a:p>
                  </a:txBody>
                  <a:tcPr marL="9525" marR="9525" marT="9525" marB="9525" anchor="ctr"/>
                </a:tc>
                <a:tc>
                  <a:txBody>
                    <a:bodyPr/>
                    <a:lstStyle/>
                    <a:p>
                      <a:pPr marL="0" marR="0">
                        <a:lnSpc>
                          <a:spcPct val="115000"/>
                        </a:lnSpc>
                        <a:spcBef>
                          <a:spcPts val="0"/>
                        </a:spcBef>
                        <a:spcAft>
                          <a:spcPts val="0"/>
                        </a:spcAft>
                      </a:pPr>
                      <a:r>
                        <a:rPr lang="en-US" sz="2000" dirty="0">
                          <a:latin typeface="Times New Roman"/>
                          <a:ea typeface="Times New Roman"/>
                          <a:cs typeface="Times New Roman"/>
                        </a:rPr>
                        <a:t>Efficient because employees can discuss work related problems, this saves time and cost of the organization.</a:t>
                      </a:r>
                      <a:endParaRPr lang="en-US" sz="2000" dirty="0">
                        <a:latin typeface="Calibri"/>
                        <a:ea typeface="Times New Roman"/>
                        <a:cs typeface="Times New Roman"/>
                      </a:endParaRPr>
                    </a:p>
                  </a:txBody>
                  <a:tcPr marL="9525" marR="9525" marT="9525" marB="9525" anchor="ctr"/>
                </a:tc>
                <a:extLst>
                  <a:ext uri="{0D108BD9-81ED-4DB2-BD59-A6C34878D82A}">
                    <a16:rowId xmlns:a16="http://schemas.microsoft.com/office/drawing/2014/main" val="10001"/>
                  </a:ext>
                </a:extLst>
              </a:tr>
              <a:tr h="1137136">
                <a:tc>
                  <a:txBody>
                    <a:bodyPr/>
                    <a:lstStyle/>
                    <a:p>
                      <a:r>
                        <a:rPr lang="en-US" dirty="0"/>
                        <a:t>8.</a:t>
                      </a:r>
                    </a:p>
                  </a:txBody>
                  <a:tcPr/>
                </a:tc>
                <a:tc>
                  <a:txBody>
                    <a:bodyPr/>
                    <a:lstStyle/>
                    <a:p>
                      <a:pPr marL="0" marR="0">
                        <a:lnSpc>
                          <a:spcPct val="115000"/>
                        </a:lnSpc>
                        <a:spcBef>
                          <a:spcPts val="0"/>
                        </a:spcBef>
                        <a:spcAft>
                          <a:spcPts val="0"/>
                        </a:spcAft>
                      </a:pPr>
                      <a:r>
                        <a:rPr lang="en-US" sz="2000" dirty="0">
                          <a:latin typeface="Times New Roman"/>
                          <a:ea typeface="Times New Roman"/>
                          <a:cs typeface="Times New Roman"/>
                        </a:rPr>
                        <a:t>Disadvantage</a:t>
                      </a:r>
                      <a:endParaRPr lang="en-US" sz="2000" dirty="0">
                        <a:latin typeface="Calibri"/>
                        <a:ea typeface="Times New Roman"/>
                        <a:cs typeface="Times New Roman"/>
                      </a:endParaRPr>
                    </a:p>
                  </a:txBody>
                  <a:tcPr marL="9525" marR="9525" marT="9525" marB="9525" anchor="ctr"/>
                </a:tc>
                <a:tc>
                  <a:txBody>
                    <a:bodyPr/>
                    <a:lstStyle/>
                    <a:p>
                      <a:pPr marL="0" marR="0">
                        <a:lnSpc>
                          <a:spcPct val="115000"/>
                        </a:lnSpc>
                        <a:spcBef>
                          <a:spcPts val="0"/>
                        </a:spcBef>
                        <a:spcAft>
                          <a:spcPts val="0"/>
                        </a:spcAft>
                      </a:pPr>
                      <a:r>
                        <a:rPr lang="en-US" sz="2000">
                          <a:latin typeface="Times New Roman"/>
                          <a:ea typeface="Times New Roman"/>
                          <a:cs typeface="Times New Roman"/>
                        </a:rPr>
                        <a:t>Distortion due to long chain of communication.</a:t>
                      </a:r>
                      <a:endParaRPr lang="en-US" sz="2000">
                        <a:latin typeface="Calibri"/>
                        <a:ea typeface="Times New Roman"/>
                        <a:cs typeface="Times New Roman"/>
                      </a:endParaRPr>
                    </a:p>
                  </a:txBody>
                  <a:tcPr marL="9525" marR="9525" marT="9525" marB="9525" anchor="ctr"/>
                </a:tc>
                <a:tc>
                  <a:txBody>
                    <a:bodyPr/>
                    <a:lstStyle/>
                    <a:p>
                      <a:pPr marL="0" marR="0">
                        <a:lnSpc>
                          <a:spcPct val="115000"/>
                        </a:lnSpc>
                        <a:spcBef>
                          <a:spcPts val="0"/>
                        </a:spcBef>
                        <a:spcAft>
                          <a:spcPts val="0"/>
                        </a:spcAft>
                      </a:pPr>
                      <a:r>
                        <a:rPr lang="en-US" sz="2000" dirty="0">
                          <a:latin typeface="Times New Roman"/>
                          <a:ea typeface="Times New Roman"/>
                          <a:cs typeface="Times New Roman"/>
                        </a:rPr>
                        <a:t>Spread of rumors</a:t>
                      </a:r>
                      <a:endParaRPr lang="en-US" sz="2000" dirty="0">
                        <a:latin typeface="Calibri"/>
                        <a:ea typeface="Times New Roman"/>
                        <a:cs typeface="Times New Roman"/>
                      </a:endParaRPr>
                    </a:p>
                  </a:txBody>
                  <a:tcPr marL="9525" marR="9525" marT="9525" marB="9525" anchor="ctr"/>
                </a:tc>
                <a:extLst>
                  <a:ext uri="{0D108BD9-81ED-4DB2-BD59-A6C34878D82A}">
                    <a16:rowId xmlns:a16="http://schemas.microsoft.com/office/drawing/2014/main" val="10002"/>
                  </a:ext>
                </a:extLst>
              </a:tr>
              <a:tr h="1137136">
                <a:tc>
                  <a:txBody>
                    <a:bodyPr/>
                    <a:lstStyle/>
                    <a:p>
                      <a:r>
                        <a:rPr lang="en-US" dirty="0"/>
                        <a:t>9.</a:t>
                      </a:r>
                    </a:p>
                  </a:txBody>
                  <a:tcPr/>
                </a:tc>
                <a:tc>
                  <a:txBody>
                    <a:bodyPr/>
                    <a:lstStyle/>
                    <a:p>
                      <a:pPr marL="0" marR="0">
                        <a:lnSpc>
                          <a:spcPct val="115000"/>
                        </a:lnSpc>
                        <a:spcBef>
                          <a:spcPts val="0"/>
                        </a:spcBef>
                        <a:spcAft>
                          <a:spcPts val="0"/>
                        </a:spcAft>
                      </a:pPr>
                      <a:r>
                        <a:rPr lang="en-US" sz="2000" dirty="0">
                          <a:latin typeface="Times New Roman"/>
                          <a:ea typeface="Times New Roman"/>
                          <a:cs typeface="Times New Roman"/>
                        </a:rPr>
                        <a:t>Secrecy</a:t>
                      </a:r>
                      <a:endParaRPr lang="en-US" sz="2000" dirty="0">
                        <a:latin typeface="Calibri"/>
                        <a:ea typeface="Times New Roman"/>
                        <a:cs typeface="Times New Roman"/>
                      </a:endParaRPr>
                    </a:p>
                  </a:txBody>
                  <a:tcPr marL="9525" marR="9525" marT="9525" marB="9525" anchor="ctr"/>
                </a:tc>
                <a:tc>
                  <a:txBody>
                    <a:bodyPr/>
                    <a:lstStyle/>
                    <a:p>
                      <a:pPr marL="0" marR="0">
                        <a:lnSpc>
                          <a:spcPct val="115000"/>
                        </a:lnSpc>
                        <a:spcBef>
                          <a:spcPts val="0"/>
                        </a:spcBef>
                        <a:spcAft>
                          <a:spcPts val="0"/>
                        </a:spcAft>
                      </a:pPr>
                      <a:r>
                        <a:rPr lang="en-US" sz="2000">
                          <a:latin typeface="Times New Roman"/>
                          <a:ea typeface="Times New Roman"/>
                          <a:cs typeface="Times New Roman"/>
                        </a:rPr>
                        <a:t>Full secrecy is maintained.</a:t>
                      </a:r>
                      <a:endParaRPr lang="en-US" sz="2000">
                        <a:latin typeface="Calibri"/>
                        <a:ea typeface="Times New Roman"/>
                        <a:cs typeface="Times New Roman"/>
                      </a:endParaRPr>
                    </a:p>
                  </a:txBody>
                  <a:tcPr marL="9525" marR="9525" marT="9525" marB="9525" anchor="ctr"/>
                </a:tc>
                <a:tc>
                  <a:txBody>
                    <a:bodyPr/>
                    <a:lstStyle/>
                    <a:p>
                      <a:pPr marL="0" marR="0">
                        <a:lnSpc>
                          <a:spcPct val="115000"/>
                        </a:lnSpc>
                        <a:spcBef>
                          <a:spcPts val="0"/>
                        </a:spcBef>
                        <a:spcAft>
                          <a:spcPts val="0"/>
                        </a:spcAft>
                      </a:pPr>
                      <a:r>
                        <a:rPr lang="en-US" sz="2000" dirty="0">
                          <a:latin typeface="Times New Roman"/>
                          <a:ea typeface="Times New Roman"/>
                          <a:cs typeface="Times New Roman"/>
                        </a:rPr>
                        <a:t>It is difficult to maintain the secrecy.</a:t>
                      </a:r>
                      <a:endParaRPr lang="en-US" sz="2000" dirty="0">
                        <a:latin typeface="Calibri"/>
                        <a:ea typeface="Times New Roman"/>
                        <a:cs typeface="Times New Roman"/>
                      </a:endParaRPr>
                    </a:p>
                  </a:txBody>
                  <a:tcPr marL="9525" marR="9525" marT="9525" marB="9525" anchor="ctr"/>
                </a:tc>
                <a:extLst>
                  <a:ext uri="{0D108BD9-81ED-4DB2-BD59-A6C34878D82A}">
                    <a16:rowId xmlns:a16="http://schemas.microsoft.com/office/drawing/2014/main" val="10003"/>
                  </a:ext>
                </a:extLst>
              </a:tr>
              <a:tr h="1137136">
                <a:tc>
                  <a:txBody>
                    <a:bodyPr/>
                    <a:lstStyle/>
                    <a:p>
                      <a:r>
                        <a:rPr lang="en-US" dirty="0"/>
                        <a:t>10.</a:t>
                      </a:r>
                    </a:p>
                  </a:txBody>
                  <a:tcPr/>
                </a:tc>
                <a:tc>
                  <a:txBody>
                    <a:bodyPr/>
                    <a:lstStyle/>
                    <a:p>
                      <a:pPr marL="0" marR="0">
                        <a:lnSpc>
                          <a:spcPct val="115000"/>
                        </a:lnSpc>
                        <a:spcBef>
                          <a:spcPts val="0"/>
                        </a:spcBef>
                        <a:spcAft>
                          <a:spcPts val="0"/>
                        </a:spcAft>
                      </a:pPr>
                      <a:r>
                        <a:rPr lang="en-US" sz="2000" dirty="0">
                          <a:latin typeface="Times New Roman"/>
                          <a:ea typeface="Times New Roman"/>
                          <a:cs typeface="Times New Roman"/>
                        </a:rPr>
                        <a:t>Flow of Information</a:t>
                      </a:r>
                      <a:endParaRPr lang="en-US" sz="2000" dirty="0">
                        <a:latin typeface="Calibri"/>
                        <a:ea typeface="Times New Roman"/>
                        <a:cs typeface="Times New Roman"/>
                      </a:endParaRPr>
                    </a:p>
                  </a:txBody>
                  <a:tcPr marL="9525" marR="9525" marT="9525" marB="9525" anchor="ctr"/>
                </a:tc>
                <a:tc>
                  <a:txBody>
                    <a:bodyPr/>
                    <a:lstStyle/>
                    <a:p>
                      <a:pPr marL="0" marR="0">
                        <a:lnSpc>
                          <a:spcPct val="115000"/>
                        </a:lnSpc>
                        <a:spcBef>
                          <a:spcPts val="0"/>
                        </a:spcBef>
                        <a:spcAft>
                          <a:spcPts val="0"/>
                        </a:spcAft>
                      </a:pPr>
                      <a:r>
                        <a:rPr lang="en-US" sz="2000" dirty="0">
                          <a:latin typeface="Times New Roman"/>
                          <a:ea typeface="Times New Roman"/>
                          <a:cs typeface="Times New Roman"/>
                        </a:rPr>
                        <a:t>Only through predefined channels.</a:t>
                      </a:r>
                      <a:endParaRPr lang="en-US" sz="2000" dirty="0">
                        <a:latin typeface="Calibri"/>
                        <a:ea typeface="Times New Roman"/>
                        <a:cs typeface="Times New Roman"/>
                      </a:endParaRPr>
                    </a:p>
                  </a:txBody>
                  <a:tcPr marL="9525" marR="9525" marT="9525" marB="9525" anchor="ctr"/>
                </a:tc>
                <a:tc>
                  <a:txBody>
                    <a:bodyPr/>
                    <a:lstStyle/>
                    <a:p>
                      <a:pPr marL="0" marR="0">
                        <a:lnSpc>
                          <a:spcPct val="115000"/>
                        </a:lnSpc>
                        <a:spcBef>
                          <a:spcPts val="0"/>
                        </a:spcBef>
                        <a:spcAft>
                          <a:spcPts val="0"/>
                        </a:spcAft>
                      </a:pPr>
                      <a:r>
                        <a:rPr lang="en-US" sz="2000" dirty="0">
                          <a:latin typeface="Times New Roman"/>
                          <a:ea typeface="Times New Roman"/>
                          <a:cs typeface="Times New Roman"/>
                        </a:rPr>
                        <a:t>Can move freely.</a:t>
                      </a:r>
                      <a:endParaRPr lang="en-US" sz="2000" dirty="0">
                        <a:latin typeface="Calibri"/>
                        <a:ea typeface="Times New Roman"/>
                        <a:cs typeface="Times New Roman"/>
                      </a:endParaRPr>
                    </a:p>
                  </a:txBody>
                  <a:tcPr marL="9525" marR="9525" marT="9525" marB="9525"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705600"/>
          </a:xfrm>
        </p:spPr>
        <p:txBody>
          <a:bodyPr/>
          <a:lstStyle/>
          <a:p>
            <a:pPr algn="ctr">
              <a:buNone/>
            </a:pPr>
            <a:endParaRPr lang="en-US" sz="6600" b="1" dirty="0">
              <a:latin typeface="Times New Roman" pitchFamily="18" charset="0"/>
              <a:cs typeface="Times New Roman" pitchFamily="18" charset="0"/>
            </a:endParaRPr>
          </a:p>
          <a:p>
            <a:pPr algn="ctr">
              <a:buNone/>
            </a:pPr>
            <a:endParaRPr lang="en-US" sz="6600" b="1" dirty="0">
              <a:latin typeface="Times New Roman" pitchFamily="18" charset="0"/>
              <a:cs typeface="Times New Roman" pitchFamily="18" charset="0"/>
            </a:endParaRPr>
          </a:p>
          <a:p>
            <a:pPr algn="ctr">
              <a:buNone/>
            </a:pPr>
            <a:r>
              <a:rPr lang="en-US" sz="6600" b="1" dirty="0">
                <a:latin typeface="Times New Roman" pitchFamily="18" charset="0"/>
                <a:cs typeface="Times New Roman" pitchFamily="18" charset="0"/>
              </a:rPr>
              <a:t>QUERY !</a:t>
            </a:r>
          </a:p>
          <a:p>
            <a:pPr>
              <a:buNone/>
            </a:pPr>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fontScale="25000" lnSpcReduction="20000"/>
          </a:bodyPr>
          <a:lstStyle/>
          <a:p>
            <a:pPr algn="ctr">
              <a:buNone/>
            </a:pPr>
            <a:endParaRPr lang="en-US" sz="2400" b="1" dirty="0">
              <a:latin typeface="Times New Roman" pitchFamily="18" charset="0"/>
              <a:cs typeface="Times New Roman" pitchFamily="18" charset="0"/>
            </a:endParaRPr>
          </a:p>
          <a:p>
            <a:pPr algn="ctr">
              <a:buNone/>
            </a:pPr>
            <a:r>
              <a:rPr lang="en-US" sz="9600" b="1" dirty="0">
                <a:latin typeface="Times New Roman" pitchFamily="18" charset="0"/>
                <a:cs typeface="Times New Roman" pitchFamily="18" charset="0"/>
              </a:rPr>
              <a:t>LESSON – 3 </a:t>
            </a:r>
          </a:p>
          <a:p>
            <a:pPr algn="ctr">
              <a:buNone/>
            </a:pPr>
            <a:r>
              <a:rPr lang="en-US" sz="9600" b="1" dirty="0">
                <a:latin typeface="Times New Roman" pitchFamily="18" charset="0"/>
                <a:cs typeface="Times New Roman" pitchFamily="18" charset="0"/>
              </a:rPr>
              <a:t>QUALITIES OF GOOD COMMUNICATION</a:t>
            </a:r>
            <a:br>
              <a:rPr lang="en-US" sz="9600" b="1" dirty="0">
                <a:latin typeface="Times New Roman" pitchFamily="18" charset="0"/>
                <a:cs typeface="Times New Roman" pitchFamily="18" charset="0"/>
              </a:rPr>
            </a:br>
            <a:r>
              <a:rPr lang="en-US" sz="9600" b="1" dirty="0">
                <a:latin typeface="Times New Roman" pitchFamily="18" charset="0"/>
                <a:cs typeface="Times New Roman" pitchFamily="18" charset="0"/>
              </a:rPr>
              <a:t>SEVEN C’S OF COMMUNICATION</a:t>
            </a:r>
            <a:r>
              <a:rPr lang="en-US" sz="9600" dirty="0">
                <a:latin typeface="Times New Roman" pitchFamily="18" charset="0"/>
                <a:cs typeface="Times New Roman" pitchFamily="18" charset="0"/>
              </a:rPr>
              <a:t> </a:t>
            </a:r>
            <a:endParaRPr lang="en-US" sz="9600" b="1" dirty="0">
              <a:latin typeface="Times New Roman" pitchFamily="18" charset="0"/>
              <a:cs typeface="Times New Roman" pitchFamily="18" charset="0"/>
            </a:endParaRPr>
          </a:p>
          <a:p>
            <a:pPr>
              <a:lnSpc>
                <a:spcPct val="170000"/>
              </a:lnSpc>
              <a:buNone/>
            </a:pPr>
            <a:r>
              <a:rPr lang="en-US" sz="9600" b="1" dirty="0">
                <a:latin typeface="Times New Roman" pitchFamily="18" charset="0"/>
                <a:cs typeface="Times New Roman" pitchFamily="18" charset="0"/>
              </a:rPr>
              <a:t>1- INTRODUCTION AND DEFINITION –</a:t>
            </a:r>
            <a:r>
              <a:rPr lang="en-US" sz="8000" dirty="0">
                <a:latin typeface="Times New Roman" pitchFamily="18" charset="0"/>
                <a:cs typeface="Times New Roman" pitchFamily="18" charset="0"/>
              </a:rPr>
              <a:t>The ability to communicate is an essential life skill and one that can be continually developed. Even if you are a naturally good communicator, there are always opportunities and ways to enhance your communication skills. Individuals who are good communicators find it easy to develop empathy and trust with others. These people adapt their style of communication to suit the audience and situation they are presented with. They are also called the seven Cs of communication, which are given below-</a:t>
            </a:r>
            <a:br>
              <a:rPr lang="en-US" sz="8000" dirty="0">
                <a:latin typeface="Times New Roman" pitchFamily="18" charset="0"/>
                <a:cs typeface="Times New Roman" pitchFamily="18" charset="0"/>
              </a:rPr>
            </a:br>
            <a:r>
              <a:rPr lang="en-US" sz="8000" dirty="0">
                <a:latin typeface="Times New Roman" pitchFamily="18" charset="0"/>
                <a:cs typeface="Times New Roman" pitchFamily="18" charset="0"/>
              </a:rPr>
              <a:t>1.Completeness           2.Conciseness     3.Clarity         4.Correctness </a:t>
            </a:r>
            <a:br>
              <a:rPr lang="en-US" sz="8000" dirty="0">
                <a:latin typeface="Times New Roman" pitchFamily="18" charset="0"/>
                <a:cs typeface="Times New Roman" pitchFamily="18" charset="0"/>
              </a:rPr>
            </a:br>
            <a:r>
              <a:rPr lang="en-US" sz="8000" dirty="0">
                <a:latin typeface="Times New Roman" pitchFamily="18" charset="0"/>
                <a:cs typeface="Times New Roman" pitchFamily="18" charset="0"/>
              </a:rPr>
              <a:t>5.Consideration           6.Courtesy          7.Concreteness</a:t>
            </a:r>
            <a:br>
              <a:rPr lang="en-US" sz="6200" dirty="0">
                <a:latin typeface="Times New Roman" pitchFamily="18" charset="0"/>
                <a:cs typeface="Times New Roman" pitchFamily="18" charset="0"/>
              </a:rPr>
            </a:br>
            <a:br>
              <a:rPr lang="en-US" sz="6200" dirty="0">
                <a:latin typeface="Times New Roman" pitchFamily="18" charset="0"/>
                <a:cs typeface="Times New Roman" pitchFamily="18" charset="0"/>
              </a:rPr>
            </a:br>
            <a:endParaRPr lang="en-US" sz="6200" dirty="0">
              <a:latin typeface="Times New Roman" pitchFamily="18" charset="0"/>
              <a:cs typeface="Times New Roman" pitchFamily="18" charset="0"/>
            </a:endParaRPr>
          </a:p>
          <a:p>
            <a:pPr algn="just">
              <a:buNone/>
            </a:pPr>
            <a:endParaRPr lang="en-US" sz="2000" dirty="0"/>
          </a:p>
          <a:p>
            <a:pPr>
              <a:lnSpc>
                <a:spcPct val="150000"/>
              </a:lnSpc>
              <a:buNone/>
            </a:pPr>
            <a:endParaRPr lang="en-US" sz="2000" dirty="0">
              <a:latin typeface="Times New Roman" pitchFamily="18" charset="0"/>
              <a:cs typeface="Times New Roman" pitchFamily="18" charset="0"/>
            </a:endParaRPr>
          </a:p>
          <a:p>
            <a:pPr>
              <a:lnSpc>
                <a:spcPct val="150000"/>
              </a:lnSpc>
              <a:buNone/>
            </a:pPr>
            <a:endParaRPr lang="en-US" sz="2000" dirty="0">
              <a:latin typeface="Times New Roman" pitchFamily="18" charset="0"/>
              <a:cs typeface="Times New Roman" pitchFamily="18" charset="0"/>
            </a:endParaRPr>
          </a:p>
          <a:p>
            <a:pPr>
              <a:lnSpc>
                <a:spcPct val="150000"/>
              </a:lnSpc>
              <a:buNone/>
            </a:pPr>
            <a:r>
              <a:rPr lang="en-US" sz="2000" dirty="0">
                <a:latin typeface="Times New Roman" pitchFamily="18" charset="0"/>
                <a:cs typeface="Times New Roman" pitchFamily="18" charset="0"/>
              </a:rPr>
              <a:t> </a:t>
            </a:r>
          </a:p>
          <a:p>
            <a:pPr>
              <a:buNone/>
            </a:pPr>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Autofit/>
          </a:bodyPr>
          <a:lstStyle/>
          <a:p>
            <a:pPr>
              <a:lnSpc>
                <a:spcPct val="150000"/>
              </a:lnSpc>
              <a:buNone/>
            </a:pPr>
            <a:endParaRPr lang="en-US" sz="2000" dirty="0">
              <a:latin typeface="Times New Roman" pitchFamily="18" charset="0"/>
              <a:cs typeface="Times New Roman" pitchFamily="18" charset="0"/>
            </a:endParaRPr>
          </a:p>
          <a:p>
            <a:pPr>
              <a:lnSpc>
                <a:spcPct val="150000"/>
              </a:lnSpc>
              <a:buNone/>
            </a:pPr>
            <a:r>
              <a:rPr lang="en-US" sz="2000" b="1" dirty="0">
                <a:latin typeface="Times New Roman" pitchFamily="18" charset="0"/>
                <a:cs typeface="Times New Roman" pitchFamily="18" charset="0"/>
              </a:rPr>
              <a:t>COMPLETENESS </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Every communication must be complete and adequate. Incomplete messages keep the receiver guessing, create misunderstanding and delay actions.</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Every person should, therefore, be provided with all the required facts and figures.</a:t>
            </a:r>
            <a:br>
              <a:rPr lang="en-US" sz="2000" dirty="0">
                <a:latin typeface="Times New Roman" pitchFamily="18" charset="0"/>
                <a:cs typeface="Times New Roman" pitchFamily="18" charset="0"/>
              </a:rPr>
            </a:br>
            <a:br>
              <a:rPr lang="en-US" sz="2000" dirty="0">
                <a:latin typeface="Times New Roman" pitchFamily="18" charset="0"/>
                <a:cs typeface="Times New Roman" pitchFamily="18" charset="0"/>
              </a:rPr>
            </a:br>
            <a:r>
              <a:rPr lang="en-US" sz="2000" b="1" dirty="0">
                <a:latin typeface="Times New Roman" pitchFamily="18" charset="0"/>
                <a:cs typeface="Times New Roman" pitchFamily="18" charset="0"/>
              </a:rPr>
              <a:t>e.g. </a:t>
            </a:r>
            <a:r>
              <a:rPr lang="en-US" sz="2000" dirty="0">
                <a:latin typeface="Times New Roman" pitchFamily="18" charset="0"/>
                <a:cs typeface="Times New Roman" pitchFamily="18" charset="0"/>
              </a:rPr>
              <a:t>When factory supervisor instructs workers to produce, he must specify the exact size, shape, quality and cost of the product. Any assumptions behind the messages should also be clarified. </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While answering a letter, all the questions raised in the letter must be replied.</a:t>
            </a:r>
            <a:br>
              <a:rPr lang="en-US" sz="2000" dirty="0">
                <a:latin typeface="Times New Roman" pitchFamily="18" charset="0"/>
                <a:cs typeface="Times New Roman" pitchFamily="18" charset="0"/>
              </a:rPr>
            </a:br>
            <a:endParaRPr lang="en-US" sz="2000" dirty="0">
              <a:latin typeface="Times New Roman" pitchFamily="18" charset="0"/>
              <a:cs typeface="Times New Roman"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pPr>
              <a:lnSpc>
                <a:spcPct val="170000"/>
              </a:lnSpc>
              <a:buNone/>
            </a:pPr>
            <a:r>
              <a:rPr lang="en-US" sz="2900" dirty="0">
                <a:latin typeface="Times New Roman" pitchFamily="18" charset="0"/>
                <a:cs typeface="Times New Roman" pitchFamily="18" charset="0"/>
              </a:rPr>
              <a:t>          </a:t>
            </a:r>
          </a:p>
          <a:p>
            <a:pPr lvl="0">
              <a:lnSpc>
                <a:spcPct val="150000"/>
              </a:lnSpc>
              <a:buNone/>
            </a:pPr>
            <a:r>
              <a:rPr lang="en-US" sz="2000" b="1" dirty="0">
                <a:latin typeface="Times New Roman" pitchFamily="18" charset="0"/>
                <a:cs typeface="Times New Roman" pitchFamily="18" charset="0"/>
              </a:rPr>
              <a:t>CONCISENESS –</a:t>
            </a:r>
          </a:p>
          <a:p>
            <a:pPr lvl="0">
              <a:lnSpc>
                <a:spcPct val="150000"/>
              </a:lnSpc>
              <a:buNone/>
            </a:pPr>
            <a:r>
              <a:rPr lang="en-US" sz="2000" dirty="0">
                <a:latin typeface="Times New Roman" pitchFamily="18" charset="0"/>
                <a:cs typeface="Times New Roman" pitchFamily="18" charset="0"/>
              </a:rPr>
              <a:t>             Conciseness means wordiness, </a:t>
            </a:r>
            <a:r>
              <a:rPr lang="en-US" sz="2000" dirty="0" err="1">
                <a:latin typeface="Times New Roman" pitchFamily="18" charset="0"/>
                <a:cs typeface="Times New Roman" pitchFamily="18" charset="0"/>
              </a:rPr>
              <a:t>i.e</a:t>
            </a:r>
            <a:r>
              <a:rPr lang="en-US" sz="2000" dirty="0">
                <a:latin typeface="Times New Roman" pitchFamily="18" charset="0"/>
                <a:cs typeface="Times New Roman" pitchFamily="18" charset="0"/>
              </a:rPr>
              <a:t>, communicating what you want to convey in least possible words without forgoing the other C’s of communication. Conciseness is a necessity for effective communication. Concise communication has following features It is both time-saving as well as cost-saving. It underlines and highlights the main message as it avoids using excessive and needless words. </a:t>
            </a:r>
          </a:p>
          <a:p>
            <a:pPr lvl="1">
              <a:lnSpc>
                <a:spcPct val="150000"/>
              </a:lnSpc>
              <a:buNone/>
            </a:pPr>
            <a:r>
              <a:rPr lang="en-US" sz="2000" dirty="0">
                <a:latin typeface="Times New Roman" pitchFamily="18" charset="0"/>
                <a:cs typeface="Times New Roman" pitchFamily="18" charset="0"/>
              </a:rPr>
              <a:t>Concise communication provides short and essential message in limited words to</a:t>
            </a:r>
          </a:p>
          <a:p>
            <a:pPr lvl="1">
              <a:lnSpc>
                <a:spcPct val="150000"/>
              </a:lnSpc>
              <a:buNone/>
            </a:pPr>
            <a:r>
              <a:rPr lang="en-US" sz="2000" dirty="0">
                <a:latin typeface="Times New Roman" pitchFamily="18" charset="0"/>
                <a:cs typeface="Times New Roman" pitchFamily="18" charset="0"/>
              </a:rPr>
              <a:t>the audience. Concise message is more appealing and comprehensible to the</a:t>
            </a:r>
          </a:p>
          <a:p>
            <a:pPr lvl="1">
              <a:lnSpc>
                <a:spcPct val="150000"/>
              </a:lnSpc>
              <a:buNone/>
            </a:pPr>
            <a:r>
              <a:rPr lang="en-US" sz="2000" dirty="0">
                <a:latin typeface="Times New Roman" pitchFamily="18" charset="0"/>
                <a:cs typeface="Times New Roman" pitchFamily="18" charset="0"/>
              </a:rPr>
              <a:t>audience. Concise message is non-repetitive in nature. </a:t>
            </a:r>
          </a:p>
          <a:p>
            <a:pPr>
              <a:lnSpc>
                <a:spcPct val="170000"/>
              </a:lnSpc>
              <a:buNone/>
            </a:pPr>
            <a:r>
              <a:rPr lang="en-US" sz="2000" dirty="0">
                <a:latin typeface="Times New Roman" pitchFamily="18" charset="0"/>
                <a:cs typeface="Times New Roman" pitchFamily="18" charset="0"/>
              </a:rPr>
              <a:t> </a:t>
            </a:r>
          </a:p>
          <a:p>
            <a:pPr>
              <a:buNone/>
            </a:pPr>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fontScale="92500" lnSpcReduction="10000"/>
          </a:bodyPr>
          <a:lstStyle/>
          <a:p>
            <a:pPr>
              <a:lnSpc>
                <a:spcPct val="170000"/>
              </a:lnSpc>
              <a:buNone/>
            </a:pPr>
            <a:endParaRPr lang="en-US" sz="2600" b="1" dirty="0">
              <a:latin typeface="Times New Roman" pitchFamily="18" charset="0"/>
              <a:cs typeface="Times New Roman" pitchFamily="18" charset="0"/>
            </a:endParaRPr>
          </a:p>
          <a:p>
            <a:pPr>
              <a:lnSpc>
                <a:spcPct val="170000"/>
              </a:lnSpc>
              <a:buNone/>
            </a:pPr>
            <a:r>
              <a:rPr lang="en-US" sz="2200" b="1" dirty="0">
                <a:latin typeface="Times New Roman" pitchFamily="18" charset="0"/>
                <a:cs typeface="Times New Roman" pitchFamily="18" charset="0"/>
              </a:rPr>
              <a:t>CLARITY - </a:t>
            </a:r>
          </a:p>
          <a:p>
            <a:pPr>
              <a:lnSpc>
                <a:spcPct val="170000"/>
              </a:lnSpc>
              <a:buNone/>
            </a:pPr>
            <a:r>
              <a:rPr lang="en-US" sz="2900" dirty="0">
                <a:latin typeface="Times New Roman" pitchFamily="18" charset="0"/>
                <a:cs typeface="Times New Roman" pitchFamily="18" charset="0"/>
              </a:rPr>
              <a:t>   </a:t>
            </a:r>
            <a:r>
              <a:rPr lang="en-US" sz="2200" dirty="0">
                <a:latin typeface="Times New Roman" pitchFamily="18" charset="0"/>
                <a:cs typeface="Times New Roman" pitchFamily="18" charset="0"/>
              </a:rPr>
              <a:t>Clarity means getting your message across so, the receiver will understand what you are trying to convey. You want that person to interpret your words with the same meaning you have in mind. Accomplishing that goal is difficult because, as you know, individual experiences are never identical, and words have different meanings to different persons. Here are some specific ways to help and make your messages clear: </a:t>
            </a:r>
            <a:br>
              <a:rPr lang="en-US" sz="2200" dirty="0">
                <a:latin typeface="Times New Roman" pitchFamily="18" charset="0"/>
                <a:cs typeface="Times New Roman" pitchFamily="18" charset="0"/>
              </a:rPr>
            </a:br>
            <a:r>
              <a:rPr lang="en-US" sz="2200" dirty="0">
                <a:latin typeface="Times New Roman" pitchFamily="18" charset="0"/>
                <a:cs typeface="Times New Roman" pitchFamily="18" charset="0"/>
              </a:rPr>
              <a:t>1. Choose short, familiar, conversational words.</a:t>
            </a:r>
            <a:br>
              <a:rPr lang="en-US" sz="2200" dirty="0">
                <a:latin typeface="Times New Roman" pitchFamily="18" charset="0"/>
                <a:cs typeface="Times New Roman" pitchFamily="18" charset="0"/>
              </a:rPr>
            </a:br>
            <a:r>
              <a:rPr lang="en-US" sz="2200" dirty="0">
                <a:latin typeface="Times New Roman" pitchFamily="18" charset="0"/>
                <a:cs typeface="Times New Roman" pitchFamily="18" charset="0"/>
              </a:rPr>
              <a:t>2. Construct effective sentences and paragraphs.</a:t>
            </a:r>
            <a:br>
              <a:rPr lang="en-US" sz="2200" dirty="0">
                <a:latin typeface="Times New Roman" pitchFamily="18" charset="0"/>
                <a:cs typeface="Times New Roman" pitchFamily="18" charset="0"/>
              </a:rPr>
            </a:br>
            <a:r>
              <a:rPr lang="en-US" sz="2200" dirty="0">
                <a:latin typeface="Times New Roman" pitchFamily="18" charset="0"/>
                <a:cs typeface="Times New Roman" pitchFamily="18" charset="0"/>
              </a:rPr>
              <a:t>3. Achieve appropriate readability (and listening ability).</a:t>
            </a:r>
            <a:br>
              <a:rPr lang="en-US" sz="2200" dirty="0">
                <a:latin typeface="Times New Roman" pitchFamily="18" charset="0"/>
                <a:cs typeface="Times New Roman" pitchFamily="18" charset="0"/>
              </a:rPr>
            </a:br>
            <a:r>
              <a:rPr lang="en-US" sz="2200" dirty="0">
                <a:latin typeface="Times New Roman" pitchFamily="18" charset="0"/>
                <a:cs typeface="Times New Roman" pitchFamily="18" charset="0"/>
              </a:rPr>
              <a:t>4. Include examples, illustrations, and other visual aids, when desirable</a:t>
            </a:r>
          </a:p>
          <a:p>
            <a:pPr>
              <a:lnSpc>
                <a:spcPct val="170000"/>
              </a:lnSpc>
              <a:buNone/>
            </a:pPr>
            <a:r>
              <a:rPr lang="en-US" sz="2200" dirty="0">
                <a:latin typeface="Times New Roman" pitchFamily="18" charset="0"/>
                <a:cs typeface="Times New Roman" pitchFamily="18" charset="0"/>
              </a:rPr>
              <a:t> </a:t>
            </a:r>
          </a:p>
          <a:p>
            <a:pPr>
              <a:lnSpc>
                <a:spcPct val="150000"/>
              </a:lnSpc>
              <a:buNone/>
            </a:pPr>
            <a:endParaRPr lang="en-US" sz="2000" dirty="0">
              <a:latin typeface="Times New Roman" pitchFamily="18" charset="0"/>
              <a:cs typeface="Times New Roman"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pPr>
              <a:lnSpc>
                <a:spcPct val="150000"/>
              </a:lnSpc>
              <a:buNone/>
            </a:pPr>
            <a:endParaRPr lang="en-US" sz="2000" dirty="0">
              <a:latin typeface="Times New Roman" pitchFamily="18" charset="0"/>
              <a:cs typeface="Times New Roman" pitchFamily="18" charset="0"/>
            </a:endParaRPr>
          </a:p>
          <a:p>
            <a:pPr>
              <a:lnSpc>
                <a:spcPct val="150000"/>
              </a:lnSpc>
              <a:buNone/>
            </a:pPr>
            <a:r>
              <a:rPr lang="en-US" sz="2000" b="1" dirty="0">
                <a:solidFill>
                  <a:schemeClr val="bg1"/>
                </a:solidFill>
              </a:rPr>
              <a:t>.</a:t>
            </a:r>
            <a:r>
              <a:rPr lang="en-US" sz="2000" dirty="0">
                <a:latin typeface="Times New Roman" pitchFamily="18" charset="0"/>
                <a:cs typeface="Times New Roman" pitchFamily="18" charset="0"/>
              </a:rPr>
              <a:t> </a:t>
            </a:r>
            <a:r>
              <a:rPr lang="en-US" sz="2000" b="1" dirty="0">
                <a:latin typeface="Times New Roman" pitchFamily="18" charset="0"/>
                <a:cs typeface="Times New Roman" pitchFamily="18" charset="0"/>
              </a:rPr>
              <a:t>CORRECTNESS - </a:t>
            </a:r>
            <a:endParaRPr lang="en-US" sz="2000" b="1" dirty="0"/>
          </a:p>
          <a:p>
            <a:pPr>
              <a:lnSpc>
                <a:spcPct val="150000"/>
              </a:lnSpc>
              <a:buNone/>
            </a:pPr>
            <a:r>
              <a:rPr lang="en-US" sz="2000" dirty="0">
                <a:latin typeface="Times New Roman" pitchFamily="18" charset="0"/>
                <a:cs typeface="Times New Roman" pitchFamily="18" charset="0"/>
              </a:rPr>
              <a:t>The term correctness as applied to business </a:t>
            </a:r>
          </a:p>
          <a:p>
            <a:pPr>
              <a:lnSpc>
                <a:spcPct val="150000"/>
              </a:lnSpc>
              <a:buNone/>
            </a:pPr>
            <a:r>
              <a:rPr lang="en-US" sz="2000" dirty="0">
                <a:latin typeface="Times New Roman" pitchFamily="18" charset="0"/>
                <a:cs typeface="Times New Roman" pitchFamily="18" charset="0"/>
              </a:rPr>
              <a:t>messages means right level of language</a:t>
            </a:r>
          </a:p>
          <a:p>
            <a:pPr>
              <a:lnSpc>
                <a:spcPct val="150000"/>
              </a:lnSpc>
              <a:buNone/>
            </a:pPr>
            <a:r>
              <a:rPr lang="en-US" sz="2000" dirty="0">
                <a:latin typeface="Times New Roman" pitchFamily="18" charset="0"/>
                <a:cs typeface="Times New Roman" pitchFamily="18" charset="0"/>
              </a:rPr>
              <a:t>and accuracy of facts, figures and words. </a:t>
            </a:r>
          </a:p>
          <a:p>
            <a:pPr>
              <a:lnSpc>
                <a:spcPct val="150000"/>
              </a:lnSpc>
              <a:buNone/>
            </a:pPr>
            <a:r>
              <a:rPr lang="en-US" sz="2000" dirty="0">
                <a:latin typeface="Times New Roman" pitchFamily="18" charset="0"/>
                <a:cs typeface="Times New Roman" pitchFamily="18" charset="0"/>
              </a:rPr>
              <a:t>If the information is not correctly conveyed,</a:t>
            </a:r>
          </a:p>
          <a:p>
            <a:pPr>
              <a:lnSpc>
                <a:spcPct val="150000"/>
              </a:lnSpc>
              <a:buNone/>
            </a:pPr>
            <a:r>
              <a:rPr lang="en-US" sz="2000" dirty="0">
                <a:latin typeface="Times New Roman" pitchFamily="18" charset="0"/>
                <a:cs typeface="Times New Roman" pitchFamily="18" charset="0"/>
              </a:rPr>
              <a:t>the sender will lose credibility. Transmission </a:t>
            </a:r>
          </a:p>
          <a:p>
            <a:pPr>
              <a:lnSpc>
                <a:spcPct val="150000"/>
              </a:lnSpc>
              <a:buNone/>
            </a:pPr>
            <a:r>
              <a:rPr lang="en-US" sz="2000" dirty="0">
                <a:latin typeface="Times New Roman" pitchFamily="18" charset="0"/>
                <a:cs typeface="Times New Roman" pitchFamily="18" charset="0"/>
              </a:rPr>
              <a:t>of incorrect information to superiors will</a:t>
            </a:r>
          </a:p>
          <a:p>
            <a:pPr>
              <a:lnSpc>
                <a:spcPct val="150000"/>
              </a:lnSpc>
              <a:buNone/>
            </a:pPr>
            <a:r>
              <a:rPr lang="en-US" sz="2000" dirty="0">
                <a:latin typeface="Times New Roman" pitchFamily="18" charset="0"/>
                <a:cs typeface="Times New Roman" pitchFamily="18" charset="0"/>
              </a:rPr>
              <a:t>messages, grammatical errors should also </a:t>
            </a:r>
          </a:p>
          <a:p>
            <a:pPr>
              <a:lnSpc>
                <a:spcPct val="150000"/>
              </a:lnSpc>
              <a:buNone/>
            </a:pPr>
            <a:r>
              <a:rPr lang="en-US" sz="2000" dirty="0">
                <a:latin typeface="Times New Roman" pitchFamily="18" charset="0"/>
                <a:cs typeface="Times New Roman" pitchFamily="18" charset="0"/>
              </a:rPr>
              <a:t>be avoided. You should not transmit any</a:t>
            </a:r>
          </a:p>
          <a:p>
            <a:pPr>
              <a:lnSpc>
                <a:spcPct val="150000"/>
              </a:lnSpc>
              <a:buNone/>
            </a:pPr>
            <a:r>
              <a:rPr lang="en-US" sz="2000" dirty="0">
                <a:latin typeface="Times New Roman" pitchFamily="18" charset="0"/>
                <a:cs typeface="Times New Roman" pitchFamily="18" charset="0"/>
              </a:rPr>
              <a:t>message unless you are absolutely sure of </a:t>
            </a:r>
          </a:p>
          <a:p>
            <a:pPr>
              <a:lnSpc>
                <a:spcPct val="150000"/>
              </a:lnSpc>
              <a:buNone/>
            </a:pPr>
            <a:r>
              <a:rPr lang="en-US" sz="2000" dirty="0">
                <a:latin typeface="Times New Roman" pitchFamily="18" charset="0"/>
                <a:cs typeface="Times New Roman" pitchFamily="18" charset="0"/>
              </a:rPr>
              <a:t>its correctness.</a:t>
            </a:r>
            <a:br>
              <a:rPr lang="en-US" sz="2000" dirty="0">
                <a:solidFill>
                  <a:schemeClr val="bg1"/>
                </a:solidFill>
                <a:latin typeface="Times New Roman" pitchFamily="18" charset="0"/>
                <a:cs typeface="Times New Roman" pitchFamily="18" charset="0"/>
              </a:rPr>
            </a:br>
            <a:endParaRPr lang="en-US" sz="2000" dirty="0">
              <a:latin typeface="Times New Roman" pitchFamily="18" charset="0"/>
              <a:cs typeface="Times New Roman" pitchFamily="18" charset="0"/>
            </a:endParaRPr>
          </a:p>
          <a:p>
            <a:pPr>
              <a:lnSpc>
                <a:spcPct val="150000"/>
              </a:lnSpc>
              <a:buNone/>
            </a:pPr>
            <a:endParaRPr lang="en-US" sz="2000" dirty="0">
              <a:latin typeface="Times New Roman" pitchFamily="18" charset="0"/>
              <a:cs typeface="Times New Roman" pitchFamily="18" charset="0"/>
            </a:endParaRPr>
          </a:p>
          <a:p>
            <a:pPr>
              <a:lnSpc>
                <a:spcPct val="150000"/>
              </a:lnSpc>
              <a:buNone/>
            </a:pPr>
            <a:endParaRPr lang="en-US" sz="2000" dirty="0"/>
          </a:p>
        </p:txBody>
      </p:sp>
      <p:pic>
        <p:nvPicPr>
          <p:cNvPr id="3" name="Picture 2" descr="Qualities of good communication-requirements of effective communication"/>
          <p:cNvPicPr/>
          <p:nvPr/>
        </p:nvPicPr>
        <p:blipFill>
          <a:blip r:embed="rId2"/>
          <a:srcRect/>
          <a:stretch>
            <a:fillRect/>
          </a:stretch>
        </p:blipFill>
        <p:spPr bwMode="auto">
          <a:xfrm>
            <a:off x="4953000" y="838201"/>
            <a:ext cx="4191000" cy="4648200"/>
          </a:xfrm>
          <a:prstGeom prst="rect">
            <a:avLst/>
          </a:prstGeom>
          <a:noFill/>
          <a:ln w="9525">
            <a:noFill/>
            <a:miter lim="800000"/>
            <a:headEnd/>
            <a:tailEnd/>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477000"/>
          </a:xfrm>
        </p:spPr>
        <p:txBody>
          <a:bodyPr>
            <a:normAutofit fontScale="92500" lnSpcReduction="10000"/>
          </a:bodyPr>
          <a:lstStyle/>
          <a:p>
            <a:pPr>
              <a:lnSpc>
                <a:spcPct val="150000"/>
              </a:lnSpc>
            </a:pPr>
            <a:endParaRPr lang="en-US" sz="2000" b="1" dirty="0">
              <a:latin typeface="Times New Roman" pitchFamily="18" charset="0"/>
              <a:cs typeface="Times New Roman" pitchFamily="18" charset="0"/>
            </a:endParaRPr>
          </a:p>
          <a:p>
            <a:pPr>
              <a:lnSpc>
                <a:spcPct val="150000"/>
              </a:lnSpc>
              <a:buNone/>
            </a:pPr>
            <a:r>
              <a:rPr lang="en-US" sz="2000" b="1" dirty="0">
                <a:latin typeface="Times New Roman" pitchFamily="18" charset="0"/>
                <a:cs typeface="Times New Roman" pitchFamily="18" charset="0"/>
              </a:rPr>
              <a:t>CONSIDERATION - </a:t>
            </a:r>
          </a:p>
          <a:p>
            <a:pPr>
              <a:lnSpc>
                <a:spcPct val="150000"/>
              </a:lnSpc>
              <a:buNone/>
            </a:pPr>
            <a:r>
              <a:rPr lang="en-US" sz="2000" dirty="0">
                <a:latin typeface="Times New Roman" pitchFamily="18" charset="0"/>
                <a:cs typeface="Times New Roman" pitchFamily="18" charset="0"/>
              </a:rPr>
              <a:t>Consideration means that you prepare every </a:t>
            </a:r>
          </a:p>
          <a:p>
            <a:pPr>
              <a:lnSpc>
                <a:spcPct val="150000"/>
              </a:lnSpc>
              <a:buNone/>
            </a:pPr>
            <a:r>
              <a:rPr lang="en-US" sz="2000" dirty="0">
                <a:latin typeface="Times New Roman" pitchFamily="18" charset="0"/>
                <a:cs typeface="Times New Roman" pitchFamily="18" charset="0"/>
              </a:rPr>
              <a:t>message with the recipient in mind and try to put</a:t>
            </a:r>
          </a:p>
          <a:p>
            <a:pPr>
              <a:lnSpc>
                <a:spcPct val="150000"/>
              </a:lnSpc>
              <a:buNone/>
            </a:pPr>
            <a:r>
              <a:rPr lang="en-US" sz="2000" dirty="0">
                <a:latin typeface="Times New Roman" pitchFamily="18" charset="0"/>
                <a:cs typeface="Times New Roman" pitchFamily="18" charset="0"/>
              </a:rPr>
              <a:t>yourself in his or her place. Try to visualize your</a:t>
            </a:r>
          </a:p>
          <a:p>
            <a:pPr>
              <a:lnSpc>
                <a:spcPct val="150000"/>
              </a:lnSpc>
              <a:buNone/>
            </a:pPr>
            <a:r>
              <a:rPr lang="en-US" sz="2000" dirty="0">
                <a:latin typeface="Times New Roman" pitchFamily="18" charset="0"/>
                <a:cs typeface="Times New Roman" pitchFamily="18" charset="0"/>
              </a:rPr>
              <a:t>readers or listeners with their desires, problems </a:t>
            </a:r>
          </a:p>
          <a:p>
            <a:pPr>
              <a:lnSpc>
                <a:spcPct val="150000"/>
              </a:lnSpc>
              <a:buNone/>
            </a:pPr>
            <a:r>
              <a:rPr lang="en-US" sz="2000" dirty="0">
                <a:latin typeface="Times New Roman" pitchFamily="18" charset="0"/>
                <a:cs typeface="Times New Roman" pitchFamily="18" charset="0"/>
              </a:rPr>
              <a:t>circumstances, emotions, and probable reactions </a:t>
            </a:r>
          </a:p>
          <a:p>
            <a:pPr>
              <a:lnSpc>
                <a:spcPct val="150000"/>
              </a:lnSpc>
              <a:buNone/>
            </a:pPr>
            <a:r>
              <a:rPr lang="en-US" sz="2000" dirty="0">
                <a:latin typeface="Times New Roman" pitchFamily="18" charset="0"/>
                <a:cs typeface="Times New Roman" pitchFamily="18" charset="0"/>
              </a:rPr>
              <a:t>to your request. Then handle the matter from their </a:t>
            </a:r>
          </a:p>
          <a:p>
            <a:pPr>
              <a:lnSpc>
                <a:spcPct val="150000"/>
              </a:lnSpc>
              <a:buNone/>
            </a:pPr>
            <a:r>
              <a:rPr lang="en-US" sz="2000" dirty="0">
                <a:latin typeface="Times New Roman" pitchFamily="18" charset="0"/>
                <a:cs typeface="Times New Roman" pitchFamily="18" charset="0"/>
              </a:rPr>
              <a:t>point of view. This thoughtful consideration is</a:t>
            </a:r>
          </a:p>
          <a:p>
            <a:pPr>
              <a:lnSpc>
                <a:spcPct val="150000"/>
              </a:lnSpc>
              <a:buNone/>
            </a:pPr>
            <a:r>
              <a:rPr lang="en-US" sz="2000" dirty="0">
                <a:latin typeface="Times New Roman" pitchFamily="18" charset="0"/>
                <a:cs typeface="Times New Roman" pitchFamily="18" charset="0"/>
              </a:rPr>
              <a:t>also called "you-attitude," empathy, the  human</a:t>
            </a:r>
          </a:p>
          <a:p>
            <a:pPr>
              <a:lnSpc>
                <a:spcPct val="150000"/>
              </a:lnSpc>
              <a:buNone/>
            </a:pPr>
            <a:r>
              <a:rPr lang="en-US" sz="2000" dirty="0">
                <a:latin typeface="Times New Roman" pitchFamily="18" charset="0"/>
                <a:cs typeface="Times New Roman" pitchFamily="18" charset="0"/>
              </a:rPr>
              <a:t>touch, and understanding of human nature.</a:t>
            </a:r>
          </a:p>
          <a:p>
            <a:pPr>
              <a:lnSpc>
                <a:spcPct val="150000"/>
              </a:lnSpc>
              <a:buNone/>
            </a:pPr>
            <a:r>
              <a:rPr lang="en-US" sz="2000" dirty="0">
                <a:latin typeface="Times New Roman" pitchFamily="18" charset="0"/>
                <a:cs typeface="Times New Roman" pitchFamily="18" charset="0"/>
              </a:rPr>
              <a:t>(It does not mean, however, that you should overlook the needs of your</a:t>
            </a:r>
          </a:p>
          <a:p>
            <a:pPr>
              <a:lnSpc>
                <a:spcPct val="150000"/>
              </a:lnSpc>
              <a:buNone/>
            </a:pPr>
            <a:r>
              <a:rPr lang="en-US" sz="2000" dirty="0">
                <a:latin typeface="Times New Roman" pitchFamily="18" charset="0"/>
                <a:cs typeface="Times New Roman" pitchFamily="18" charset="0"/>
              </a:rPr>
              <a:t>organization.) </a:t>
            </a:r>
            <a:br>
              <a:rPr lang="en-US" sz="2000" b="1" dirty="0"/>
            </a:br>
            <a:endParaRPr lang="en-US" sz="2000" dirty="0">
              <a:latin typeface="Times New Roman" pitchFamily="18" charset="0"/>
              <a:cs typeface="Times New Roman" pitchFamily="18" charset="0"/>
            </a:endParaRPr>
          </a:p>
          <a:p>
            <a:pPr>
              <a:lnSpc>
                <a:spcPct val="150000"/>
              </a:lnSpc>
              <a:buNone/>
            </a:pPr>
            <a:endParaRPr lang="en-US" sz="2000" dirty="0">
              <a:latin typeface="Times New Roman" pitchFamily="18" charset="0"/>
              <a:cs typeface="Times New Roman" pitchFamily="18" charset="0"/>
            </a:endParaRPr>
          </a:p>
          <a:p>
            <a:pPr>
              <a:buNone/>
            </a:pPr>
            <a:endParaRPr lang="en-US" dirty="0"/>
          </a:p>
        </p:txBody>
      </p:sp>
      <p:pic>
        <p:nvPicPr>
          <p:cNvPr id="3" name="Picture 2" descr="Image result for consideration in communication"/>
          <p:cNvPicPr/>
          <p:nvPr/>
        </p:nvPicPr>
        <p:blipFill>
          <a:blip r:embed="rId2"/>
          <a:srcRect/>
          <a:stretch>
            <a:fillRect/>
          </a:stretch>
        </p:blipFill>
        <p:spPr bwMode="auto">
          <a:xfrm>
            <a:off x="5029200" y="228600"/>
            <a:ext cx="3781425" cy="4876800"/>
          </a:xfrm>
          <a:prstGeom prst="rect">
            <a:avLst/>
          </a:prstGeom>
          <a:noFill/>
          <a:ln w="9525">
            <a:noFill/>
            <a:miter lim="800000"/>
            <a:headEnd/>
            <a:tailEnd/>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629400"/>
          </a:xfrm>
        </p:spPr>
        <p:txBody>
          <a:bodyPr>
            <a:normAutofit/>
          </a:bodyPr>
          <a:lstStyle/>
          <a:p>
            <a:pPr>
              <a:lnSpc>
                <a:spcPct val="150000"/>
              </a:lnSpc>
              <a:buNone/>
            </a:pPr>
            <a:endParaRPr lang="en-US" sz="2000" b="1" dirty="0">
              <a:latin typeface="Times New Roman" pitchFamily="18" charset="0"/>
              <a:cs typeface="Times New Roman" pitchFamily="18" charset="0"/>
            </a:endParaRPr>
          </a:p>
          <a:p>
            <a:pPr>
              <a:lnSpc>
                <a:spcPct val="150000"/>
              </a:lnSpc>
              <a:buNone/>
            </a:pPr>
            <a:r>
              <a:rPr lang="en-US" sz="2000" b="1" dirty="0">
                <a:latin typeface="Times New Roman" pitchFamily="18" charset="0"/>
                <a:cs typeface="Times New Roman" pitchFamily="18" charset="0"/>
              </a:rPr>
              <a:t>CONSIDERATION CONT…</a:t>
            </a:r>
          </a:p>
          <a:p>
            <a:pPr>
              <a:lnSpc>
                <a:spcPct val="150000"/>
              </a:lnSpc>
              <a:buNone/>
            </a:pPr>
            <a:r>
              <a:rPr lang="en-US" sz="2000" dirty="0">
                <a:latin typeface="Times New Roman" pitchFamily="18" charset="0"/>
                <a:cs typeface="Times New Roman" pitchFamily="18" charset="0"/>
              </a:rPr>
              <a:t>Consideration underlies the other six C's of good business communication You adapt</a:t>
            </a:r>
          </a:p>
          <a:p>
            <a:pPr>
              <a:lnSpc>
                <a:spcPct val="150000"/>
              </a:lnSpc>
              <a:buNone/>
            </a:pPr>
            <a:r>
              <a:rPr lang="en-US" sz="2000" dirty="0">
                <a:latin typeface="Times New Roman" pitchFamily="18" charset="0"/>
                <a:cs typeface="Times New Roman" pitchFamily="18" charset="0"/>
              </a:rPr>
              <a:t>your language and message content to your receiver's needs when you make your</a:t>
            </a:r>
          </a:p>
          <a:p>
            <a:pPr>
              <a:lnSpc>
                <a:spcPct val="150000"/>
              </a:lnSpc>
              <a:buNone/>
            </a:pPr>
            <a:r>
              <a:rPr lang="en-US" sz="2000" dirty="0">
                <a:latin typeface="Times New Roman" pitchFamily="18" charset="0"/>
                <a:cs typeface="Times New Roman" pitchFamily="18" charset="0"/>
              </a:rPr>
              <a:t>message complete, concise, concrete, clear, courteous, and correct. However, in four</a:t>
            </a:r>
          </a:p>
          <a:p>
            <a:pPr>
              <a:lnSpc>
                <a:spcPct val="150000"/>
              </a:lnSpc>
              <a:buNone/>
            </a:pPr>
            <a:r>
              <a:rPr lang="en-US" sz="2000" dirty="0">
                <a:latin typeface="Times New Roman" pitchFamily="18" charset="0"/>
                <a:cs typeface="Times New Roman" pitchFamily="18" charset="0"/>
              </a:rPr>
              <a:t>specific ways you can indicate you are considerate:</a:t>
            </a:r>
          </a:p>
          <a:p>
            <a:pPr>
              <a:lnSpc>
                <a:spcPct val="150000"/>
              </a:lnSpc>
              <a:buFont typeface="Wingdings" pitchFamily="2" charset="2"/>
              <a:buChar char="Ø"/>
            </a:pPr>
            <a:r>
              <a:rPr lang="en-US" sz="2000" dirty="0">
                <a:latin typeface="Times New Roman" pitchFamily="18" charset="0"/>
                <a:cs typeface="Times New Roman" pitchFamily="18" charset="0"/>
              </a:rPr>
              <a:t>Focus on "you" instead of "I" and "we.“</a:t>
            </a:r>
          </a:p>
          <a:p>
            <a:pPr>
              <a:lnSpc>
                <a:spcPct val="150000"/>
              </a:lnSpc>
              <a:buFont typeface="Wingdings" pitchFamily="2" charset="2"/>
              <a:buChar char="Ø"/>
            </a:pPr>
            <a:r>
              <a:rPr lang="en-US" sz="2000" dirty="0">
                <a:latin typeface="Times New Roman" pitchFamily="18" charset="0"/>
                <a:cs typeface="Times New Roman" pitchFamily="18" charset="0"/>
              </a:rPr>
              <a:t>Show reader benefit or interest in reader.</a:t>
            </a:r>
          </a:p>
          <a:p>
            <a:pPr>
              <a:lnSpc>
                <a:spcPct val="150000"/>
              </a:lnSpc>
              <a:buFont typeface="Wingdings" pitchFamily="2" charset="2"/>
              <a:buChar char="Ø"/>
            </a:pPr>
            <a:r>
              <a:rPr lang="en-US" sz="2000" dirty="0">
                <a:latin typeface="Times New Roman" pitchFamily="18" charset="0"/>
                <a:cs typeface="Times New Roman" pitchFamily="18" charset="0"/>
              </a:rPr>
              <a:t>Emphasize positive, pleasant facts.</a:t>
            </a:r>
          </a:p>
          <a:p>
            <a:pPr>
              <a:lnSpc>
                <a:spcPct val="150000"/>
              </a:lnSpc>
              <a:buFont typeface="Wingdings" pitchFamily="2" charset="2"/>
              <a:buChar char="Ø"/>
            </a:pPr>
            <a:r>
              <a:rPr lang="en-US" sz="2000" dirty="0">
                <a:latin typeface="Times New Roman" pitchFamily="18" charset="0"/>
                <a:cs typeface="Times New Roman" pitchFamily="18" charset="0"/>
              </a:rPr>
              <a:t>Apply integrity and ethic</a:t>
            </a:r>
            <a:br>
              <a:rPr lang="en-US" sz="2000" dirty="0">
                <a:latin typeface="Times New Roman" pitchFamily="18" charset="0"/>
                <a:cs typeface="Times New Roman" pitchFamily="18" charset="0"/>
              </a:rPr>
            </a:br>
            <a:endParaRPr lang="en-US" sz="2000" dirty="0">
              <a:latin typeface="Times New Roman" pitchFamily="18" charset="0"/>
              <a:cs typeface="Times New Roman" pitchFamily="18" charset="0"/>
            </a:endParaRPr>
          </a:p>
          <a:p>
            <a:pPr>
              <a:buNone/>
            </a:pPr>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629400"/>
          </a:xfrm>
        </p:spPr>
        <p:txBody>
          <a:bodyPr>
            <a:normAutofit/>
          </a:bodyPr>
          <a:lstStyle/>
          <a:p>
            <a:pPr>
              <a:lnSpc>
                <a:spcPct val="150000"/>
              </a:lnSpc>
              <a:buNone/>
            </a:pPr>
            <a:endParaRPr lang="en-US" sz="2000" dirty="0">
              <a:latin typeface="Times New Roman" pitchFamily="18" charset="0"/>
              <a:cs typeface="Times New Roman" pitchFamily="18" charset="0"/>
            </a:endParaRPr>
          </a:p>
          <a:p>
            <a:pPr>
              <a:lnSpc>
                <a:spcPct val="150000"/>
              </a:lnSpc>
              <a:buNone/>
            </a:pPr>
            <a:r>
              <a:rPr lang="en-US" sz="2000" b="1" dirty="0">
                <a:latin typeface="Times New Roman" pitchFamily="18" charset="0"/>
                <a:cs typeface="Times New Roman" pitchFamily="18" charset="0"/>
              </a:rPr>
              <a:t>COURTESY - </a:t>
            </a:r>
          </a:p>
          <a:p>
            <a:pPr>
              <a:lnSpc>
                <a:spcPct val="150000"/>
              </a:lnSpc>
              <a:buNone/>
            </a:pPr>
            <a:r>
              <a:rPr lang="en-US" sz="2000" dirty="0">
                <a:latin typeface="Times New Roman" pitchFamily="18" charset="0"/>
                <a:cs typeface="Times New Roman" pitchFamily="18" charset="0"/>
              </a:rPr>
              <a:t>Courteous messages help to strengthen present business friendships, as well as make</a:t>
            </a:r>
          </a:p>
          <a:p>
            <a:pPr>
              <a:lnSpc>
                <a:spcPct val="150000"/>
              </a:lnSpc>
              <a:buNone/>
            </a:pPr>
            <a:r>
              <a:rPr lang="en-US" sz="2000" dirty="0">
                <a:latin typeface="Times New Roman" pitchFamily="18" charset="0"/>
                <a:cs typeface="Times New Roman" pitchFamily="18" charset="0"/>
              </a:rPr>
              <a:t>new friends. Courtesy stems from sincere you-attitude. It is not merely politeness with</a:t>
            </a:r>
          </a:p>
          <a:p>
            <a:pPr>
              <a:lnSpc>
                <a:spcPct val="150000"/>
              </a:lnSpc>
              <a:buNone/>
            </a:pPr>
            <a:r>
              <a:rPr lang="en-US" sz="2000" dirty="0">
                <a:latin typeface="Times New Roman" pitchFamily="18" charset="0"/>
                <a:cs typeface="Times New Roman" pitchFamily="18" charset="0"/>
              </a:rPr>
              <a:t>mechanical insertions of "please" and "thank-you'd." To be courteous, considerate</a:t>
            </a:r>
          </a:p>
          <a:p>
            <a:pPr>
              <a:lnSpc>
                <a:spcPct val="150000"/>
              </a:lnSpc>
              <a:buNone/>
            </a:pPr>
            <a:r>
              <a:rPr lang="en-US" sz="2000" dirty="0">
                <a:latin typeface="Times New Roman" pitchFamily="18" charset="0"/>
                <a:cs typeface="Times New Roman" pitchFamily="18" charset="0"/>
              </a:rPr>
              <a:t>communicators should follow these suggestions regarding tone of the</a:t>
            </a:r>
          </a:p>
          <a:p>
            <a:pPr>
              <a:lnSpc>
                <a:spcPct val="150000"/>
              </a:lnSpc>
              <a:buNone/>
            </a:pPr>
            <a:r>
              <a:rPr lang="en-US" sz="2000" dirty="0">
                <a:latin typeface="Times New Roman" pitchFamily="18" charset="0"/>
                <a:cs typeface="Times New Roman" pitchFamily="18" charset="0"/>
              </a:rPr>
              <a:t>communications.</a:t>
            </a:r>
          </a:p>
          <a:p>
            <a:pPr>
              <a:lnSpc>
                <a:spcPct val="150000"/>
              </a:lnSpc>
              <a:buFont typeface="Wingdings" pitchFamily="2" charset="2"/>
              <a:buChar char="Ø"/>
            </a:pPr>
            <a:r>
              <a:rPr lang="en-US" sz="2000" dirty="0">
                <a:latin typeface="Times New Roman" pitchFamily="18" charset="0"/>
                <a:cs typeface="Times New Roman" pitchFamily="18" charset="0"/>
              </a:rPr>
              <a:t>Be sincerely tactful, thoughtful, and appreciative. </a:t>
            </a:r>
          </a:p>
          <a:p>
            <a:pPr>
              <a:lnSpc>
                <a:spcPct val="150000"/>
              </a:lnSpc>
              <a:buFont typeface="Wingdings" pitchFamily="2" charset="2"/>
              <a:buChar char="Ø"/>
            </a:pPr>
            <a:r>
              <a:rPr lang="en-US" sz="2000" dirty="0">
                <a:latin typeface="Times New Roman" pitchFamily="18" charset="0"/>
                <a:cs typeface="Times New Roman" pitchFamily="18" charset="0"/>
              </a:rPr>
              <a:t>Omit expressions that irritate, hurt, or belittle. </a:t>
            </a:r>
          </a:p>
          <a:p>
            <a:pPr>
              <a:lnSpc>
                <a:spcPct val="150000"/>
              </a:lnSpc>
              <a:buFont typeface="Wingdings" pitchFamily="2" charset="2"/>
              <a:buChar char="Ø"/>
            </a:pPr>
            <a:r>
              <a:rPr lang="en-US" sz="2000" dirty="0">
                <a:latin typeface="Times New Roman" pitchFamily="18" charset="0"/>
                <a:cs typeface="Times New Roman" pitchFamily="18" charset="0"/>
              </a:rPr>
              <a:t>Grant and apologize good-naturedly.</a:t>
            </a:r>
            <a:br>
              <a:rPr lang="en-US" sz="2000" b="1" dirty="0"/>
            </a:br>
            <a:endParaRPr lang="en-US" sz="2000" dirty="0">
              <a:latin typeface="Times New Roman" pitchFamily="18" charset="0"/>
              <a:cs typeface="Times New Roman" pitchFamily="18" charset="0"/>
            </a:endParaRPr>
          </a:p>
          <a:p>
            <a:pPr>
              <a:lnSpc>
                <a:spcPct val="150000"/>
              </a:lnSpc>
              <a:buNone/>
            </a:pPr>
            <a:endParaRPr lang="en-US" sz="2000" dirty="0">
              <a:latin typeface="Times New Roman" pitchFamily="18" charset="0"/>
              <a:cs typeface="Times New Roman" pitchFamily="18" charset="0"/>
            </a:endParaRPr>
          </a:p>
          <a:p>
            <a:pPr>
              <a:buNone/>
            </a:pPr>
            <a:endParaRPr lang="en-US" dirty="0"/>
          </a:p>
        </p:txBody>
      </p:sp>
      <p:pic>
        <p:nvPicPr>
          <p:cNvPr id="3" name="Picture 4" descr="C:\Documents and Settings\deepak\Desktop\ppt\communication9c\images\9.jpg"/>
          <p:cNvPicPr>
            <a:picLocks noChangeAspect="1" noChangeArrowheads="1"/>
          </p:cNvPicPr>
          <p:nvPr/>
        </p:nvPicPr>
        <p:blipFill>
          <a:blip r:embed="rId2" cstate="print"/>
          <a:srcRect/>
          <a:stretch>
            <a:fillRect/>
          </a:stretch>
        </p:blipFill>
        <p:spPr bwMode="auto">
          <a:xfrm>
            <a:off x="5486400" y="3124200"/>
            <a:ext cx="3657600" cy="3124200"/>
          </a:xfrm>
          <a:prstGeom prst="rect">
            <a:avLst/>
          </a:prstGeom>
          <a:noFill/>
          <a:ln w="9525">
            <a:noFill/>
            <a:miter lim="800000"/>
            <a:headEnd/>
            <a:tailEnd/>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normAutofit/>
          </a:bodyPr>
          <a:lstStyle/>
          <a:p>
            <a:pPr>
              <a:lnSpc>
                <a:spcPct val="150000"/>
              </a:lnSpc>
              <a:buNone/>
            </a:pPr>
            <a:endParaRPr lang="en-US" sz="2000" b="1" dirty="0">
              <a:latin typeface="Times New Roman" pitchFamily="18" charset="0"/>
              <a:cs typeface="Times New Roman" pitchFamily="18" charset="0"/>
            </a:endParaRPr>
          </a:p>
          <a:p>
            <a:pPr>
              <a:lnSpc>
                <a:spcPct val="150000"/>
              </a:lnSpc>
              <a:buNone/>
            </a:pPr>
            <a:r>
              <a:rPr lang="en-US" sz="2000" b="1" dirty="0">
                <a:latin typeface="Times New Roman" pitchFamily="18" charset="0"/>
                <a:cs typeface="Times New Roman" pitchFamily="18" charset="0"/>
              </a:rPr>
              <a:t>CONCRETENESS - </a:t>
            </a:r>
          </a:p>
          <a:p>
            <a:pPr>
              <a:lnSpc>
                <a:spcPct val="150000"/>
              </a:lnSpc>
              <a:buNone/>
            </a:pPr>
            <a:r>
              <a:rPr lang="en-US" sz="2000" dirty="0">
                <a:latin typeface="Times New Roman" pitchFamily="18" charset="0"/>
                <a:cs typeface="Times New Roman" pitchFamily="18" charset="0"/>
              </a:rPr>
              <a:t>Communicating concretely means being specific, definite, and vivid rather than vague</a:t>
            </a:r>
          </a:p>
          <a:p>
            <a:pPr>
              <a:lnSpc>
                <a:spcPct val="150000"/>
              </a:lnSpc>
              <a:buNone/>
            </a:pPr>
            <a:r>
              <a:rPr lang="en-US" sz="2000" dirty="0">
                <a:latin typeface="Times New Roman" pitchFamily="18" charset="0"/>
                <a:cs typeface="Times New Roman" pitchFamily="18" charset="0"/>
              </a:rPr>
              <a:t>and general. The following guidelines </a:t>
            </a:r>
          </a:p>
          <a:p>
            <a:pPr>
              <a:lnSpc>
                <a:spcPct val="150000"/>
              </a:lnSpc>
              <a:buNone/>
            </a:pPr>
            <a:r>
              <a:rPr lang="en-US" sz="2000" dirty="0">
                <a:latin typeface="Times New Roman" pitchFamily="18" charset="0"/>
                <a:cs typeface="Times New Roman" pitchFamily="18" charset="0"/>
              </a:rPr>
              <a:t>should help you compose concrete, </a:t>
            </a:r>
          </a:p>
          <a:p>
            <a:pPr>
              <a:lnSpc>
                <a:spcPct val="150000"/>
              </a:lnSpc>
              <a:buNone/>
            </a:pPr>
            <a:r>
              <a:rPr lang="en-US" sz="2000" dirty="0">
                <a:latin typeface="Times New Roman" pitchFamily="18" charset="0"/>
                <a:cs typeface="Times New Roman" pitchFamily="18" charset="0"/>
              </a:rPr>
              <a:t>convincing messages:</a:t>
            </a:r>
          </a:p>
          <a:p>
            <a:pPr>
              <a:lnSpc>
                <a:spcPct val="150000"/>
              </a:lnSpc>
              <a:buFont typeface="Wingdings" pitchFamily="2" charset="2"/>
              <a:buChar char="Ø"/>
            </a:pPr>
            <a:r>
              <a:rPr lang="en-US" sz="2000" dirty="0">
                <a:latin typeface="Times New Roman" pitchFamily="18" charset="0"/>
                <a:cs typeface="Times New Roman" pitchFamily="18" charset="0"/>
              </a:rPr>
              <a:t>Use specific facts and figures. </a:t>
            </a:r>
          </a:p>
          <a:p>
            <a:pPr>
              <a:lnSpc>
                <a:spcPct val="150000"/>
              </a:lnSpc>
              <a:buFont typeface="Wingdings" pitchFamily="2" charset="2"/>
              <a:buChar char="Ø"/>
            </a:pPr>
            <a:r>
              <a:rPr lang="en-US" sz="2000" dirty="0">
                <a:latin typeface="Times New Roman" pitchFamily="18" charset="0"/>
                <a:cs typeface="Times New Roman" pitchFamily="18" charset="0"/>
              </a:rPr>
              <a:t>Put action in your verbs.</a:t>
            </a:r>
          </a:p>
          <a:p>
            <a:pPr>
              <a:lnSpc>
                <a:spcPct val="150000"/>
              </a:lnSpc>
              <a:buFont typeface="Wingdings" pitchFamily="2" charset="2"/>
              <a:buChar char="Ø"/>
            </a:pPr>
            <a:r>
              <a:rPr lang="en-US" sz="2000" dirty="0">
                <a:latin typeface="Times New Roman" pitchFamily="18" charset="0"/>
                <a:cs typeface="Times New Roman" pitchFamily="18" charset="0"/>
              </a:rPr>
              <a:t>Choose vivid, image-building words.       </a:t>
            </a:r>
            <a:endParaRPr lang="en-US" dirty="0">
              <a:latin typeface="Times New Roman" pitchFamily="18" charset="0"/>
              <a:cs typeface="Times New Roman" pitchFamily="18" charset="0"/>
            </a:endParaRPr>
          </a:p>
        </p:txBody>
      </p:sp>
      <p:pic>
        <p:nvPicPr>
          <p:cNvPr id="4" name="Picture 3" descr="Image result for conCRETENESS in communication"/>
          <p:cNvPicPr/>
          <p:nvPr/>
        </p:nvPicPr>
        <p:blipFill>
          <a:blip r:embed="rId2"/>
          <a:srcRect/>
          <a:stretch>
            <a:fillRect/>
          </a:stretch>
        </p:blipFill>
        <p:spPr bwMode="auto">
          <a:xfrm>
            <a:off x="4495800" y="2057400"/>
            <a:ext cx="4648200" cy="4343400"/>
          </a:xfrm>
          <a:prstGeom prst="rect">
            <a:avLst/>
          </a:prstGeom>
          <a:noFill/>
          <a:ln w="9525">
            <a:noFill/>
            <a:miter lim="800000"/>
            <a:headEnd/>
            <a:tailEnd/>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lstStyle/>
          <a:p>
            <a:pPr algn="ctr">
              <a:buNone/>
            </a:pPr>
            <a:endParaRPr lang="en-US" sz="6600" b="1" dirty="0">
              <a:latin typeface="Times New Roman" pitchFamily="18" charset="0"/>
              <a:cs typeface="Times New Roman" pitchFamily="18" charset="0"/>
            </a:endParaRPr>
          </a:p>
          <a:p>
            <a:pPr algn="ctr">
              <a:buNone/>
            </a:pPr>
            <a:endParaRPr lang="en-US" sz="6600" b="1" dirty="0">
              <a:latin typeface="Times New Roman" pitchFamily="18" charset="0"/>
              <a:cs typeface="Times New Roman" pitchFamily="18" charset="0"/>
            </a:endParaRPr>
          </a:p>
          <a:p>
            <a:pPr algn="ctr">
              <a:buNone/>
            </a:pPr>
            <a:r>
              <a:rPr lang="en-US" sz="6600" b="1" dirty="0">
                <a:latin typeface="Times New Roman" pitchFamily="18" charset="0"/>
                <a:cs typeface="Times New Roman" pitchFamily="18" charset="0"/>
              </a:rPr>
              <a:t>QUERY !</a:t>
            </a:r>
          </a:p>
          <a:p>
            <a:pPr>
              <a:buNone/>
            </a:pPr>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0"/>
            <a:ext cx="9144000" cy="6858000"/>
          </a:xfrm>
        </p:spPr>
        <p:txBody>
          <a:bodyPr/>
          <a:lstStyle/>
          <a:p>
            <a:pPr algn="ctr">
              <a:buNone/>
            </a:pPr>
            <a:endParaRPr lang="en-US" sz="2800" b="1" dirty="0">
              <a:latin typeface="Times New Roman" pitchFamily="18" charset="0"/>
              <a:cs typeface="Times New Roman" pitchFamily="18" charset="0"/>
            </a:endParaRPr>
          </a:p>
          <a:p>
            <a:pPr algn="ctr">
              <a:buNone/>
            </a:pPr>
            <a:endParaRPr lang="en-US" sz="2800" b="1" dirty="0">
              <a:latin typeface="Times New Roman" pitchFamily="18" charset="0"/>
              <a:cs typeface="Times New Roman" pitchFamily="18" charset="0"/>
            </a:endParaRPr>
          </a:p>
          <a:p>
            <a:pPr algn="ctr">
              <a:buNone/>
            </a:pPr>
            <a:endParaRPr lang="en-US" sz="6600" b="1" dirty="0">
              <a:latin typeface="Times New Roman" pitchFamily="18" charset="0"/>
              <a:cs typeface="Times New Roman" pitchFamily="18" charset="0"/>
            </a:endParaRPr>
          </a:p>
          <a:p>
            <a:pPr algn="ctr">
              <a:buNone/>
            </a:pPr>
            <a:r>
              <a:rPr lang="en-US" sz="6600" b="1" dirty="0">
                <a:latin typeface="Times New Roman" pitchFamily="18" charset="0"/>
                <a:cs typeface="Times New Roman" pitchFamily="18" charset="0"/>
              </a:rPr>
              <a:t>THANK YOU !</a:t>
            </a:r>
          </a:p>
          <a:p>
            <a:pPr>
              <a:buNone/>
            </a:pPr>
            <a:endParaRPr lang="en-US" dirty="0"/>
          </a:p>
        </p:txBody>
      </p:sp>
      <p:pic>
        <p:nvPicPr>
          <p:cNvPr id="1026" name="Picture 2" descr="C:\Users\Aietm\AppData\Local\Microsoft\Windows\Temporary Internet Files\Content.IE5\MBIFY1SF\original_smiley_face[1].png"/>
          <p:cNvPicPr>
            <a:picLocks noChangeAspect="1" noChangeArrowheads="1"/>
          </p:cNvPicPr>
          <p:nvPr/>
        </p:nvPicPr>
        <p:blipFill>
          <a:blip r:embed="rId2"/>
          <a:srcRect/>
          <a:stretch>
            <a:fillRect/>
          </a:stretch>
        </p:blipFill>
        <p:spPr bwMode="auto">
          <a:xfrm>
            <a:off x="6553200" y="4648200"/>
            <a:ext cx="1981200" cy="1828800"/>
          </a:xfrm>
          <a:prstGeom prst="rect">
            <a:avLst/>
          </a:prstGeom>
          <a:noFill/>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spDef>
      <a:spPr/>
      <a:bodyPr wrap="square">
        <a:spAutoFit/>
      </a:bodyPr>
      <a:lstStyle>
        <a:defPPr>
          <a:defRPr dirty="0" smtClean="0"/>
        </a:defPPr>
      </a:lst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E9CD9E7D940C147A1DC260109959B3E" ma:contentTypeVersion="0" ma:contentTypeDescription="Create a new document." ma:contentTypeScope="" ma:versionID="6006666a4a1b1882b1dbf4c27ee73a5c">
  <xsd:schema xmlns:xsd="http://www.w3.org/2001/XMLSchema" xmlns:xs="http://www.w3.org/2001/XMLSchema" xmlns:p="http://schemas.microsoft.com/office/2006/metadata/properties" targetNamespace="http://schemas.microsoft.com/office/2006/metadata/properties" ma:root="true" ma:fieldsID="0967b7be50301903c78f9c39c6fd9af8">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3EC5671-7EBA-4FB8-8444-D3F0306D658B}">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24D0100A-39D6-480C-9D4A-1A48F2D6058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68CC13C0-171C-45BE-AB3D-3E88A54CA43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1548</TotalTime>
  <Words>4371</Words>
  <Application>Microsoft Office PowerPoint</Application>
  <PresentationFormat>On-screen Show (4:3)</PresentationFormat>
  <Paragraphs>514</Paragraphs>
  <Slides>63</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63</vt:i4>
      </vt:variant>
    </vt:vector>
  </HeadingPairs>
  <TitlesOfParts>
    <vt:vector size="73" baseType="lpstr">
      <vt:lpstr>Ace</vt:lpstr>
      <vt:lpstr>Arial</vt:lpstr>
      <vt:lpstr>Calibri</vt:lpstr>
      <vt:lpstr>Lucida Sans Unicode</vt:lpstr>
      <vt:lpstr>Times New Roman</vt:lpstr>
      <vt:lpstr>Verdana</vt:lpstr>
      <vt:lpstr>Wingdings</vt:lpstr>
      <vt:lpstr>Wingdings 2</vt:lpstr>
      <vt:lpstr>Wingdings 3</vt:lpstr>
      <vt:lpstr>Concourse</vt:lpstr>
      <vt:lpstr>MODULE – II  VERBAL AND NONVERBAL OF COMMUNICATION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IV- GRAMMAR</dc:title>
  <dc:creator>HCL</dc:creator>
  <cp:lastModifiedBy>iutkarshydv@gmail.com</cp:lastModifiedBy>
  <cp:revision>395</cp:revision>
  <dcterms:created xsi:type="dcterms:W3CDTF">2006-08-16T00:00:00Z</dcterms:created>
  <dcterms:modified xsi:type="dcterms:W3CDTF">2022-12-19T04:50:35Z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0x0101002E9CD9E7D940C147A1DC260109959B3E</vt:lpwstr>
  </property>
</Properties>
</file>