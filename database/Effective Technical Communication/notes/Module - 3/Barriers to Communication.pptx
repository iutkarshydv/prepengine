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s/slide32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3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7.xml" ContentType="application/vnd.openxmlformats-officedocument.presentationml.slide+xml"/>
  <Override PartName="/ppt/slides/slide36.xml" ContentType="application/vnd.openxmlformats-officedocument.presentationml.slide+xml"/>
  <Override PartName="/ppt/slides/slide35.xml" ContentType="application/vnd.openxmlformats-officedocument.presentationml.slide+xml"/>
  <Override PartName="/ppt/slides/slide34.xml" ContentType="application/vnd.openxmlformats-officedocument.presentationml.slide+xml"/>
  <Override PartName="/ppt/slides/slide33.xml" ContentType="application/vnd.openxmlformats-officedocument.presentationml.slide+xml"/>
  <Override PartName="/ppt/slides/slide38.xml" ContentType="application/vnd.openxmlformats-officedocument.presentationml.slide+xml"/>
  <Override PartName="/ppt/slides/slide30.xml" ContentType="application/vnd.openxmlformats-officedocument.presentationml.slide+xml"/>
  <Override PartName="/ppt/slides/slide29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2.xml" ContentType="application/vnd.openxmlformats-officedocument.presentationml.notesSlide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6" r:id="rId1"/>
  </p:sldMasterIdLst>
  <p:notesMasterIdLst>
    <p:notesMasterId r:id="rId40"/>
  </p:notesMasterIdLst>
  <p:sldIdLst>
    <p:sldId id="258" r:id="rId2"/>
    <p:sldId id="259" r:id="rId3"/>
    <p:sldId id="260" r:id="rId4"/>
    <p:sldId id="261" r:id="rId5"/>
    <p:sldId id="264" r:id="rId6"/>
    <p:sldId id="262" r:id="rId7"/>
    <p:sldId id="263" r:id="rId8"/>
    <p:sldId id="276" r:id="rId9"/>
    <p:sldId id="277" r:id="rId10"/>
    <p:sldId id="278" r:id="rId11"/>
    <p:sldId id="279" r:id="rId12"/>
    <p:sldId id="270" r:id="rId13"/>
    <p:sldId id="286" r:id="rId14"/>
    <p:sldId id="271" r:id="rId15"/>
    <p:sldId id="273" r:id="rId16"/>
    <p:sldId id="274" r:id="rId17"/>
    <p:sldId id="275" r:id="rId18"/>
    <p:sldId id="284" r:id="rId19"/>
    <p:sldId id="285" r:id="rId20"/>
    <p:sldId id="268" r:id="rId21"/>
    <p:sldId id="293" r:id="rId22"/>
    <p:sldId id="294" r:id="rId23"/>
    <p:sldId id="295" r:id="rId24"/>
    <p:sldId id="269" r:id="rId25"/>
    <p:sldId id="288" r:id="rId26"/>
    <p:sldId id="289" r:id="rId27"/>
    <p:sldId id="290" r:id="rId28"/>
    <p:sldId id="291" r:id="rId29"/>
    <p:sldId id="292" r:id="rId30"/>
    <p:sldId id="266" r:id="rId31"/>
    <p:sldId id="297" r:id="rId32"/>
    <p:sldId id="298" r:id="rId33"/>
    <p:sldId id="299" r:id="rId34"/>
    <p:sldId id="300" r:id="rId35"/>
    <p:sldId id="296" r:id="rId36"/>
    <p:sldId id="301" r:id="rId37"/>
    <p:sldId id="302" r:id="rId38"/>
    <p:sldId id="303" r:id="rId3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6" autoAdjust="0"/>
    <p:restoredTop sz="94660"/>
  </p:normalViewPr>
  <p:slideViewPr>
    <p:cSldViewPr>
      <p:cViewPr varScale="1">
        <p:scale>
          <a:sx n="69" d="100"/>
          <a:sy n="69" d="100"/>
        </p:scale>
        <p:origin x="-123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47" Type="http://schemas.openxmlformats.org/officeDocument/2006/relationships/customXml" Target="../customXml/item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customXml" Target="../customXml/item2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4A93AC-B12A-417E-BEBE-5A5503A43CE8}" type="datetimeFigureOut">
              <a:rPr lang="en-US" smtClean="0"/>
              <a:pPr/>
              <a:t>11/7/2022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B20819-D427-43BE-8EBE-2AE9D714ED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737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B20819-D427-43BE-8EBE-2AE9D714ED90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759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rate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538055-F776-4936-A5C7-BA9196A8E966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7841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6DE53-C84A-44F5-8CDB-75775D43BF07}" type="datetimeFigureOut">
              <a:rPr lang="en-US" smtClean="0"/>
              <a:pPr/>
              <a:t>11/7/2022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D25D1-6C17-4C9E-847D-BD1B6679C1E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6DE53-C84A-44F5-8CDB-75775D43BF07}" type="datetimeFigureOut">
              <a:rPr lang="en-US" smtClean="0"/>
              <a:pPr/>
              <a:t>11/7/2022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D25D1-6C17-4C9E-847D-BD1B6679C1E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6DE53-C84A-44F5-8CDB-75775D43BF07}" type="datetimeFigureOut">
              <a:rPr lang="en-US" smtClean="0"/>
              <a:pPr/>
              <a:t>11/7/2022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D25D1-6C17-4C9E-847D-BD1B6679C1E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6DE53-C84A-44F5-8CDB-75775D43BF07}" type="datetimeFigureOut">
              <a:rPr lang="en-US" smtClean="0"/>
              <a:pPr/>
              <a:t>11/7/2022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D25D1-6C17-4C9E-847D-BD1B6679C1E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6DE53-C84A-44F5-8CDB-75775D43BF07}" type="datetimeFigureOut">
              <a:rPr lang="en-US" smtClean="0"/>
              <a:pPr/>
              <a:t>11/7/2022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D25D1-6C17-4C9E-847D-BD1B6679C1E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6DE53-C84A-44F5-8CDB-75775D43BF07}" type="datetimeFigureOut">
              <a:rPr lang="en-US" smtClean="0"/>
              <a:pPr/>
              <a:t>11/7/2022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D25D1-6C17-4C9E-847D-BD1B6679C1E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6DE53-C84A-44F5-8CDB-75775D43BF07}" type="datetimeFigureOut">
              <a:rPr lang="en-US" smtClean="0"/>
              <a:pPr/>
              <a:t>11/7/2022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D25D1-6C17-4C9E-847D-BD1B6679C1E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6DE53-C84A-44F5-8CDB-75775D43BF07}" type="datetimeFigureOut">
              <a:rPr lang="en-US" smtClean="0"/>
              <a:pPr/>
              <a:t>11/7/2022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D25D1-6C17-4C9E-847D-BD1B6679C1E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6DE53-C84A-44F5-8CDB-75775D43BF07}" type="datetimeFigureOut">
              <a:rPr lang="en-US" smtClean="0"/>
              <a:pPr/>
              <a:t>11/7/2022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D25D1-6C17-4C9E-847D-BD1B6679C1E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6DE53-C84A-44F5-8CDB-75775D43BF07}" type="datetimeFigureOut">
              <a:rPr lang="en-US" smtClean="0"/>
              <a:pPr/>
              <a:t>11/7/2022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D25D1-6C17-4C9E-847D-BD1B6679C1E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6DE53-C84A-44F5-8CDB-75775D43BF07}" type="datetimeFigureOut">
              <a:rPr lang="en-US" smtClean="0"/>
              <a:pPr/>
              <a:t>11/7/2022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D25D1-6C17-4C9E-847D-BD1B6679C1E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06DE53-C84A-44F5-8CDB-75775D43BF07}" type="datetimeFigureOut">
              <a:rPr lang="en-US" smtClean="0"/>
              <a:pPr/>
              <a:t>11/7/2022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4D25D1-6C17-4C9E-847D-BD1B6679C1E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gi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lef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57122"/>
            <a:ext cx="3276600" cy="4800878"/>
          </a:xfrm>
          <a:prstGeom prst="rect">
            <a:avLst/>
          </a:prstGeom>
        </p:spPr>
      </p:pic>
      <p:pic>
        <p:nvPicPr>
          <p:cNvPr id="8" name="Picture 7" descr="righ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7560" y="2057400"/>
            <a:ext cx="3516440" cy="4800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66800" y="381000"/>
            <a:ext cx="70866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chemeClr val="tx2"/>
                </a:solidFill>
              </a:rPr>
              <a:t>WHAT IS COMMUNICATION ???</a:t>
            </a:r>
            <a:endParaRPr lang="en-US" sz="4400" b="1" dirty="0">
              <a:solidFill>
                <a:schemeClr val="tx2"/>
              </a:solidFill>
            </a:endParaRPr>
          </a:p>
        </p:txBody>
      </p:sp>
      <p:pic>
        <p:nvPicPr>
          <p:cNvPr id="10" name="Picture 9" descr="LINE RE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057400"/>
            <a:ext cx="9144000" cy="4590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" y="0"/>
            <a:ext cx="9143999" cy="3970318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  <a:tileRect/>
          </a:gradFill>
        </p:spPr>
        <p:txBody>
          <a:bodyPr wrap="square" rtlCol="0">
            <a:spAutoFit/>
          </a:bodyPr>
          <a:lstStyle/>
          <a:p>
            <a:pPr algn="ctr"/>
            <a:endParaRPr lang="en-US" sz="2800" b="1" dirty="0" smtClean="0">
              <a:solidFill>
                <a:schemeClr val="accent2">
                  <a:lumMod val="50000"/>
                </a:schemeClr>
              </a:solidFill>
            </a:endParaRPr>
          </a:p>
          <a:p>
            <a:pPr algn="ctr"/>
            <a:r>
              <a:rPr lang="en-US" sz="2800" b="1" dirty="0" smtClean="0">
                <a:solidFill>
                  <a:schemeClr val="accent2">
                    <a:lumMod val="50000"/>
                  </a:schemeClr>
                </a:solidFill>
              </a:rPr>
              <a:t>COMMUNICATION IS THE ART OF TRANSMITTING KNOWLEDGE, IDEAS, INFORMATION AND THOUGHTS</a:t>
            </a:r>
          </a:p>
          <a:p>
            <a:pPr algn="ctr"/>
            <a:r>
              <a:rPr lang="en-US" sz="2800" b="1" dirty="0" smtClean="0">
                <a:solidFill>
                  <a:schemeClr val="accent2">
                    <a:lumMod val="50000"/>
                  </a:schemeClr>
                </a:solidFill>
              </a:rPr>
              <a:t>FROM ONE PERSON TO ANOTHER.</a:t>
            </a:r>
          </a:p>
          <a:p>
            <a:pPr algn="ctr"/>
            <a:endParaRPr lang="en-US" sz="2800" b="1" dirty="0" smtClean="0">
              <a:solidFill>
                <a:schemeClr val="accent2">
                  <a:lumMod val="50000"/>
                </a:schemeClr>
              </a:solidFill>
            </a:endParaRPr>
          </a:p>
          <a:p>
            <a:pPr algn="ctr"/>
            <a:r>
              <a:rPr lang="en-US" sz="2800" b="1" dirty="0" smtClean="0">
                <a:solidFill>
                  <a:schemeClr val="accent2">
                    <a:lumMod val="50000"/>
                  </a:schemeClr>
                </a:solidFill>
              </a:rPr>
              <a:t>THE TRANSFER SHOULD BE SUCH THAT</a:t>
            </a:r>
          </a:p>
          <a:p>
            <a:pPr algn="ctr"/>
            <a:r>
              <a:rPr lang="en-US" sz="2800" b="1" dirty="0" smtClean="0">
                <a:solidFill>
                  <a:schemeClr val="accent2">
                    <a:lumMod val="50000"/>
                  </a:schemeClr>
                </a:solidFill>
              </a:rPr>
              <a:t>THE RECIEVER UNDERSTANDS </a:t>
            </a:r>
          </a:p>
          <a:p>
            <a:pPr algn="ctr"/>
            <a:r>
              <a:rPr lang="en-US" sz="2800" b="1" dirty="0" smtClean="0">
                <a:solidFill>
                  <a:schemeClr val="accent2">
                    <a:lumMod val="50000"/>
                  </a:schemeClr>
                </a:solidFill>
              </a:rPr>
              <a:t>THE MEANING AND THE INTENT OF THE MESSAGE</a:t>
            </a:r>
          </a:p>
          <a:p>
            <a:pPr algn="ctr"/>
            <a:r>
              <a:rPr lang="en-US" sz="2800" b="1" dirty="0" smtClean="0">
                <a:solidFill>
                  <a:schemeClr val="accent2">
                    <a:lumMod val="50000"/>
                  </a:schemeClr>
                </a:solidFill>
              </a:rPr>
              <a:t>AND GIVE PROPER FEEDBACK</a:t>
            </a:r>
            <a:endParaRPr lang="en-US" sz="28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6" name="Picture 5" descr="communicationsty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3962401"/>
            <a:ext cx="6999127" cy="28955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US" sz="3600" dirty="0" smtClean="0">
                <a:solidFill>
                  <a:schemeClr val="accent2">
                    <a:lumMod val="50000"/>
                  </a:schemeClr>
                </a:solidFill>
              </a:rPr>
              <a:t>★★★</a:t>
            </a:r>
            <a:r>
              <a:rPr lang="en-US" sz="3600" dirty="0" smtClean="0">
                <a:solidFill>
                  <a:schemeClr val="tx2"/>
                </a:solidFill>
              </a:rPr>
              <a:t>    </a:t>
            </a:r>
            <a:r>
              <a:rPr lang="en-US" b="1" dirty="0" smtClean="0">
                <a:solidFill>
                  <a:schemeClr val="tx2"/>
                </a:solidFill>
              </a:rPr>
              <a:t>IMPORTANCE    </a:t>
            </a:r>
            <a:r>
              <a:rPr lang="en-US" sz="3600" dirty="0" smtClean="0">
                <a:solidFill>
                  <a:schemeClr val="accent2">
                    <a:lumMod val="50000"/>
                  </a:schemeClr>
                </a:solidFill>
              </a:rPr>
              <a:t>★★★</a:t>
            </a:r>
            <a:endParaRPr lang="en-US" sz="36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602163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lnSpc>
                <a:spcPct val="120000"/>
              </a:lnSpc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Necessary for planning</a:t>
            </a:r>
          </a:p>
          <a:p>
            <a:pPr marL="514350" indent="-514350">
              <a:lnSpc>
                <a:spcPct val="120000"/>
              </a:lnSpc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Understanding each other</a:t>
            </a:r>
          </a:p>
          <a:p>
            <a:pPr marL="514350" indent="-514350">
              <a:lnSpc>
                <a:spcPct val="120000"/>
              </a:lnSpc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Establishment of effective leadership</a:t>
            </a:r>
          </a:p>
          <a:p>
            <a:pPr marL="514350" indent="-514350">
              <a:lnSpc>
                <a:spcPct val="120000"/>
              </a:lnSpc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Increases Efficiency</a:t>
            </a:r>
          </a:p>
          <a:p>
            <a:pPr marL="514350" indent="-514350">
              <a:lnSpc>
                <a:spcPct val="120000"/>
              </a:lnSpc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Basis of Decision-making</a:t>
            </a:r>
          </a:p>
          <a:p>
            <a:pPr marL="514350" indent="-514350">
              <a:lnSpc>
                <a:spcPct val="120000"/>
              </a:lnSpc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Smooth Working of Enterprise</a:t>
            </a:r>
          </a:p>
          <a:p>
            <a:pPr marL="514350" indent="-514350">
              <a:lnSpc>
                <a:spcPct val="120000"/>
              </a:lnSpc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Motivation</a:t>
            </a:r>
          </a:p>
          <a:p>
            <a:pPr marL="514350" indent="-514350">
              <a:lnSpc>
                <a:spcPct val="120000"/>
              </a:lnSpc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Co-ordination</a:t>
            </a:r>
            <a:endParaRPr lang="en-US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4" name="Picture 3" descr="LINE R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9200"/>
            <a:ext cx="9144000" cy="4590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95400"/>
          </a:xfrm>
          <a:effectLst/>
        </p:spPr>
        <p:txBody>
          <a:bodyPr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sz="9600" b="1" dirty="0" smtClean="0">
                <a:solidFill>
                  <a:schemeClr val="tx2"/>
                </a:solidFill>
              </a:rPr>
              <a:t>BARRIERS</a:t>
            </a:r>
            <a:endParaRPr lang="en-US" sz="9600" b="1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524000"/>
            <a:ext cx="8229600" cy="4525963"/>
          </a:xfrm>
        </p:spPr>
        <p:txBody>
          <a:bodyPr>
            <a:normAutofit/>
          </a:bodyPr>
          <a:lstStyle/>
          <a:p>
            <a:pPr>
              <a:buNone/>
            </a:pPr>
            <a:endParaRPr lang="en-US" sz="2000" b="1" dirty="0" smtClean="0"/>
          </a:p>
          <a:p>
            <a:pPr lvl="1"/>
            <a:endParaRPr lang="en-US" sz="2000" dirty="0" smtClean="0"/>
          </a:p>
          <a:p>
            <a:endParaRPr lang="en-US" sz="2400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4294967295"/>
          </p:nvPr>
        </p:nvSpPr>
        <p:spPr>
          <a:xfrm>
            <a:off x="5562600" y="2971800"/>
            <a:ext cx="3581400" cy="3687763"/>
          </a:xfrm>
        </p:spPr>
        <p:txBody>
          <a:bodyPr>
            <a:normAutofit/>
          </a:bodyPr>
          <a:lstStyle/>
          <a:p>
            <a:pPr lvl="1" algn="ctr">
              <a:buNone/>
            </a:pPr>
            <a:endParaRPr lang="en-US" sz="2000" dirty="0" smtClean="0"/>
          </a:p>
          <a:p>
            <a:endParaRPr lang="en-US" dirty="0"/>
          </a:p>
        </p:txBody>
      </p:sp>
      <p:pic>
        <p:nvPicPr>
          <p:cNvPr id="7" name="Picture 6" descr="LINE R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7800"/>
            <a:ext cx="9144000" cy="4590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81000" y="2133601"/>
            <a:ext cx="85344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chemeClr val="accent2">
                    <a:lumMod val="50000"/>
                  </a:schemeClr>
                </a:solidFill>
              </a:rPr>
              <a:t>There are three levels at which communication takes place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 smtClean="0">
                <a:solidFill>
                  <a:schemeClr val="accent2">
                    <a:lumMod val="50000"/>
                  </a:schemeClr>
                </a:solidFill>
              </a:rPr>
              <a:t>Noticing is done with the senses, and is at the physical level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 smtClean="0">
                <a:solidFill>
                  <a:schemeClr val="accent2">
                    <a:lumMod val="50000"/>
                  </a:schemeClr>
                </a:solidFill>
              </a:rPr>
              <a:t>Understanding is at the level of intelligence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 smtClean="0">
                <a:solidFill>
                  <a:schemeClr val="accent2">
                    <a:lumMod val="50000"/>
                  </a:schemeClr>
                </a:solidFill>
              </a:rPr>
              <a:t>Acceptance is at the emotional level</a:t>
            </a:r>
          </a:p>
          <a:p>
            <a:endParaRPr lang="en-US" sz="2400" dirty="0" smtClean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en-US" sz="2400" b="1" dirty="0" smtClean="0">
                <a:solidFill>
                  <a:schemeClr val="accent2">
                    <a:lumMod val="50000"/>
                  </a:schemeClr>
                </a:solidFill>
              </a:rPr>
              <a:t>Anything that hinders the process of communication at any of these levels is a barrier to communication</a:t>
            </a:r>
          </a:p>
          <a:p>
            <a:endParaRPr lang="en-US" sz="2400" b="1" dirty="0" smtClean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en-US" sz="2400" b="1" dirty="0" smtClean="0">
                <a:solidFill>
                  <a:schemeClr val="accent2">
                    <a:lumMod val="50000"/>
                  </a:schemeClr>
                </a:solidFill>
              </a:rPr>
              <a:t>Barriers to communication can be defined as the aspects or conditions that interfere with effective exchange of ideas or thoughts.</a:t>
            </a:r>
            <a:r>
              <a:rPr lang="en-US" sz="2400" dirty="0" smtClean="0">
                <a:solidFill>
                  <a:schemeClr val="accent2">
                    <a:lumMod val="50000"/>
                  </a:schemeClr>
                </a:solidFill>
              </a:rPr>
              <a:t/>
            </a:r>
            <a:br>
              <a:rPr lang="en-US" sz="2400" dirty="0" smtClean="0">
                <a:solidFill>
                  <a:schemeClr val="accent2">
                    <a:lumMod val="50000"/>
                  </a:schemeClr>
                </a:solidFill>
              </a:rPr>
            </a:br>
            <a:endParaRPr lang="en-US" sz="24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8" name="Picture 7" descr="674401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400" y="228600"/>
            <a:ext cx="1219200" cy="1875692"/>
          </a:xfrm>
          <a:prstGeom prst="rect">
            <a:avLst/>
          </a:prstGeom>
        </p:spPr>
      </p:pic>
      <p:pic>
        <p:nvPicPr>
          <p:cNvPr id="10" name="Picture 9" descr="stock-photo-young-man-dressed-in-black-is-pushing-at-invisible-wall-12735545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228600"/>
            <a:ext cx="1219200" cy="19106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tx2"/>
                </a:solidFill>
              </a:rPr>
              <a:t>FACTORS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" y="1600200"/>
            <a:ext cx="4343400" cy="5257800"/>
          </a:xfrm>
        </p:spPr>
        <p:txBody>
          <a:bodyPr>
            <a:normAutofit/>
          </a:bodyPr>
          <a:lstStyle/>
          <a:p>
            <a:pPr lvl="1" algn="ctr">
              <a:lnSpc>
                <a:spcPct val="150000"/>
              </a:lnSpc>
              <a:buNone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Environmental</a:t>
            </a:r>
          </a:p>
          <a:p>
            <a:pPr lvl="1" algn="ctr">
              <a:lnSpc>
                <a:spcPct val="150000"/>
              </a:lnSpc>
              <a:buNone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Technological</a:t>
            </a:r>
          </a:p>
          <a:p>
            <a:pPr lvl="1" algn="ctr">
              <a:lnSpc>
                <a:spcPct val="150000"/>
              </a:lnSpc>
              <a:buNone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Organizational</a:t>
            </a:r>
          </a:p>
          <a:p>
            <a:pPr lvl="1" algn="ctr">
              <a:lnSpc>
                <a:spcPct val="150000"/>
              </a:lnSpc>
              <a:buNone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Jargons</a:t>
            </a:r>
          </a:p>
          <a:p>
            <a:pPr lvl="1" algn="ctr">
              <a:lnSpc>
                <a:spcPct val="150000"/>
              </a:lnSpc>
              <a:buNone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External Noise</a:t>
            </a:r>
          </a:p>
          <a:p>
            <a:pPr lvl="1" algn="ctr">
              <a:lnSpc>
                <a:spcPct val="150000"/>
              </a:lnSpc>
              <a:buNone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Emotions</a:t>
            </a:r>
          </a:p>
          <a:p>
            <a:pPr lvl="1" algn="ctr">
              <a:lnSpc>
                <a:spcPct val="150000"/>
              </a:lnSpc>
              <a:buNone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Distance</a:t>
            </a:r>
          </a:p>
          <a:p>
            <a:pPr lvl="1" algn="ctr">
              <a:lnSpc>
                <a:spcPct val="150000"/>
              </a:lnSpc>
              <a:buNone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Personal Interests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600200"/>
            <a:ext cx="4267200" cy="5257800"/>
          </a:xfrm>
        </p:spPr>
        <p:txBody>
          <a:bodyPr>
            <a:normAutofit/>
          </a:bodyPr>
          <a:lstStyle/>
          <a:p>
            <a:pPr lvl="1" algn="ctr">
              <a:lnSpc>
                <a:spcPct val="150000"/>
              </a:lnSpc>
              <a:buNone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Misinterpretation</a:t>
            </a:r>
            <a:endParaRPr lang="en-US" b="1" dirty="0" smtClean="0">
              <a:solidFill>
                <a:schemeClr val="accent2">
                  <a:lumMod val="50000"/>
                </a:schemeClr>
              </a:solidFill>
            </a:endParaRPr>
          </a:p>
          <a:p>
            <a:pPr lvl="1" algn="ctr">
              <a:lnSpc>
                <a:spcPct val="150000"/>
              </a:lnSpc>
              <a:buNone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Fear</a:t>
            </a:r>
          </a:p>
          <a:p>
            <a:pPr lvl="1" algn="ctr">
              <a:lnSpc>
                <a:spcPct val="150000"/>
              </a:lnSpc>
              <a:buNone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Stress</a:t>
            </a:r>
          </a:p>
          <a:p>
            <a:pPr lvl="1" algn="ctr">
              <a:lnSpc>
                <a:spcPct val="150000"/>
              </a:lnSpc>
              <a:buNone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Status</a:t>
            </a:r>
          </a:p>
          <a:p>
            <a:pPr lvl="1" algn="ctr">
              <a:lnSpc>
                <a:spcPct val="150000"/>
              </a:lnSpc>
              <a:buNone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Chain of command</a:t>
            </a:r>
          </a:p>
          <a:p>
            <a:pPr lvl="1" algn="ctr">
              <a:lnSpc>
                <a:spcPct val="150000"/>
              </a:lnSpc>
              <a:buNone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Trust Issues</a:t>
            </a:r>
          </a:p>
          <a:p>
            <a:pPr lvl="1" algn="ctr">
              <a:lnSpc>
                <a:spcPct val="150000"/>
              </a:lnSpc>
              <a:buNone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Negative Self Image</a:t>
            </a:r>
          </a:p>
          <a:p>
            <a:endParaRPr lang="en-US" dirty="0"/>
          </a:p>
        </p:txBody>
      </p:sp>
      <p:pic>
        <p:nvPicPr>
          <p:cNvPr id="5" name="Picture 4" descr="LINE R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9200"/>
            <a:ext cx="9144000" cy="4590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066800"/>
          </a:xfrm>
          <a:effectLst>
            <a:outerShdw blurRad="50800" dist="38100" dir="2700000" algn="tl" rotWithShape="0">
              <a:prstClr val="black">
                <a:alpha val="43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4800" b="1" dirty="0" smtClean="0">
                <a:solidFill>
                  <a:schemeClr val="tx2"/>
                </a:solidFill>
              </a:rPr>
              <a:t>CLASSIFICATION OF BARRIERS</a:t>
            </a:r>
            <a:endParaRPr lang="en-US" sz="4800" b="1" dirty="0">
              <a:solidFill>
                <a:schemeClr val="tx2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373563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PHYSICAL BARRIERS</a:t>
            </a:r>
          </a:p>
          <a:p>
            <a:pPr algn="ctr">
              <a:lnSpc>
                <a:spcPct val="150000"/>
              </a:lnSpc>
              <a:buNone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SEMANTIC AND LANGUAGE BARRIERS</a:t>
            </a:r>
          </a:p>
          <a:p>
            <a:pPr algn="ctr">
              <a:lnSpc>
                <a:spcPct val="150000"/>
              </a:lnSpc>
              <a:buNone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SOCIO-PSYCHOLOGICAL BARRIERS</a:t>
            </a:r>
          </a:p>
          <a:p>
            <a:pPr algn="ctr">
              <a:lnSpc>
                <a:spcPct val="150000"/>
              </a:lnSpc>
              <a:buNone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ORGANIZATIONAL BARRIERS</a:t>
            </a:r>
          </a:p>
          <a:p>
            <a:pPr algn="ctr">
              <a:lnSpc>
                <a:spcPct val="150000"/>
              </a:lnSpc>
              <a:buNone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CROSS-CULTURAL BARRIERS</a:t>
            </a:r>
          </a:p>
          <a:p>
            <a:endParaRPr lang="en-US" dirty="0"/>
          </a:p>
        </p:txBody>
      </p:sp>
      <p:pic>
        <p:nvPicPr>
          <p:cNvPr id="6" name="Picture 5" descr="LINE R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9200"/>
            <a:ext cx="9144000" cy="4590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ubicle_walls.jpg"/>
          <p:cNvPicPr>
            <a:picLocks noChangeAspect="1"/>
          </p:cNvPicPr>
          <p:nvPr/>
        </p:nvPicPr>
        <p:blipFill>
          <a:blip r:embed="rId3"/>
          <a:srcRect l="4645" r="4645"/>
          <a:stretch>
            <a:fillRect/>
          </a:stretch>
        </p:blipFill>
        <p:spPr>
          <a:xfrm>
            <a:off x="0" y="0"/>
            <a:ext cx="91439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2743200" y="30480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0" y="304800"/>
            <a:ext cx="9144000" cy="1015663"/>
          </a:xfrm>
          <a:prstGeom prst="rect">
            <a:avLst/>
          </a:prstGeom>
          <a:noFill/>
          <a:ln w="76200"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 smtClean="0">
                <a:solidFill>
                  <a:schemeClr val="bg1"/>
                </a:solidFill>
              </a:rPr>
              <a:t>PHYSICAL BARRIERS</a:t>
            </a:r>
            <a:endParaRPr lang="en-US" sz="6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solidFill>
                  <a:schemeClr val="tx2"/>
                </a:solidFill>
                <a:cs typeface="Times New Roman" panose="02020603050405020304" pitchFamily="18" charset="0"/>
              </a:rPr>
              <a:t>Faulty Organizational Structure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>
                <a:solidFill>
                  <a:schemeClr val="accent2">
                    <a:lumMod val="50000"/>
                  </a:schemeClr>
                </a:solidFill>
                <a:latin typeface="+mj-lt"/>
                <a:cs typeface="Times New Roman" panose="02020603050405020304" pitchFamily="18" charset="0"/>
              </a:rPr>
              <a:t>Large working area</a:t>
            </a:r>
          </a:p>
          <a:p>
            <a:r>
              <a:rPr lang="en-US" sz="2800" dirty="0" smtClean="0">
                <a:solidFill>
                  <a:schemeClr val="accent2">
                    <a:lumMod val="50000"/>
                  </a:schemeClr>
                </a:solidFill>
                <a:latin typeface="+mj-lt"/>
                <a:cs typeface="Times New Roman" panose="02020603050405020304" pitchFamily="18" charset="0"/>
              </a:rPr>
              <a:t>Closed office doors</a:t>
            </a:r>
          </a:p>
          <a:p>
            <a:r>
              <a:rPr lang="en-US" sz="2800" dirty="0" smtClean="0">
                <a:solidFill>
                  <a:schemeClr val="accent2">
                    <a:lumMod val="50000"/>
                  </a:schemeClr>
                </a:solidFill>
                <a:latin typeface="+mj-lt"/>
                <a:cs typeface="Times New Roman" panose="02020603050405020304" pitchFamily="18" charset="0"/>
              </a:rPr>
              <a:t>Separate areas for people of different status</a:t>
            </a:r>
          </a:p>
          <a:p>
            <a:r>
              <a:rPr lang="en-US" sz="2800" dirty="0" smtClean="0">
                <a:solidFill>
                  <a:schemeClr val="accent2">
                    <a:lumMod val="50000"/>
                  </a:schemeClr>
                </a:solidFill>
                <a:latin typeface="+mj-lt"/>
                <a:cs typeface="Times New Roman" panose="02020603050405020304" pitchFamily="18" charset="0"/>
              </a:rPr>
              <a:t>It forbids team member from effective interaction with each other</a:t>
            </a:r>
            <a:r>
              <a:rPr lang="en-US" sz="2800" dirty="0" smtClean="0">
                <a:latin typeface="+mj-lt"/>
                <a:cs typeface="Times New Roman" panose="02020603050405020304" pitchFamily="18" charset="0"/>
              </a:rPr>
              <a:t>.</a:t>
            </a:r>
            <a:endParaRPr lang="en-IN" sz="2800" dirty="0" smtClean="0">
              <a:latin typeface="+mj-lt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4" name="Picture 3" descr="LINE R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9200"/>
            <a:ext cx="9144000" cy="45904"/>
          </a:xfrm>
          <a:prstGeom prst="rect">
            <a:avLst/>
          </a:prstGeom>
        </p:spPr>
      </p:pic>
      <p:pic>
        <p:nvPicPr>
          <p:cNvPr id="5" name="Picture 4" descr="cubicl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267200"/>
            <a:ext cx="2743200" cy="2178424"/>
          </a:xfrm>
          <a:prstGeom prst="rect">
            <a:avLst/>
          </a:prstGeom>
        </p:spPr>
      </p:pic>
      <p:pic>
        <p:nvPicPr>
          <p:cNvPr id="6" name="Picture 5" descr="pb 2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876800" y="4267200"/>
            <a:ext cx="2928544" cy="2133600"/>
          </a:xfrm>
          <a:prstGeom prst="rect">
            <a:avLst/>
          </a:prstGeom>
          <a:ln>
            <a:noFill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solidFill>
                  <a:schemeClr val="tx2"/>
                </a:solidFill>
                <a:cs typeface="Times New Roman" panose="02020603050405020304" pitchFamily="18" charset="0"/>
              </a:rPr>
              <a:t>Noise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>
                <a:solidFill>
                  <a:schemeClr val="accent2">
                    <a:lumMod val="50000"/>
                  </a:schemeClr>
                </a:solidFill>
                <a:cs typeface="Times New Roman" panose="02020603050405020304" pitchFamily="18" charset="0"/>
              </a:rPr>
              <a:t>Physical noise (outside disturbance)</a:t>
            </a:r>
          </a:p>
          <a:p>
            <a:r>
              <a:rPr lang="en-US" sz="2800" dirty="0" smtClean="0">
                <a:solidFill>
                  <a:schemeClr val="accent2">
                    <a:lumMod val="50000"/>
                  </a:schemeClr>
                </a:solidFill>
                <a:cs typeface="Times New Roman" panose="02020603050405020304" pitchFamily="18" charset="0"/>
              </a:rPr>
              <a:t>Psychological noise  (inattentiveness)</a:t>
            </a:r>
          </a:p>
          <a:p>
            <a:r>
              <a:rPr lang="en-US" sz="2800" dirty="0" smtClean="0">
                <a:solidFill>
                  <a:schemeClr val="accent2">
                    <a:lumMod val="50000"/>
                  </a:schemeClr>
                </a:solidFill>
                <a:cs typeface="Times New Roman" panose="02020603050405020304" pitchFamily="18" charset="0"/>
              </a:rPr>
              <a:t>Written noise (bad handwriting/typing)</a:t>
            </a:r>
          </a:p>
          <a:p>
            <a:r>
              <a:rPr lang="en-US" sz="2800" dirty="0" smtClean="0">
                <a:solidFill>
                  <a:schemeClr val="accent2">
                    <a:lumMod val="50000"/>
                  </a:schemeClr>
                </a:solidFill>
                <a:cs typeface="Times New Roman" panose="02020603050405020304" pitchFamily="18" charset="0"/>
              </a:rPr>
              <a:t>Visual noise (late arrival of employees</a:t>
            </a:r>
            <a:r>
              <a:rPr lang="en-US" dirty="0" smtClean="0">
                <a:solidFill>
                  <a:schemeClr val="accent2">
                    <a:lumMod val="50000"/>
                  </a:schemeClr>
                </a:solidFill>
                <a:cs typeface="Times New Roman" panose="02020603050405020304" pitchFamily="18" charset="0"/>
              </a:rPr>
              <a:t>)</a:t>
            </a:r>
          </a:p>
          <a:p>
            <a:endParaRPr lang="en-IN" dirty="0" smtClean="0"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4" name="Picture 3" descr="LINE R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9200"/>
            <a:ext cx="9144000" cy="45904"/>
          </a:xfrm>
          <a:prstGeom prst="rect">
            <a:avLst/>
          </a:prstGeom>
        </p:spPr>
      </p:pic>
      <p:pic>
        <p:nvPicPr>
          <p:cNvPr id="5" name="Picture 4" descr="office-yelling-nois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962400"/>
            <a:ext cx="2819400" cy="2418178"/>
          </a:xfrm>
          <a:prstGeom prst="rect">
            <a:avLst/>
          </a:prstGeom>
        </p:spPr>
      </p:pic>
      <p:pic>
        <p:nvPicPr>
          <p:cNvPr id="6" name="Picture 5" descr="11080051-businessman-discussing-sales-targets-at-a-meeting-with-his-inattentive-and-sleepy-team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3962400"/>
            <a:ext cx="3657600" cy="24414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solidFill>
                  <a:schemeClr val="tx2"/>
                </a:solidFill>
                <a:cs typeface="Times New Roman" panose="02020603050405020304" pitchFamily="18" charset="0"/>
              </a:rPr>
              <a:t>Time and Distance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800" dirty="0" smtClean="0">
                <a:solidFill>
                  <a:schemeClr val="accent2">
                    <a:lumMod val="50000"/>
                  </a:schemeClr>
                </a:solidFill>
                <a:latin typeface="+mj-lt"/>
                <a:cs typeface="Times New Roman" panose="02020603050405020304" pitchFamily="18" charset="0"/>
              </a:rPr>
              <a:t>Improper Time</a:t>
            </a:r>
          </a:p>
          <a:p>
            <a:r>
              <a:rPr lang="en-IN" sz="2800" dirty="0" smtClean="0">
                <a:solidFill>
                  <a:schemeClr val="accent2">
                    <a:lumMod val="50000"/>
                  </a:schemeClr>
                </a:solidFill>
                <a:latin typeface="+mj-lt"/>
                <a:cs typeface="Times New Roman" panose="02020603050405020304" pitchFamily="18" charset="0"/>
              </a:rPr>
              <a:t>Defects in Medium of communication</a:t>
            </a:r>
          </a:p>
          <a:p>
            <a:r>
              <a:rPr lang="en-IN" sz="2800" dirty="0" smtClean="0">
                <a:solidFill>
                  <a:schemeClr val="accent2">
                    <a:lumMod val="50000"/>
                  </a:schemeClr>
                </a:solidFill>
                <a:latin typeface="+mj-lt"/>
                <a:cs typeface="Times New Roman" panose="02020603050405020304" pitchFamily="18" charset="0"/>
              </a:rPr>
              <a:t>Network Facilities</a:t>
            </a:r>
          </a:p>
          <a:p>
            <a:r>
              <a:rPr lang="en-IN" sz="2800" dirty="0" smtClean="0">
                <a:solidFill>
                  <a:schemeClr val="accent2">
                    <a:lumMod val="50000"/>
                  </a:schemeClr>
                </a:solidFill>
                <a:latin typeface="+mj-lt"/>
                <a:cs typeface="Times New Roman" panose="02020603050405020304" pitchFamily="18" charset="0"/>
              </a:rPr>
              <a:t>Mechanical Breakdowns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4" name="Picture 3" descr="LINE R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9200"/>
            <a:ext cx="9144000" cy="459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4191000"/>
            <a:ext cx="3076575" cy="24479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Picture 5" descr="Hiring-a-Technician-for-Office-Network-Problem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0" y="4343400"/>
            <a:ext cx="3276600" cy="223120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solidFill>
                  <a:schemeClr val="tx2"/>
                </a:solidFill>
                <a:cs typeface="Times New Roman" panose="02020603050405020304" pitchFamily="18" charset="0"/>
              </a:rPr>
              <a:t>Information Overload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800" dirty="0" smtClean="0">
                <a:solidFill>
                  <a:schemeClr val="accent2">
                    <a:lumMod val="50000"/>
                  </a:schemeClr>
                </a:solidFill>
                <a:latin typeface="+mj-lt"/>
                <a:cs typeface="Times New Roman" panose="02020603050405020304" pitchFamily="18" charset="0"/>
              </a:rPr>
              <a:t>Piling up of tasks due to improper time management.</a:t>
            </a:r>
          </a:p>
          <a:p>
            <a:r>
              <a:rPr lang="en-IN" sz="2800" dirty="0" smtClean="0">
                <a:solidFill>
                  <a:schemeClr val="accent2">
                    <a:lumMod val="50000"/>
                  </a:schemeClr>
                </a:solidFill>
                <a:latin typeface="+mj-lt"/>
                <a:cs typeface="Times New Roman" panose="02020603050405020304" pitchFamily="18" charset="0"/>
              </a:rPr>
              <a:t>Excess number of people assigned for same task</a:t>
            </a:r>
          </a:p>
          <a:p>
            <a:r>
              <a:rPr lang="en-IN" sz="2800" dirty="0" smtClean="0">
                <a:solidFill>
                  <a:schemeClr val="accent2">
                    <a:lumMod val="50000"/>
                  </a:schemeClr>
                </a:solidFill>
                <a:latin typeface="+mj-lt"/>
                <a:cs typeface="Times New Roman" panose="02020603050405020304" pitchFamily="18" charset="0"/>
              </a:rPr>
              <a:t>Work overload/Information duplication.</a:t>
            </a:r>
          </a:p>
          <a:p>
            <a:endParaRPr lang="en-US" dirty="0">
              <a:latin typeface="+mj-lt"/>
            </a:endParaRPr>
          </a:p>
        </p:txBody>
      </p:sp>
      <p:pic>
        <p:nvPicPr>
          <p:cNvPr id="4" name="Picture 3" descr="LINE R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9200"/>
            <a:ext cx="9144000" cy="45904"/>
          </a:xfrm>
          <a:prstGeom prst="rect">
            <a:avLst/>
          </a:prstGeom>
        </p:spPr>
      </p:pic>
      <p:pic>
        <p:nvPicPr>
          <p:cNvPr id="5" name="Picture 2" descr="http://www.copy2contact.com/blog/wp-content/uploads/2012/08/information-overload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19200" y="3733800"/>
            <a:ext cx="2514600" cy="25146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 descr="image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3886200"/>
            <a:ext cx="3203523" cy="21240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hutterstock_151071413-640x422.jpg"/>
          <p:cNvPicPr>
            <a:picLocks noChangeAspect="1"/>
          </p:cNvPicPr>
          <p:nvPr/>
        </p:nvPicPr>
        <p:blipFill>
          <a:blip r:embed="rId2">
            <a:lum contrast="8000"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5400000" scaled="0"/>
          </a:gradFill>
        </p:spPr>
      </p:pic>
      <p:sp>
        <p:nvSpPr>
          <p:cNvPr id="4" name="TextBox 3"/>
          <p:cNvSpPr txBox="1"/>
          <p:nvPr/>
        </p:nvSpPr>
        <p:spPr>
          <a:xfrm>
            <a:off x="0" y="152400"/>
            <a:ext cx="9144000" cy="1938992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 smtClean="0">
                <a:solidFill>
                  <a:schemeClr val="bg1"/>
                </a:solidFill>
              </a:rPr>
              <a:t>SEMANTIC &amp; LANGUAGE</a:t>
            </a:r>
          </a:p>
          <a:p>
            <a:pPr algn="ctr"/>
            <a:r>
              <a:rPr lang="en-US" sz="6000" b="1" dirty="0" smtClean="0">
                <a:solidFill>
                  <a:schemeClr val="bg1"/>
                </a:solidFill>
              </a:rPr>
              <a:t>BARRIERS</a:t>
            </a:r>
            <a:endParaRPr lang="en-US" sz="6000" dirty="0"/>
          </a:p>
        </p:txBody>
      </p:sp>
      <p:sp>
        <p:nvSpPr>
          <p:cNvPr id="5" name="TextBox 4"/>
          <p:cNvSpPr txBox="1"/>
          <p:nvPr/>
        </p:nvSpPr>
        <p:spPr>
          <a:xfrm>
            <a:off x="1524000" y="5715000"/>
            <a:ext cx="762746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chemeClr val="bg1"/>
                </a:solidFill>
              </a:rPr>
              <a:t>Those who speak do not know</a:t>
            </a:r>
          </a:p>
          <a:p>
            <a:pPr>
              <a:buNone/>
            </a:pPr>
            <a:r>
              <a:rPr lang="en-US" sz="2400" b="1" dirty="0" smtClean="0">
                <a:solidFill>
                  <a:schemeClr val="bg1"/>
                </a:solidFill>
              </a:rPr>
              <a:t>                        Those who know do not speak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</a:rPr>
              <a:t>                                                                                    - Random Japanese Guy</a:t>
            </a:r>
          </a:p>
          <a:p>
            <a:endParaRPr 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19200"/>
          </a:xfrm>
        </p:spPr>
        <p:txBody>
          <a:bodyPr/>
          <a:lstStyle/>
          <a:p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SEMANTICS</a:t>
            </a:r>
            <a:endParaRPr lang="en-US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 smtClean="0">
                <a:solidFill>
                  <a:schemeClr val="tx2"/>
                </a:solidFill>
              </a:rPr>
              <a:t>What do you mean by </a:t>
            </a:r>
            <a:r>
              <a:rPr lang="en-US" b="1" dirty="0" smtClean="0">
                <a:solidFill>
                  <a:schemeClr val="tx2"/>
                </a:solidFill>
              </a:rPr>
              <a:t>SEMANTICS</a:t>
            </a:r>
            <a:r>
              <a:rPr lang="en-US" dirty="0" smtClean="0">
                <a:solidFill>
                  <a:schemeClr val="tx2"/>
                </a:solidFill>
              </a:rPr>
              <a:t>?</a:t>
            </a:r>
          </a:p>
          <a:p>
            <a:pPr>
              <a:lnSpc>
                <a:spcPct val="150000"/>
              </a:lnSpc>
            </a:pPr>
            <a:endParaRPr lang="en-US" dirty="0" smtClean="0">
              <a:solidFill>
                <a:schemeClr val="tx2"/>
              </a:solidFill>
            </a:endParaRPr>
          </a:p>
          <a:p>
            <a:pPr>
              <a:lnSpc>
                <a:spcPct val="150000"/>
              </a:lnSpc>
            </a:pPr>
            <a:r>
              <a:rPr lang="en-US" dirty="0" smtClean="0">
                <a:solidFill>
                  <a:schemeClr val="tx2"/>
                </a:solidFill>
              </a:rPr>
              <a:t>Why is </a:t>
            </a:r>
            <a:r>
              <a:rPr lang="en-US" b="1" dirty="0" smtClean="0">
                <a:solidFill>
                  <a:schemeClr val="tx2"/>
                </a:solidFill>
              </a:rPr>
              <a:t>SEMANTICS</a:t>
            </a:r>
            <a:r>
              <a:rPr lang="en-US" dirty="0" smtClean="0">
                <a:solidFill>
                  <a:schemeClr val="tx2"/>
                </a:solidFill>
              </a:rPr>
              <a:t> required?</a:t>
            </a:r>
          </a:p>
          <a:p>
            <a:pPr>
              <a:lnSpc>
                <a:spcPct val="150000"/>
              </a:lnSpc>
            </a:pPr>
            <a:endParaRPr lang="en-US" dirty="0" smtClean="0">
              <a:solidFill>
                <a:schemeClr val="tx2"/>
              </a:solidFill>
            </a:endParaRPr>
          </a:p>
          <a:p>
            <a:pPr>
              <a:lnSpc>
                <a:spcPct val="150000"/>
              </a:lnSpc>
            </a:pPr>
            <a:r>
              <a:rPr lang="en-US" dirty="0" smtClean="0">
                <a:solidFill>
                  <a:schemeClr val="tx2"/>
                </a:solidFill>
              </a:rPr>
              <a:t>When does </a:t>
            </a:r>
            <a:r>
              <a:rPr lang="en-US" b="1" dirty="0" smtClean="0">
                <a:solidFill>
                  <a:schemeClr val="tx2"/>
                </a:solidFill>
              </a:rPr>
              <a:t>SEMANTIC BARRIER </a:t>
            </a:r>
            <a:r>
              <a:rPr lang="en-US" dirty="0" smtClean="0">
                <a:solidFill>
                  <a:schemeClr val="tx2"/>
                </a:solidFill>
              </a:rPr>
              <a:t>arises?</a:t>
            </a:r>
            <a:endParaRPr lang="en-US" dirty="0">
              <a:solidFill>
                <a:schemeClr val="tx2"/>
              </a:solidFill>
            </a:endParaRPr>
          </a:p>
        </p:txBody>
      </p:sp>
      <p:pic>
        <p:nvPicPr>
          <p:cNvPr id="4" name="Picture 3" descr="LINE R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9200"/>
            <a:ext cx="9144000" cy="4590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52400"/>
            <a:ext cx="9220200" cy="838200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solidFill>
                  <a:schemeClr val="accent2">
                    <a:lumMod val="50000"/>
                  </a:schemeClr>
                </a:solidFill>
              </a:rPr>
              <a:t>SIMILAR SOUNDING WORDS</a:t>
            </a:r>
            <a:endParaRPr lang="en-US" sz="40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5333999"/>
          </a:xfrm>
        </p:spPr>
        <p:txBody>
          <a:bodyPr/>
          <a:lstStyle/>
          <a:p>
            <a:pPr algn="ctr">
              <a:buNone/>
            </a:pPr>
            <a:r>
              <a:rPr lang="en-US" dirty="0" smtClean="0">
                <a:solidFill>
                  <a:schemeClr val="tx2"/>
                </a:solidFill>
              </a:rPr>
              <a:t>These words are known as </a:t>
            </a:r>
            <a:r>
              <a:rPr lang="en-US" b="1" dirty="0" smtClean="0">
                <a:solidFill>
                  <a:schemeClr val="tx2"/>
                </a:solidFill>
              </a:rPr>
              <a:t>Homophones</a:t>
            </a:r>
          </a:p>
          <a:p>
            <a:pPr algn="ctr">
              <a:buNone/>
            </a:pPr>
            <a:r>
              <a:rPr lang="en-US" sz="2800" dirty="0" smtClean="0">
                <a:solidFill>
                  <a:schemeClr val="tx2"/>
                </a:solidFill>
              </a:rPr>
              <a:t>Pronunciation</a:t>
            </a:r>
          </a:p>
          <a:p>
            <a:pPr algn="ctr">
              <a:buNone/>
            </a:pPr>
            <a:r>
              <a:rPr lang="en-US" sz="2800" dirty="0" smtClean="0">
                <a:solidFill>
                  <a:schemeClr val="tx2"/>
                </a:solidFill>
              </a:rPr>
              <a:t>Spelling</a:t>
            </a:r>
          </a:p>
          <a:p>
            <a:pPr algn="ctr">
              <a:buNone/>
            </a:pPr>
            <a:r>
              <a:rPr lang="en-US" sz="2800" dirty="0" smtClean="0">
                <a:solidFill>
                  <a:schemeClr val="tx2"/>
                </a:solidFill>
              </a:rPr>
              <a:t>Meaning</a:t>
            </a:r>
          </a:p>
          <a:p>
            <a:pPr>
              <a:buNone/>
            </a:pPr>
            <a:r>
              <a:rPr lang="en-US" b="1" dirty="0" smtClean="0">
                <a:solidFill>
                  <a:schemeClr val="tx2"/>
                </a:solidFill>
              </a:rPr>
              <a:t>Examples</a:t>
            </a:r>
            <a:r>
              <a:rPr lang="en-US" dirty="0" smtClean="0">
                <a:solidFill>
                  <a:schemeClr val="tx2"/>
                </a:solidFill>
              </a:rPr>
              <a:t>:</a:t>
            </a:r>
          </a:p>
          <a:p>
            <a:r>
              <a:rPr lang="en-US" sz="2800" dirty="0" smtClean="0">
                <a:solidFill>
                  <a:schemeClr val="tx2"/>
                </a:solidFill>
              </a:rPr>
              <a:t>pale/pail                                            </a:t>
            </a:r>
          </a:p>
          <a:p>
            <a:r>
              <a:rPr lang="en-US" sz="2800" dirty="0" smtClean="0">
                <a:solidFill>
                  <a:schemeClr val="tx2"/>
                </a:solidFill>
              </a:rPr>
              <a:t>alter/altar</a:t>
            </a:r>
          </a:p>
          <a:p>
            <a:r>
              <a:rPr lang="en-US" sz="2800" dirty="0" smtClean="0">
                <a:solidFill>
                  <a:schemeClr val="tx2"/>
                </a:solidFill>
              </a:rPr>
              <a:t>buy/bye/by</a:t>
            </a:r>
          </a:p>
          <a:p>
            <a:r>
              <a:rPr lang="en-US" sz="2800" dirty="0" smtClean="0">
                <a:solidFill>
                  <a:schemeClr val="tx2"/>
                </a:solidFill>
              </a:rPr>
              <a:t>rain/reign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4" name="Picture 3" descr="unche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800" y="2590800"/>
            <a:ext cx="571500" cy="561975"/>
          </a:xfrm>
          <a:prstGeom prst="rect">
            <a:avLst/>
          </a:prstGeom>
        </p:spPr>
      </p:pic>
      <p:pic>
        <p:nvPicPr>
          <p:cNvPr id="5" name="Picture 4" descr="unche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800" y="3124200"/>
            <a:ext cx="571500" cy="561975"/>
          </a:xfrm>
          <a:prstGeom prst="rect">
            <a:avLst/>
          </a:prstGeom>
        </p:spPr>
      </p:pic>
      <p:pic>
        <p:nvPicPr>
          <p:cNvPr id="6" name="Picture 5" descr="chec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400" y="2057400"/>
            <a:ext cx="695325" cy="581025"/>
          </a:xfrm>
          <a:prstGeom prst="rect">
            <a:avLst/>
          </a:prstGeom>
        </p:spPr>
      </p:pic>
      <p:pic>
        <p:nvPicPr>
          <p:cNvPr id="7" name="Picture 6" descr="LINE RE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19200"/>
            <a:ext cx="9144000" cy="4590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884238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WORDS HAVE MULTIPLE PRONUNCIATIONS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ctr">
              <a:buNone/>
            </a:pPr>
            <a:r>
              <a:rPr lang="en-US" sz="3500" dirty="0" smtClean="0">
                <a:solidFill>
                  <a:schemeClr val="tx2"/>
                </a:solidFill>
              </a:rPr>
              <a:t>These words are known as </a:t>
            </a:r>
            <a:r>
              <a:rPr lang="en-US" sz="3500" b="1" dirty="0" smtClean="0">
                <a:solidFill>
                  <a:schemeClr val="tx2"/>
                </a:solidFill>
              </a:rPr>
              <a:t>Homographs</a:t>
            </a:r>
          </a:p>
          <a:p>
            <a:pPr algn="ctr">
              <a:buNone/>
            </a:pPr>
            <a:r>
              <a:rPr lang="en-US" sz="3000" dirty="0" smtClean="0">
                <a:solidFill>
                  <a:schemeClr val="tx2"/>
                </a:solidFill>
              </a:rPr>
              <a:t>Spelling</a:t>
            </a:r>
          </a:p>
          <a:p>
            <a:pPr algn="ctr">
              <a:buNone/>
            </a:pPr>
            <a:r>
              <a:rPr lang="en-US" sz="3000" dirty="0" smtClean="0">
                <a:solidFill>
                  <a:schemeClr val="tx2"/>
                </a:solidFill>
              </a:rPr>
              <a:t>Pronunciation</a:t>
            </a:r>
          </a:p>
          <a:p>
            <a:pPr algn="ctr">
              <a:buNone/>
            </a:pPr>
            <a:r>
              <a:rPr lang="en-US" sz="3000" dirty="0" smtClean="0">
                <a:solidFill>
                  <a:schemeClr val="tx2"/>
                </a:solidFill>
              </a:rPr>
              <a:t>Meaning</a:t>
            </a:r>
          </a:p>
          <a:p>
            <a:pPr algn="ctr">
              <a:buNone/>
            </a:pPr>
            <a:endParaRPr lang="en-US" dirty="0" smtClean="0">
              <a:solidFill>
                <a:schemeClr val="tx2"/>
              </a:solidFill>
            </a:endParaRPr>
          </a:p>
          <a:p>
            <a:pPr>
              <a:buNone/>
            </a:pPr>
            <a:r>
              <a:rPr lang="en-US" b="1" dirty="0" smtClean="0">
                <a:solidFill>
                  <a:schemeClr val="tx2"/>
                </a:solidFill>
              </a:rPr>
              <a:t>Examples</a:t>
            </a:r>
          </a:p>
          <a:p>
            <a:r>
              <a:rPr lang="en-US" dirty="0" smtClean="0">
                <a:solidFill>
                  <a:schemeClr val="tx2"/>
                </a:solidFill>
              </a:rPr>
              <a:t>The bandage was </a:t>
            </a:r>
            <a:r>
              <a:rPr lang="en-US" b="1" dirty="0" smtClean="0">
                <a:solidFill>
                  <a:schemeClr val="tx2"/>
                </a:solidFill>
              </a:rPr>
              <a:t>wound</a:t>
            </a:r>
            <a:r>
              <a:rPr lang="en-US" dirty="0" smtClean="0">
                <a:solidFill>
                  <a:schemeClr val="tx2"/>
                </a:solidFill>
              </a:rPr>
              <a:t> around the </a:t>
            </a:r>
            <a:r>
              <a:rPr lang="en-US" b="1" dirty="0" smtClean="0">
                <a:solidFill>
                  <a:schemeClr val="tx2"/>
                </a:solidFill>
              </a:rPr>
              <a:t>wound</a:t>
            </a:r>
            <a:r>
              <a:rPr lang="en-US" dirty="0" smtClean="0">
                <a:solidFill>
                  <a:schemeClr val="tx2"/>
                </a:solidFill>
              </a:rPr>
              <a:t>.</a:t>
            </a:r>
          </a:p>
          <a:p>
            <a:r>
              <a:rPr lang="en-US" dirty="0" smtClean="0">
                <a:solidFill>
                  <a:schemeClr val="tx2"/>
                </a:solidFill>
              </a:rPr>
              <a:t>We must </a:t>
            </a:r>
            <a:r>
              <a:rPr lang="en-US" b="1" dirty="0" smtClean="0">
                <a:solidFill>
                  <a:schemeClr val="tx2"/>
                </a:solidFill>
              </a:rPr>
              <a:t>polish</a:t>
            </a:r>
            <a:r>
              <a:rPr lang="en-US" dirty="0" smtClean="0">
                <a:solidFill>
                  <a:schemeClr val="tx2"/>
                </a:solidFill>
              </a:rPr>
              <a:t> the </a:t>
            </a:r>
            <a:r>
              <a:rPr lang="en-US" b="1" dirty="0" smtClean="0">
                <a:solidFill>
                  <a:schemeClr val="tx2"/>
                </a:solidFill>
              </a:rPr>
              <a:t>Polish</a:t>
            </a:r>
            <a:r>
              <a:rPr lang="en-US" dirty="0" smtClean="0">
                <a:solidFill>
                  <a:schemeClr val="tx2"/>
                </a:solidFill>
              </a:rPr>
              <a:t> furniture.</a:t>
            </a:r>
          </a:p>
          <a:p>
            <a:r>
              <a:rPr lang="en-US" dirty="0" smtClean="0">
                <a:solidFill>
                  <a:schemeClr val="tx2"/>
                </a:solidFill>
              </a:rPr>
              <a:t>He could </a:t>
            </a:r>
            <a:r>
              <a:rPr lang="en-US" b="1" dirty="0" smtClean="0">
                <a:solidFill>
                  <a:schemeClr val="tx2"/>
                </a:solidFill>
              </a:rPr>
              <a:t>lead</a:t>
            </a:r>
            <a:r>
              <a:rPr lang="en-US" dirty="0" smtClean="0">
                <a:solidFill>
                  <a:schemeClr val="tx2"/>
                </a:solidFill>
              </a:rPr>
              <a:t> if he would get the </a:t>
            </a:r>
            <a:r>
              <a:rPr lang="en-US" b="1" dirty="0" smtClean="0">
                <a:solidFill>
                  <a:schemeClr val="tx2"/>
                </a:solidFill>
              </a:rPr>
              <a:t>lead</a:t>
            </a:r>
            <a:r>
              <a:rPr lang="en-US" dirty="0" smtClean="0">
                <a:solidFill>
                  <a:schemeClr val="tx2"/>
                </a:solidFill>
              </a:rPr>
              <a:t> out.</a:t>
            </a:r>
            <a:endParaRPr lang="en-US" dirty="0">
              <a:solidFill>
                <a:schemeClr val="tx2"/>
              </a:solidFill>
            </a:endParaRPr>
          </a:p>
        </p:txBody>
      </p:sp>
      <p:pic>
        <p:nvPicPr>
          <p:cNvPr id="4" name="Picture 3" descr="che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800" y="2057400"/>
            <a:ext cx="695325" cy="581025"/>
          </a:xfrm>
          <a:prstGeom prst="rect">
            <a:avLst/>
          </a:prstGeom>
        </p:spPr>
      </p:pic>
      <p:pic>
        <p:nvPicPr>
          <p:cNvPr id="5" name="Picture 4" descr="unchec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2514600"/>
            <a:ext cx="571500" cy="561975"/>
          </a:xfrm>
          <a:prstGeom prst="rect">
            <a:avLst/>
          </a:prstGeom>
        </p:spPr>
      </p:pic>
      <p:pic>
        <p:nvPicPr>
          <p:cNvPr id="6" name="Picture 5" descr="unchec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800" y="3048000"/>
            <a:ext cx="571500" cy="561975"/>
          </a:xfrm>
          <a:prstGeom prst="rect">
            <a:avLst/>
          </a:prstGeom>
        </p:spPr>
      </p:pic>
      <p:pic>
        <p:nvPicPr>
          <p:cNvPr id="7" name="Picture 6" descr="LINE RE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19200"/>
            <a:ext cx="9144000" cy="4590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83820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WORDS HAVE MULTIPLE MEANING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602163"/>
          </a:xfrm>
        </p:spPr>
        <p:txBody>
          <a:bodyPr/>
          <a:lstStyle/>
          <a:p>
            <a:pPr algn="ctr">
              <a:buNone/>
            </a:pPr>
            <a:r>
              <a:rPr lang="en-US" dirty="0" smtClean="0">
                <a:solidFill>
                  <a:schemeClr val="tx2"/>
                </a:solidFill>
              </a:rPr>
              <a:t>These Words are also known as </a:t>
            </a:r>
            <a:r>
              <a:rPr lang="en-US" b="1" dirty="0" smtClean="0">
                <a:solidFill>
                  <a:schemeClr val="tx2"/>
                </a:solidFill>
              </a:rPr>
              <a:t>homonyms</a:t>
            </a:r>
          </a:p>
          <a:p>
            <a:pPr algn="ctr">
              <a:buNone/>
            </a:pPr>
            <a:r>
              <a:rPr lang="en-US" sz="2800" dirty="0" smtClean="0">
                <a:solidFill>
                  <a:schemeClr val="tx2"/>
                </a:solidFill>
              </a:rPr>
              <a:t>Spelling</a:t>
            </a:r>
          </a:p>
          <a:p>
            <a:pPr algn="ctr">
              <a:buNone/>
            </a:pPr>
            <a:r>
              <a:rPr lang="en-US" sz="2800" dirty="0" smtClean="0">
                <a:solidFill>
                  <a:schemeClr val="tx2"/>
                </a:solidFill>
              </a:rPr>
              <a:t>Pronunciation</a:t>
            </a:r>
          </a:p>
          <a:p>
            <a:pPr algn="ctr">
              <a:buNone/>
            </a:pPr>
            <a:r>
              <a:rPr lang="en-US" sz="2800" dirty="0" smtClean="0">
                <a:solidFill>
                  <a:schemeClr val="tx2"/>
                </a:solidFill>
              </a:rPr>
              <a:t>Meaning</a:t>
            </a:r>
          </a:p>
          <a:p>
            <a:pPr>
              <a:buNone/>
            </a:pPr>
            <a:endParaRPr lang="en-US" b="1" dirty="0" smtClean="0">
              <a:solidFill>
                <a:schemeClr val="tx2"/>
              </a:solidFill>
            </a:endParaRPr>
          </a:p>
          <a:p>
            <a:pPr>
              <a:buNone/>
            </a:pPr>
            <a:r>
              <a:rPr lang="en-US" b="1" dirty="0" smtClean="0">
                <a:solidFill>
                  <a:schemeClr val="tx2"/>
                </a:solidFill>
              </a:rPr>
              <a:t>Examples</a:t>
            </a:r>
          </a:p>
          <a:p>
            <a:r>
              <a:rPr lang="en-US" sz="2800" dirty="0" smtClean="0">
                <a:solidFill>
                  <a:schemeClr val="tx2"/>
                </a:solidFill>
              </a:rPr>
              <a:t>Never </a:t>
            </a:r>
            <a:r>
              <a:rPr lang="en-US" sz="2800" b="1" dirty="0" smtClean="0">
                <a:solidFill>
                  <a:schemeClr val="tx2"/>
                </a:solidFill>
              </a:rPr>
              <a:t>desert</a:t>
            </a:r>
            <a:r>
              <a:rPr lang="en-US" sz="2800" dirty="0" smtClean="0">
                <a:solidFill>
                  <a:schemeClr val="tx2"/>
                </a:solidFill>
              </a:rPr>
              <a:t> your friends in the </a:t>
            </a:r>
            <a:r>
              <a:rPr lang="en-US" sz="2800" b="1" dirty="0" smtClean="0">
                <a:solidFill>
                  <a:schemeClr val="tx2"/>
                </a:solidFill>
              </a:rPr>
              <a:t>desert</a:t>
            </a:r>
            <a:r>
              <a:rPr lang="en-US" sz="2800" dirty="0" smtClean="0">
                <a:solidFill>
                  <a:schemeClr val="tx2"/>
                </a:solidFill>
              </a:rPr>
              <a:t>.</a:t>
            </a:r>
          </a:p>
          <a:p>
            <a:r>
              <a:rPr lang="en-US" sz="2800" b="1" dirty="0" smtClean="0">
                <a:solidFill>
                  <a:schemeClr val="tx2"/>
                </a:solidFill>
              </a:rPr>
              <a:t>Close</a:t>
            </a:r>
            <a:r>
              <a:rPr lang="en-US" sz="2800" dirty="0" smtClean="0">
                <a:solidFill>
                  <a:schemeClr val="tx2"/>
                </a:solidFill>
              </a:rPr>
              <a:t> the window before the bee gets too </a:t>
            </a:r>
            <a:r>
              <a:rPr lang="en-US" sz="2800" b="1" dirty="0" smtClean="0">
                <a:solidFill>
                  <a:schemeClr val="tx2"/>
                </a:solidFill>
              </a:rPr>
              <a:t>close</a:t>
            </a:r>
            <a:endParaRPr lang="en-US" sz="2800" b="1" dirty="0">
              <a:solidFill>
                <a:schemeClr val="tx2"/>
              </a:solidFill>
            </a:endParaRPr>
          </a:p>
        </p:txBody>
      </p:sp>
      <p:pic>
        <p:nvPicPr>
          <p:cNvPr id="4" name="Picture 3" descr="che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800" y="2057400"/>
            <a:ext cx="695325" cy="581025"/>
          </a:xfrm>
          <a:prstGeom prst="rect">
            <a:avLst/>
          </a:prstGeom>
        </p:spPr>
      </p:pic>
      <p:pic>
        <p:nvPicPr>
          <p:cNvPr id="5" name="Picture 4" descr="che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00" y="2514600"/>
            <a:ext cx="695325" cy="581025"/>
          </a:xfrm>
          <a:prstGeom prst="rect">
            <a:avLst/>
          </a:prstGeom>
        </p:spPr>
      </p:pic>
      <p:pic>
        <p:nvPicPr>
          <p:cNvPr id="6" name="Picture 5" descr="unchec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800" y="3124200"/>
            <a:ext cx="571500" cy="561975"/>
          </a:xfrm>
          <a:prstGeom prst="rect">
            <a:avLst/>
          </a:prstGeom>
        </p:spPr>
      </p:pic>
      <p:pic>
        <p:nvPicPr>
          <p:cNvPr id="7" name="Picture 6" descr="LINE RE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19200"/>
            <a:ext cx="9144000" cy="4590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1265238"/>
          </a:xfrm>
        </p:spPr>
        <p:txBody>
          <a:bodyPr>
            <a:normAutofit fontScale="90000"/>
          </a:bodyPr>
          <a:lstStyle/>
          <a:p>
            <a:r>
              <a:rPr lang="en-US" i="1" dirty="0" smtClean="0"/>
              <a:t/>
            </a:r>
            <a:br>
              <a:rPr lang="en-US" i="1" dirty="0" smtClean="0"/>
            </a:b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DENOTATIONS AND CONNOTATIONS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981200"/>
          </a:xfrm>
        </p:spPr>
        <p:txBody>
          <a:bodyPr>
            <a:normAutofit lnSpcReduction="10000"/>
          </a:bodyPr>
          <a:lstStyle/>
          <a:p>
            <a:pPr marL="457200" indent="-457200"/>
            <a:r>
              <a:rPr lang="en-US" sz="2400" b="1" dirty="0" smtClean="0">
                <a:solidFill>
                  <a:schemeClr val="tx2"/>
                </a:solidFill>
              </a:rPr>
              <a:t>Denotation:</a:t>
            </a:r>
            <a:r>
              <a:rPr lang="en-US" sz="2400" dirty="0" smtClean="0">
                <a:solidFill>
                  <a:schemeClr val="tx2"/>
                </a:solidFill>
              </a:rPr>
              <a:t> The literal meaning of a word</a:t>
            </a:r>
          </a:p>
          <a:p>
            <a:pPr marL="457200" indent="-457200"/>
            <a:r>
              <a:rPr lang="en-US" sz="2400" b="1" dirty="0" err="1" smtClean="0">
                <a:solidFill>
                  <a:schemeClr val="tx2"/>
                </a:solidFill>
              </a:rPr>
              <a:t>Connotaions</a:t>
            </a:r>
            <a:r>
              <a:rPr lang="en-US" sz="2400" b="1" dirty="0" smtClean="0">
                <a:solidFill>
                  <a:schemeClr val="tx2"/>
                </a:solidFill>
              </a:rPr>
              <a:t>:</a:t>
            </a:r>
            <a:r>
              <a:rPr lang="en-US" sz="2400" b="1" dirty="0">
                <a:solidFill>
                  <a:schemeClr val="tx2"/>
                </a:solidFill>
              </a:rPr>
              <a:t> </a:t>
            </a:r>
            <a:r>
              <a:rPr lang="en-US" sz="2400" dirty="0" smtClean="0">
                <a:solidFill>
                  <a:schemeClr val="tx2"/>
                </a:solidFill>
              </a:rPr>
              <a:t>The emotions and associations connected to a word</a:t>
            </a:r>
          </a:p>
          <a:p>
            <a:pPr marL="914400" lvl="1" indent="-457200"/>
            <a:r>
              <a:rPr lang="en-US" sz="2000" b="1" dirty="0" err="1" smtClean="0">
                <a:solidFill>
                  <a:schemeClr val="tx2"/>
                </a:solidFill>
              </a:rPr>
              <a:t>Favourable</a:t>
            </a:r>
            <a:r>
              <a:rPr lang="en-US" sz="2000" b="1" dirty="0" smtClean="0">
                <a:solidFill>
                  <a:schemeClr val="tx2"/>
                </a:solidFill>
              </a:rPr>
              <a:t> Connotation</a:t>
            </a:r>
            <a:r>
              <a:rPr lang="en-US" sz="2000" dirty="0" smtClean="0">
                <a:solidFill>
                  <a:schemeClr val="tx2"/>
                </a:solidFill>
              </a:rPr>
              <a:t>: 'honest', 'noble', 'sincere’</a:t>
            </a:r>
          </a:p>
          <a:p>
            <a:pPr marL="914400" lvl="1" indent="-457200"/>
            <a:r>
              <a:rPr lang="en-US" sz="2000" b="1" dirty="0" err="1" smtClean="0">
                <a:solidFill>
                  <a:schemeClr val="tx2"/>
                </a:solidFill>
              </a:rPr>
              <a:t>Unfavourable</a:t>
            </a:r>
            <a:r>
              <a:rPr lang="en-US" sz="2000" b="1" dirty="0" smtClean="0">
                <a:solidFill>
                  <a:schemeClr val="tx2"/>
                </a:solidFill>
              </a:rPr>
              <a:t> Connotation</a:t>
            </a:r>
            <a:r>
              <a:rPr lang="en-US" sz="2000" dirty="0" smtClean="0">
                <a:solidFill>
                  <a:schemeClr val="tx2"/>
                </a:solidFill>
              </a:rPr>
              <a:t>: 'cowardly', 'slow', 'incompetent‘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191000"/>
            <a:ext cx="784860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tx2"/>
                </a:solidFill>
              </a:rPr>
              <a:t>Examples:</a:t>
            </a:r>
          </a:p>
          <a:p>
            <a:r>
              <a:rPr lang="en-US" i="1" dirty="0" smtClean="0">
                <a:solidFill>
                  <a:schemeClr val="tx2"/>
                </a:solidFill>
              </a:rPr>
              <a:t>	</a:t>
            </a:r>
            <a:r>
              <a:rPr lang="en-US" sz="2400" dirty="0" smtClean="0">
                <a:solidFill>
                  <a:schemeClr val="tx2"/>
                </a:solidFill>
              </a:rPr>
              <a:t>They gave us cheap stuff. </a:t>
            </a:r>
          </a:p>
          <a:p>
            <a:r>
              <a:rPr lang="en-US" sz="2400" dirty="0" smtClean="0">
                <a:solidFill>
                  <a:schemeClr val="tx2"/>
                </a:solidFill>
              </a:rPr>
              <a:t>	At this shop, they sell things cheap</a:t>
            </a:r>
            <a:endParaRPr lang="en-US" sz="2400" dirty="0">
              <a:solidFill>
                <a:schemeClr val="tx2"/>
              </a:solidFill>
            </a:endParaRPr>
          </a:p>
        </p:txBody>
      </p:sp>
      <p:pic>
        <p:nvPicPr>
          <p:cNvPr id="5" name="Picture 4" descr="LINE R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9200"/>
            <a:ext cx="9144000" cy="4590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solidFill>
                  <a:schemeClr val="accent2">
                    <a:lumMod val="50000"/>
                  </a:schemeClr>
                </a:solidFill>
              </a:rPr>
              <a:t>LANGUAGE BARRIERS</a:t>
            </a:r>
            <a:endParaRPr lang="en-US" sz="40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800" b="1" dirty="0" smtClean="0">
              <a:solidFill>
                <a:schemeClr val="tx2"/>
              </a:solidFill>
            </a:endParaRPr>
          </a:p>
          <a:p>
            <a:endParaRPr lang="en-US" sz="2800" b="1" dirty="0" smtClean="0">
              <a:solidFill>
                <a:schemeClr val="tx2"/>
              </a:solidFill>
            </a:endParaRPr>
          </a:p>
          <a:p>
            <a:r>
              <a:rPr lang="en-US" sz="2800" b="1" dirty="0" smtClean="0">
                <a:solidFill>
                  <a:schemeClr val="tx2"/>
                </a:solidFill>
              </a:rPr>
              <a:t>Different Languages</a:t>
            </a:r>
          </a:p>
          <a:p>
            <a:endParaRPr lang="en-US" sz="2800" b="1" dirty="0" smtClean="0">
              <a:solidFill>
                <a:schemeClr val="tx2"/>
              </a:solidFill>
            </a:endParaRPr>
          </a:p>
          <a:p>
            <a:endParaRPr lang="en-US" sz="2800" b="1" dirty="0" smtClean="0">
              <a:solidFill>
                <a:schemeClr val="tx2"/>
              </a:solidFill>
            </a:endParaRPr>
          </a:p>
          <a:p>
            <a:endParaRPr lang="en-US" sz="2800" b="1" dirty="0" smtClean="0">
              <a:solidFill>
                <a:schemeClr val="tx2"/>
              </a:solidFill>
            </a:endParaRPr>
          </a:p>
          <a:p>
            <a:r>
              <a:rPr lang="en-US" sz="2800" b="1" dirty="0" smtClean="0">
                <a:solidFill>
                  <a:schemeClr val="tx2"/>
                </a:solidFill>
              </a:rPr>
              <a:t>No Clarity in Speech</a:t>
            </a:r>
            <a:endParaRPr lang="en-US" sz="2800" b="1" dirty="0">
              <a:solidFill>
                <a:schemeClr val="tx2"/>
              </a:solidFill>
            </a:endParaRPr>
          </a:p>
        </p:txBody>
      </p:sp>
      <p:pic>
        <p:nvPicPr>
          <p:cNvPr id="4" name="Picture 3" descr="LINE R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9200"/>
            <a:ext cx="9144000" cy="45904"/>
          </a:xfrm>
          <a:prstGeom prst="rect">
            <a:avLst/>
          </a:prstGeom>
        </p:spPr>
      </p:pic>
      <p:pic>
        <p:nvPicPr>
          <p:cNvPr id="5" name="Picture 4" descr="Chalkboard-Globe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029200" y="1600200"/>
            <a:ext cx="3200400" cy="2129831"/>
          </a:xfrm>
          <a:prstGeom prst="rect">
            <a:avLst/>
          </a:prstGeom>
        </p:spPr>
      </p:pic>
      <p:pic>
        <p:nvPicPr>
          <p:cNvPr id="6" name="Picture 5" descr="image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962400"/>
            <a:ext cx="3200400" cy="212972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solidFill>
                  <a:schemeClr val="accent2">
                    <a:lumMod val="50000"/>
                  </a:schemeClr>
                </a:solidFill>
              </a:rPr>
              <a:t>LANGUAGE BARRIERS</a:t>
            </a:r>
            <a:endParaRPr lang="en-US" sz="40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7162800" cy="4754563"/>
          </a:xfrm>
        </p:spPr>
        <p:txBody>
          <a:bodyPr>
            <a:normAutofit/>
          </a:bodyPr>
          <a:lstStyle/>
          <a:p>
            <a:endParaRPr lang="en-US" sz="2800" b="1" dirty="0" smtClean="0">
              <a:solidFill>
                <a:schemeClr val="tx2"/>
              </a:solidFill>
            </a:endParaRPr>
          </a:p>
          <a:p>
            <a:endParaRPr lang="en-US" sz="2800" b="1" dirty="0" smtClean="0">
              <a:solidFill>
                <a:schemeClr val="tx2"/>
              </a:solidFill>
            </a:endParaRPr>
          </a:p>
          <a:p>
            <a:pPr algn="r"/>
            <a:r>
              <a:rPr lang="en-US" sz="2800" b="1" dirty="0" smtClean="0">
                <a:solidFill>
                  <a:schemeClr val="tx2"/>
                </a:solidFill>
              </a:rPr>
              <a:t>Using Jargons</a:t>
            </a:r>
          </a:p>
          <a:p>
            <a:endParaRPr lang="en-US" sz="2800" b="1" dirty="0" smtClean="0">
              <a:solidFill>
                <a:schemeClr val="tx2"/>
              </a:solidFill>
            </a:endParaRPr>
          </a:p>
          <a:p>
            <a:endParaRPr lang="en-US" sz="2800" b="1" dirty="0" smtClean="0">
              <a:solidFill>
                <a:schemeClr val="tx2"/>
              </a:solidFill>
            </a:endParaRPr>
          </a:p>
          <a:p>
            <a:endParaRPr lang="en-US" sz="2800" b="1" dirty="0" smtClean="0">
              <a:solidFill>
                <a:schemeClr val="tx2"/>
              </a:solidFill>
            </a:endParaRPr>
          </a:p>
          <a:p>
            <a:endParaRPr lang="en-US" sz="2800" b="1" dirty="0" smtClean="0">
              <a:solidFill>
                <a:schemeClr val="tx2"/>
              </a:solidFill>
            </a:endParaRPr>
          </a:p>
          <a:p>
            <a:r>
              <a:rPr lang="en-US" sz="2800" b="1" dirty="0" smtClean="0">
                <a:solidFill>
                  <a:schemeClr val="tx2"/>
                </a:solidFill>
              </a:rPr>
              <a:t>Not being specific</a:t>
            </a:r>
            <a:endParaRPr lang="en-US" sz="2800" b="1" dirty="0">
              <a:solidFill>
                <a:schemeClr val="tx2"/>
              </a:solidFill>
            </a:endParaRPr>
          </a:p>
        </p:txBody>
      </p:sp>
      <p:pic>
        <p:nvPicPr>
          <p:cNvPr id="4" name="Picture 3" descr="LINE R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9200"/>
            <a:ext cx="9144000" cy="45904"/>
          </a:xfrm>
          <a:prstGeom prst="rect">
            <a:avLst/>
          </a:prstGeom>
        </p:spPr>
      </p:pic>
      <p:pic>
        <p:nvPicPr>
          <p:cNvPr id="5" name="Picture 4" descr="6a00d8341d417153ef01156f51457c970b-800wi.jpg"/>
          <p:cNvPicPr>
            <a:picLocks noChangeAspect="1"/>
          </p:cNvPicPr>
          <p:nvPr/>
        </p:nvPicPr>
        <p:blipFill>
          <a:blip r:embed="rId3">
            <a:lum bright="13000"/>
          </a:blip>
          <a:stretch>
            <a:fillRect/>
          </a:stretch>
        </p:blipFill>
        <p:spPr>
          <a:xfrm>
            <a:off x="1295400" y="1447800"/>
            <a:ext cx="2667000" cy="2743200"/>
          </a:xfrm>
          <a:prstGeom prst="rect">
            <a:avLst/>
          </a:prstGeom>
        </p:spPr>
      </p:pic>
      <p:pic>
        <p:nvPicPr>
          <p:cNvPr id="7" name="Picture 6" descr="b42e30e363efeb55691c91f7b3077bb4_w640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400" y="3962400"/>
            <a:ext cx="3352800" cy="223170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ullying.jpg"/>
          <p:cNvPicPr>
            <a:picLocks noChangeAspect="1"/>
          </p:cNvPicPr>
          <p:nvPr/>
        </p:nvPicPr>
        <p:blipFill>
          <a:blip r:embed="rId2">
            <a:lum bright="-19000" contrast="15000"/>
          </a:blip>
          <a:stretch>
            <a:fillRect/>
          </a:stretch>
        </p:blipFill>
        <p:spPr>
          <a:xfrm>
            <a:off x="0" y="-678"/>
            <a:ext cx="9144000" cy="68593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152400"/>
            <a:ext cx="9144000" cy="2215991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 smtClean="0">
                <a:solidFill>
                  <a:schemeClr val="bg1"/>
                </a:solidFill>
              </a:rPr>
              <a:t>SOCIO-PSYCHOLOGICAL BARRIERS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533401"/>
            <a:ext cx="7772400" cy="914399"/>
          </a:xfrm>
        </p:spPr>
        <p:txBody>
          <a:bodyPr>
            <a:noAutofit/>
          </a:bodyPr>
          <a:lstStyle/>
          <a:p>
            <a:r>
              <a:rPr lang="en-US" dirty="0" smtClean="0">
                <a:latin typeface="Algerian" pitchFamily="82" charset="0"/>
              </a:rPr>
              <a:t>What is </a:t>
            </a:r>
            <a:r>
              <a:rPr lang="en-US" dirty="0" err="1" smtClean="0">
                <a:latin typeface="Algerian" pitchFamily="82" charset="0"/>
              </a:rPr>
              <a:t>Pyschological</a:t>
            </a:r>
            <a:r>
              <a:rPr lang="en-US" dirty="0" smtClean="0">
                <a:latin typeface="Algerian" pitchFamily="82" charset="0"/>
              </a:rPr>
              <a:t> barrier?</a:t>
            </a:r>
            <a:endParaRPr lang="en-US" dirty="0">
              <a:latin typeface="Algerian" pitchFamily="8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0600" y="1981200"/>
            <a:ext cx="4495800" cy="3657600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tx1"/>
                </a:solidFill>
                <a:latin typeface="Aharoni" pitchFamily="2" charset="-79"/>
                <a:cs typeface="Aharoni" pitchFamily="2" charset="-79"/>
              </a:rPr>
              <a:t>Psychological barriers can be described as the cause of distorted communication because of human psychology problems. </a:t>
            </a:r>
            <a:endParaRPr lang="en-US" b="1" dirty="0">
              <a:solidFill>
                <a:schemeClr val="tx1"/>
              </a:solidFill>
              <a:latin typeface="Aharoni" pitchFamily="2" charset="-79"/>
              <a:cs typeface="Aharoni" pitchFamily="2" charset="-79"/>
            </a:endParaRPr>
          </a:p>
        </p:txBody>
      </p:sp>
      <p:pic>
        <p:nvPicPr>
          <p:cNvPr id="4" name="Picture 3" descr="C:\Users\pradip\Desktop\Communication skills\presentation\imagesr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172200" y="1905000"/>
            <a:ext cx="2743200" cy="2743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609600"/>
          </a:xfrm>
        </p:spPr>
        <p:txBody>
          <a:bodyPr>
            <a:noAutofit/>
          </a:bodyPr>
          <a:lstStyle/>
          <a:p>
            <a:r>
              <a:rPr lang="en-US" dirty="0" smtClean="0">
                <a:latin typeface="Algerian" pitchFamily="82" charset="0"/>
              </a:rPr>
              <a:t>    Psychological barriers </a:t>
            </a:r>
            <a:endParaRPr lang="en-US" dirty="0">
              <a:latin typeface="Algerian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3810000" cy="4830763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 smtClean="0">
                <a:latin typeface="Aharoni" pitchFamily="2" charset="-79"/>
                <a:cs typeface="Aharoni" pitchFamily="2" charset="-79"/>
              </a:rPr>
              <a:t>Attitude and opinions:</a:t>
            </a:r>
          </a:p>
          <a:p>
            <a:r>
              <a:rPr lang="en-US" b="1" dirty="0" smtClean="0">
                <a:latin typeface="Aharoni" pitchFamily="2" charset="-79"/>
                <a:cs typeface="Aharoni" pitchFamily="2" charset="-79"/>
              </a:rPr>
              <a:t>Emotions</a:t>
            </a:r>
          </a:p>
          <a:p>
            <a:r>
              <a:rPr lang="en-US" b="1" dirty="0" smtClean="0">
                <a:latin typeface="Aharoni" pitchFamily="2" charset="-79"/>
                <a:cs typeface="Aharoni" pitchFamily="2" charset="-79"/>
              </a:rPr>
              <a:t>Filtering and distortion of message</a:t>
            </a:r>
          </a:p>
          <a:p>
            <a:r>
              <a:rPr lang="en-US" b="1" dirty="0" smtClean="0">
                <a:latin typeface="Aharoni" pitchFamily="2" charset="-79"/>
                <a:cs typeface="Aharoni" pitchFamily="2" charset="-79"/>
              </a:rPr>
              <a:t>Status difference</a:t>
            </a:r>
          </a:p>
          <a:p>
            <a:r>
              <a:rPr lang="en-US" b="1" dirty="0" smtClean="0">
                <a:latin typeface="Aharoni" pitchFamily="2" charset="-79"/>
                <a:cs typeface="Aharoni" pitchFamily="2" charset="-79"/>
              </a:rPr>
              <a:t>In attention</a:t>
            </a:r>
          </a:p>
          <a:p>
            <a:r>
              <a:rPr lang="en-US" b="1" dirty="0" smtClean="0">
                <a:latin typeface="Aharoni" pitchFamily="2" charset="-79"/>
                <a:cs typeface="Aharoni" pitchFamily="2" charset="-79"/>
              </a:rPr>
              <a:t>Closed mind</a:t>
            </a:r>
          </a:p>
          <a:p>
            <a:r>
              <a:rPr lang="en-US" b="1" dirty="0" smtClean="0">
                <a:latin typeface="Aharoni" pitchFamily="2" charset="-79"/>
                <a:cs typeface="Aharoni" pitchFamily="2" charset="-79"/>
              </a:rPr>
              <a:t>Fields of experience</a:t>
            </a:r>
          </a:p>
          <a:p>
            <a:endParaRPr lang="en-US" sz="32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Picture 8" descr="C:\Users\pradip\Desktop\images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67200" y="1828800"/>
            <a:ext cx="4343400" cy="37338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lgerian" pitchFamily="82" charset="0"/>
              </a:rPr>
              <a:t>Others include: </a:t>
            </a:r>
            <a:endParaRPr lang="en-US" dirty="0">
              <a:latin typeface="Algerian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724400" cy="4525963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Aharoni" pitchFamily="2" charset="-79"/>
                <a:cs typeface="Aharoni" pitchFamily="2" charset="-79"/>
              </a:rPr>
              <a:t>Group identification</a:t>
            </a:r>
          </a:p>
          <a:p>
            <a:r>
              <a:rPr lang="en-US" dirty="0" smtClean="0">
                <a:latin typeface="Aharoni" pitchFamily="2" charset="-79"/>
                <a:cs typeface="Aharoni" pitchFamily="2" charset="-79"/>
              </a:rPr>
              <a:t>Self-image</a:t>
            </a:r>
          </a:p>
          <a:p>
            <a:r>
              <a:rPr lang="en-US" b="1" dirty="0" smtClean="0">
                <a:latin typeface="Aharoni" pitchFamily="2" charset="-79"/>
                <a:cs typeface="Aharoni" pitchFamily="2" charset="-79"/>
              </a:rPr>
              <a:t>Premature evaluation</a:t>
            </a:r>
          </a:p>
          <a:p>
            <a:r>
              <a:rPr lang="en-US" dirty="0" smtClean="0">
                <a:latin typeface="Aharoni" pitchFamily="2" charset="-79"/>
                <a:cs typeface="Aharoni" pitchFamily="2" charset="-79"/>
              </a:rPr>
              <a:t>Distrust</a:t>
            </a:r>
          </a:p>
          <a:p>
            <a:r>
              <a:rPr lang="en-US" dirty="0" smtClean="0">
                <a:latin typeface="Aharoni" pitchFamily="2" charset="-79"/>
                <a:cs typeface="Aharoni" pitchFamily="2" charset="-79"/>
              </a:rPr>
              <a:t>Poor retention</a:t>
            </a:r>
          </a:p>
        </p:txBody>
      </p:sp>
      <p:pic>
        <p:nvPicPr>
          <p:cNvPr id="4" name="Picture 2" descr="C:\Users\pradip\Desktop\images7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91200" y="1524000"/>
            <a:ext cx="2971800" cy="4038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iverse-workforce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238585"/>
            <a:ext cx="8458200" cy="56194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152400"/>
            <a:ext cx="9144000" cy="1292662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 smtClean="0">
                <a:solidFill>
                  <a:schemeClr val="accent2">
                    <a:lumMod val="50000"/>
                  </a:schemeClr>
                </a:solidFill>
              </a:rPr>
              <a:t>CROSS-CULTURAL BARRIERS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cc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81" y="1142984"/>
            <a:ext cx="9106805" cy="4643470"/>
          </a:xfr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/>
          <a:lstStyle/>
          <a:p>
            <a:r>
              <a:rPr lang="en-GB" b="1" dirty="0" smtClean="0">
                <a:solidFill>
                  <a:schemeClr val="accent2">
                    <a:lumMod val="50000"/>
                  </a:schemeClr>
                </a:solidFill>
              </a:rPr>
              <a:t>Cross Culture Communication</a:t>
            </a:r>
            <a:endParaRPr lang="en-US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b="1" dirty="0" smtClean="0">
                <a:solidFill>
                  <a:schemeClr val="tx2"/>
                </a:solidFill>
              </a:rPr>
              <a:t>Meaning of Cross Culture Communication</a:t>
            </a:r>
          </a:p>
          <a:p>
            <a:endParaRPr lang="en-GB" b="1" dirty="0" smtClean="0">
              <a:solidFill>
                <a:schemeClr val="tx2"/>
              </a:solidFill>
            </a:endParaRPr>
          </a:p>
          <a:p>
            <a:endParaRPr lang="en-GB" b="1" dirty="0" smtClean="0">
              <a:solidFill>
                <a:schemeClr val="tx2"/>
              </a:solidFill>
            </a:endParaRPr>
          </a:p>
          <a:p>
            <a:r>
              <a:rPr lang="en-GB" b="1" dirty="0" smtClean="0">
                <a:solidFill>
                  <a:schemeClr val="tx2"/>
                </a:solidFill>
              </a:rPr>
              <a:t>Understanding different cultures facilitates Cross Culture Communication</a:t>
            </a:r>
          </a:p>
          <a:p>
            <a:endParaRPr lang="en-GB" b="1" dirty="0" smtClean="0">
              <a:solidFill>
                <a:schemeClr val="tx2"/>
              </a:solidFill>
            </a:endParaRPr>
          </a:p>
          <a:p>
            <a:endParaRPr lang="en-GB" b="1" dirty="0" smtClean="0">
              <a:solidFill>
                <a:schemeClr val="tx2"/>
              </a:solidFill>
            </a:endParaRPr>
          </a:p>
          <a:p>
            <a:r>
              <a:rPr lang="en-GB" b="1" dirty="0" smtClean="0">
                <a:solidFill>
                  <a:schemeClr val="tx2"/>
                </a:solidFill>
              </a:rPr>
              <a:t>Components of Cross Culture Communication</a:t>
            </a:r>
          </a:p>
        </p:txBody>
      </p:sp>
      <p:pic>
        <p:nvPicPr>
          <p:cNvPr id="4" name="Picture 3" descr="LINE R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9200"/>
            <a:ext cx="9144000" cy="4590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>
            <a:normAutofit/>
          </a:bodyPr>
          <a:lstStyle/>
          <a:p>
            <a:r>
              <a:rPr lang="en-GB" b="1" dirty="0" smtClean="0">
                <a:solidFill>
                  <a:schemeClr val="accent2">
                    <a:lumMod val="50000"/>
                  </a:schemeClr>
                </a:solidFill>
              </a:rPr>
              <a:t>Different Cross Cultural Barrier</a:t>
            </a:r>
            <a:endParaRPr lang="en-US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0100" y="1142984"/>
            <a:ext cx="7686700" cy="4983179"/>
          </a:xfrm>
        </p:spPr>
        <p:txBody>
          <a:bodyPr>
            <a:normAutofit/>
          </a:bodyPr>
          <a:lstStyle/>
          <a:p>
            <a:endParaRPr lang="en-GB" b="1" dirty="0" smtClean="0">
              <a:solidFill>
                <a:schemeClr val="tx2"/>
              </a:solidFill>
            </a:endParaRPr>
          </a:p>
          <a:p>
            <a:endParaRPr lang="en-GB" b="1" dirty="0" smtClean="0">
              <a:solidFill>
                <a:schemeClr val="tx2"/>
              </a:solidFill>
            </a:endParaRPr>
          </a:p>
          <a:p>
            <a:r>
              <a:rPr lang="en-GB" b="1" dirty="0" smtClean="0">
                <a:solidFill>
                  <a:schemeClr val="tx2"/>
                </a:solidFill>
              </a:rPr>
              <a:t>Language</a:t>
            </a:r>
          </a:p>
          <a:p>
            <a:endParaRPr lang="en-GB" b="1" dirty="0" smtClean="0">
              <a:solidFill>
                <a:schemeClr val="tx2"/>
              </a:solidFill>
            </a:endParaRPr>
          </a:p>
          <a:p>
            <a:endParaRPr lang="en-GB" b="1" dirty="0" smtClean="0">
              <a:solidFill>
                <a:schemeClr val="tx2"/>
              </a:solidFill>
            </a:endParaRPr>
          </a:p>
          <a:p>
            <a:endParaRPr lang="en-GB" b="1" dirty="0" smtClean="0">
              <a:solidFill>
                <a:schemeClr val="tx2"/>
              </a:solidFill>
            </a:endParaRPr>
          </a:p>
          <a:p>
            <a:r>
              <a:rPr lang="en-GB" b="1" dirty="0" smtClean="0">
                <a:solidFill>
                  <a:schemeClr val="tx2"/>
                </a:solidFill>
              </a:rPr>
              <a:t>Values</a:t>
            </a:r>
          </a:p>
          <a:p>
            <a:endParaRPr lang="en-GB" dirty="0" smtClean="0"/>
          </a:p>
          <a:p>
            <a:endParaRPr lang="en-US" dirty="0"/>
          </a:p>
        </p:txBody>
      </p:sp>
      <p:pic>
        <p:nvPicPr>
          <p:cNvPr id="4" name="Picture 3" descr="LINE R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9200"/>
            <a:ext cx="9144000" cy="45904"/>
          </a:xfrm>
          <a:prstGeom prst="rect">
            <a:avLst/>
          </a:prstGeom>
        </p:spPr>
      </p:pic>
      <p:pic>
        <p:nvPicPr>
          <p:cNvPr id="5" name="Picture 4" descr="multiple-language-360-feedbac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500174"/>
            <a:ext cx="2714644" cy="2714644"/>
          </a:xfrm>
          <a:prstGeom prst="rect">
            <a:avLst/>
          </a:prstGeom>
        </p:spPr>
      </p:pic>
      <p:pic>
        <p:nvPicPr>
          <p:cNvPr id="6" name="Picture 5" descr="core-values-banks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3372" y="4500570"/>
            <a:ext cx="3824292" cy="1809657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/>
          <a:lstStyle/>
          <a:p>
            <a:r>
              <a:rPr lang="en-GB" b="1" dirty="0" smtClean="0">
                <a:solidFill>
                  <a:schemeClr val="accent2">
                    <a:lumMod val="50000"/>
                  </a:schemeClr>
                </a:solidFill>
              </a:rPr>
              <a:t>Different Cross Cultural Barrier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4840303"/>
          </a:xfrm>
        </p:spPr>
        <p:txBody>
          <a:bodyPr/>
          <a:lstStyle/>
          <a:p>
            <a:endParaRPr lang="en-GB" b="1" dirty="0" smtClean="0">
              <a:solidFill>
                <a:schemeClr val="tx2"/>
              </a:solidFill>
            </a:endParaRPr>
          </a:p>
          <a:p>
            <a:endParaRPr lang="en-GB" b="1" dirty="0" smtClean="0">
              <a:solidFill>
                <a:schemeClr val="tx2"/>
              </a:solidFill>
            </a:endParaRPr>
          </a:p>
          <a:p>
            <a:r>
              <a:rPr lang="en-GB" b="1" dirty="0" smtClean="0">
                <a:solidFill>
                  <a:schemeClr val="tx2"/>
                </a:solidFill>
              </a:rPr>
              <a:t>Social Relation</a:t>
            </a:r>
          </a:p>
          <a:p>
            <a:endParaRPr lang="en-GB" b="1" dirty="0" smtClean="0">
              <a:solidFill>
                <a:schemeClr val="tx2"/>
              </a:solidFill>
            </a:endParaRPr>
          </a:p>
          <a:p>
            <a:endParaRPr lang="en-GB" b="1" dirty="0" smtClean="0">
              <a:solidFill>
                <a:schemeClr val="tx2"/>
              </a:solidFill>
            </a:endParaRPr>
          </a:p>
          <a:p>
            <a:endParaRPr lang="en-GB" b="1" dirty="0" smtClean="0">
              <a:solidFill>
                <a:schemeClr val="tx2"/>
              </a:solidFill>
            </a:endParaRPr>
          </a:p>
          <a:p>
            <a:r>
              <a:rPr lang="en-GB" b="1" dirty="0" smtClean="0">
                <a:solidFill>
                  <a:schemeClr val="tx2"/>
                </a:solidFill>
              </a:rPr>
              <a:t>Concept of time</a:t>
            </a:r>
          </a:p>
          <a:p>
            <a:endParaRPr lang="en-GB" dirty="0" smtClean="0">
              <a:solidFill>
                <a:schemeClr val="tx2"/>
              </a:solidFill>
            </a:endParaRPr>
          </a:p>
        </p:txBody>
      </p:sp>
      <p:pic>
        <p:nvPicPr>
          <p:cNvPr id="5" name="Picture 4" descr="LINE R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9200"/>
            <a:ext cx="9144000" cy="45904"/>
          </a:xfrm>
          <a:prstGeom prst="rect">
            <a:avLst/>
          </a:prstGeom>
        </p:spPr>
      </p:pic>
      <p:pic>
        <p:nvPicPr>
          <p:cNvPr id="6" name="Picture 5" descr="finger-painting-togethersm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714488"/>
            <a:ext cx="3046100" cy="2180052"/>
          </a:xfrm>
          <a:prstGeom prst="rect">
            <a:avLst/>
          </a:prstGeom>
        </p:spPr>
      </p:pic>
      <p:pic>
        <p:nvPicPr>
          <p:cNvPr id="7" name="Picture 6" descr="images (1)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4143380"/>
            <a:ext cx="3000396" cy="2247401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/>
          <a:lstStyle/>
          <a:p>
            <a:r>
              <a:rPr lang="en-GB" b="1" dirty="0" smtClean="0">
                <a:solidFill>
                  <a:schemeClr val="accent2">
                    <a:lumMod val="50000"/>
                  </a:schemeClr>
                </a:solidFill>
              </a:rPr>
              <a:t>Different Cross Cultural Barrier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1546"/>
            <a:ext cx="8229600" cy="5054617"/>
          </a:xfrm>
        </p:spPr>
        <p:txBody>
          <a:bodyPr/>
          <a:lstStyle/>
          <a:p>
            <a:endParaRPr lang="en-GB" b="1" dirty="0" smtClean="0">
              <a:solidFill>
                <a:schemeClr val="tx2"/>
              </a:solidFill>
            </a:endParaRPr>
          </a:p>
          <a:p>
            <a:endParaRPr lang="en-GB" b="1" dirty="0" smtClean="0">
              <a:solidFill>
                <a:schemeClr val="tx2"/>
              </a:solidFill>
            </a:endParaRPr>
          </a:p>
          <a:p>
            <a:r>
              <a:rPr lang="en-GB" b="1" dirty="0" smtClean="0">
                <a:solidFill>
                  <a:schemeClr val="tx2"/>
                </a:solidFill>
              </a:rPr>
              <a:t>Concept of space</a:t>
            </a:r>
          </a:p>
          <a:p>
            <a:endParaRPr lang="en-GB" b="1" dirty="0" smtClean="0">
              <a:solidFill>
                <a:schemeClr val="tx2"/>
              </a:solidFill>
            </a:endParaRPr>
          </a:p>
          <a:p>
            <a:endParaRPr lang="en-GB" b="1" dirty="0" smtClean="0">
              <a:solidFill>
                <a:schemeClr val="tx2"/>
              </a:solidFill>
            </a:endParaRPr>
          </a:p>
          <a:p>
            <a:endParaRPr lang="en-GB" b="1" dirty="0" smtClean="0">
              <a:solidFill>
                <a:schemeClr val="tx2"/>
              </a:solidFill>
            </a:endParaRPr>
          </a:p>
          <a:p>
            <a:endParaRPr lang="en-GB" b="1" dirty="0" smtClean="0">
              <a:solidFill>
                <a:schemeClr val="tx2"/>
              </a:solidFill>
            </a:endParaRPr>
          </a:p>
          <a:p>
            <a:r>
              <a:rPr lang="en-GB" b="1" dirty="0" smtClean="0">
                <a:solidFill>
                  <a:schemeClr val="tx2"/>
                </a:solidFill>
              </a:rPr>
              <a:t>Gestures</a:t>
            </a:r>
            <a:endParaRPr lang="en-US" b="1" dirty="0" smtClean="0">
              <a:solidFill>
                <a:schemeClr val="tx2"/>
              </a:solidFill>
            </a:endParaRPr>
          </a:p>
          <a:p>
            <a:endParaRPr lang="en-US" dirty="0">
              <a:solidFill>
                <a:schemeClr val="tx2"/>
              </a:solidFill>
            </a:endParaRPr>
          </a:p>
        </p:txBody>
      </p:sp>
      <p:pic>
        <p:nvPicPr>
          <p:cNvPr id="4" name="Picture 3" descr="LINE R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9200"/>
            <a:ext cx="9144000" cy="45904"/>
          </a:xfrm>
          <a:prstGeom prst="rect">
            <a:avLst/>
          </a:prstGeom>
        </p:spPr>
      </p:pic>
      <p:pic>
        <p:nvPicPr>
          <p:cNvPr id="5" name="Picture 4" descr="tooclose_crop380w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0562" y="1571612"/>
            <a:ext cx="3257573" cy="2143140"/>
          </a:xfrm>
          <a:prstGeom prst="rect">
            <a:avLst/>
          </a:prstGeom>
        </p:spPr>
      </p:pic>
      <p:pic>
        <p:nvPicPr>
          <p:cNvPr id="6" name="Picture 5" descr="Fotolia_36074322_M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357686" y="3929066"/>
            <a:ext cx="3714776" cy="237806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ngerConflict.jpg"/>
          <p:cNvPicPr>
            <a:picLocks noChangeAspect="1"/>
          </p:cNvPicPr>
          <p:nvPr/>
        </p:nvPicPr>
        <p:blipFill>
          <a:blip r:embed="rId2">
            <a:lum/>
          </a:blip>
          <a:srcRect b="8488"/>
          <a:stretch>
            <a:fillRect/>
          </a:stretch>
        </p:blipFill>
        <p:spPr>
          <a:xfrm>
            <a:off x="0" y="1284360"/>
            <a:ext cx="9144000" cy="5573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152400"/>
            <a:ext cx="8915400" cy="1938992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 smtClean="0">
                <a:solidFill>
                  <a:schemeClr val="accent1">
                    <a:lumMod val="50000"/>
                  </a:schemeClr>
                </a:solidFill>
              </a:rPr>
              <a:t>ORGANISATIONAL BARRIERS</a:t>
            </a:r>
            <a:endParaRPr lang="en-US" sz="60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Organizational barriers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33400" y="1600200"/>
            <a:ext cx="80772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Loss or distortion of messages as they pass from one level to another</a:t>
            </a:r>
          </a:p>
          <a:p>
            <a:pPr>
              <a:buFont typeface="Wingdings" pitchFamily="2" charset="2"/>
              <a:buChar char="Ø"/>
            </a:pPr>
            <a:endParaRPr lang="en-US" dirty="0" smtClean="0"/>
          </a:p>
          <a:p>
            <a:endParaRPr lang="en-US" dirty="0" smtClean="0"/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Filtering of information according to one’s understanding/interpretation</a:t>
            </a:r>
          </a:p>
          <a:p>
            <a:pPr>
              <a:buFont typeface="Wingdings" pitchFamily="2" charset="2"/>
              <a:buChar char="Ø"/>
            </a:pPr>
            <a:endParaRPr lang="en-US" dirty="0" smtClean="0"/>
          </a:p>
          <a:p>
            <a:endParaRPr lang="en-US" dirty="0" smtClean="0"/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Messages not read completely or not understood correctly</a:t>
            </a:r>
          </a:p>
          <a:p>
            <a:pPr>
              <a:buFont typeface="Wingdings" pitchFamily="2" charset="2"/>
              <a:buChar char="Ø"/>
            </a:pPr>
            <a:endParaRPr lang="en-US" dirty="0" smtClean="0"/>
          </a:p>
          <a:p>
            <a:endParaRPr lang="en-US" dirty="0" smtClean="0"/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Deliberate withholding of information from peers perceived as rivals </a:t>
            </a:r>
          </a:p>
          <a:p>
            <a:pPr>
              <a:buFont typeface="Wingdings" pitchFamily="2" charset="2"/>
              <a:buChar char="Ø"/>
            </a:pPr>
            <a:endParaRPr lang="en-US" dirty="0" smtClean="0"/>
          </a:p>
          <a:p>
            <a:endParaRPr lang="en-US" dirty="0" smtClean="0"/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Information  gap if upper level does not know the true state of affairs</a:t>
            </a:r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….cont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609600" y="1834277"/>
            <a:ext cx="80772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/>
              <a:t>Lack of communication </a:t>
            </a:r>
            <a:r>
              <a:rPr lang="en-US" dirty="0" smtClean="0"/>
              <a:t>policy</a:t>
            </a:r>
          </a:p>
          <a:p>
            <a:pPr>
              <a:buFont typeface="Wingdings" pitchFamily="2" charset="2"/>
              <a:buChar char="Ø"/>
            </a:pPr>
            <a:endParaRPr lang="en-US" dirty="0" smtClean="0"/>
          </a:p>
          <a:p>
            <a:pPr>
              <a:buFont typeface="Wingdings" pitchFamily="2" charset="2"/>
              <a:buChar char="Ø"/>
            </a:pPr>
            <a:endParaRPr lang="en-US" dirty="0" smtClean="0"/>
          </a:p>
          <a:p>
            <a:pPr>
              <a:buFont typeface="Wingdings" pitchFamily="2" charset="2"/>
              <a:buChar char="Ø"/>
            </a:pPr>
            <a:r>
              <a:rPr lang="en-US" dirty="0"/>
              <a:t>Authoritarian attitude of </a:t>
            </a:r>
            <a:r>
              <a:rPr lang="en-US" dirty="0" smtClean="0"/>
              <a:t>management</a:t>
            </a:r>
          </a:p>
          <a:p>
            <a:pPr>
              <a:buFont typeface="Wingdings" pitchFamily="2" charset="2"/>
              <a:buChar char="Ø"/>
            </a:pPr>
            <a:endParaRPr lang="en-US" dirty="0" smtClean="0"/>
          </a:p>
          <a:p>
            <a:pPr>
              <a:buFont typeface="Wingdings" pitchFamily="2" charset="2"/>
              <a:buChar char="Ø"/>
            </a:pPr>
            <a:endParaRPr lang="en-US" dirty="0" smtClean="0"/>
          </a:p>
          <a:p>
            <a:pPr>
              <a:buFont typeface="Wingdings" pitchFamily="2" charset="2"/>
              <a:buChar char="Ø"/>
            </a:pPr>
            <a:r>
              <a:rPr lang="en-US" dirty="0"/>
              <a:t>Poorly Defined Authority and </a:t>
            </a:r>
            <a:r>
              <a:rPr lang="en-US" dirty="0" smtClean="0"/>
              <a:t>Responsibility</a:t>
            </a:r>
          </a:p>
          <a:p>
            <a:pPr>
              <a:buFont typeface="Wingdings" pitchFamily="2" charset="2"/>
              <a:buChar char="Ø"/>
            </a:pPr>
            <a:endParaRPr lang="en-US" dirty="0" smtClean="0"/>
          </a:p>
          <a:p>
            <a:pPr>
              <a:buFont typeface="Wingdings" pitchFamily="2" charset="2"/>
              <a:buChar char="Ø"/>
            </a:pPr>
            <a:endParaRPr lang="en-US" dirty="0" smtClean="0"/>
          </a:p>
          <a:p>
            <a:pPr>
              <a:buFont typeface="Wingdings" pitchFamily="2" charset="2"/>
              <a:buChar char="Ø"/>
            </a:pPr>
            <a:r>
              <a:rPr lang="en-US" dirty="0"/>
              <a:t>Too Many Levels in Organization </a:t>
            </a:r>
            <a:r>
              <a:rPr lang="en-US" dirty="0" smtClean="0"/>
              <a:t>Structure</a:t>
            </a:r>
          </a:p>
          <a:p>
            <a:pPr>
              <a:buFont typeface="Wingdings" pitchFamily="2" charset="2"/>
              <a:buChar char="Ø"/>
            </a:pPr>
            <a:endParaRPr lang="en-US" dirty="0" smtClean="0"/>
          </a:p>
          <a:p>
            <a:pPr>
              <a:buFont typeface="Wingdings" pitchFamily="2" charset="2"/>
              <a:buChar char="Ø"/>
            </a:pPr>
            <a:endParaRPr lang="en-US" dirty="0" smtClean="0"/>
          </a:p>
          <a:p>
            <a:pPr>
              <a:buFont typeface="Wingdings" pitchFamily="2" charset="2"/>
              <a:buChar char="Ø"/>
            </a:pPr>
            <a:r>
              <a:rPr lang="en-US" dirty="0"/>
              <a:t>Insufficient Communication Training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491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492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>
            <a:normAutofit fontScale="90000"/>
          </a:bodyPr>
          <a:lstStyle/>
          <a:p>
            <a:r>
              <a:rPr lang="en-US"/>
              <a:t>Overcoming Communication Barriers</a:t>
            </a:r>
          </a:p>
        </p:txBody>
      </p:sp>
      <p:sp>
        <p:nvSpPr>
          <p:cNvPr id="63493" name="Rectangle 5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>
            <a:normAutofit/>
          </a:bodyPr>
          <a:lstStyle/>
          <a:p>
            <a:pPr>
              <a:buNone/>
            </a:pPr>
            <a:r>
              <a:rPr lang="en-US" sz="1800" dirty="0">
                <a:latin typeface="+mj-lt"/>
                <a:cs typeface="Times New Roman" pitchFamily="18" charset="0"/>
              </a:rPr>
              <a:t>Individual </a:t>
            </a:r>
            <a:r>
              <a:rPr lang="en-US" sz="1800" dirty="0" smtClean="0">
                <a:latin typeface="+mj-lt"/>
                <a:cs typeface="Times New Roman" pitchFamily="18" charset="0"/>
              </a:rPr>
              <a:t>Skills</a:t>
            </a:r>
          </a:p>
          <a:p>
            <a:pPr>
              <a:buNone/>
            </a:pPr>
            <a:endParaRPr lang="en-US" sz="1800" dirty="0">
              <a:latin typeface="+mj-lt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1800" dirty="0" smtClean="0">
                <a:latin typeface="+mj-lt"/>
                <a:cs typeface="Times New Roman" pitchFamily="18" charset="0"/>
              </a:rPr>
              <a:t>Active listening</a:t>
            </a:r>
          </a:p>
          <a:p>
            <a:pPr>
              <a:buNone/>
            </a:pPr>
            <a:endParaRPr lang="en-US" sz="1800" dirty="0">
              <a:latin typeface="+mj-lt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1800" dirty="0" smtClean="0">
                <a:latin typeface="+mj-lt"/>
                <a:cs typeface="Times New Roman" pitchFamily="18" charset="0"/>
              </a:rPr>
              <a:t>Select </a:t>
            </a:r>
            <a:r>
              <a:rPr lang="en-US" sz="1800" dirty="0">
                <a:latin typeface="+mj-lt"/>
                <a:cs typeface="Times New Roman" pitchFamily="18" charset="0"/>
              </a:rPr>
              <a:t>the appropriate channel for the </a:t>
            </a:r>
            <a:r>
              <a:rPr lang="en-US" sz="1800" dirty="0" smtClean="0">
                <a:latin typeface="+mj-lt"/>
                <a:cs typeface="Times New Roman" pitchFamily="18" charset="0"/>
              </a:rPr>
              <a:t>message</a:t>
            </a:r>
          </a:p>
          <a:p>
            <a:pPr>
              <a:buNone/>
            </a:pPr>
            <a:endParaRPr lang="en-US" sz="1800" dirty="0">
              <a:latin typeface="+mj-lt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1800" dirty="0" smtClean="0">
                <a:latin typeface="+mj-lt"/>
                <a:cs typeface="Times New Roman" pitchFamily="18" charset="0"/>
              </a:rPr>
              <a:t>Make </a:t>
            </a:r>
            <a:r>
              <a:rPr lang="en-US" sz="1800" dirty="0">
                <a:latin typeface="+mj-lt"/>
                <a:cs typeface="Times New Roman" pitchFamily="18" charset="0"/>
              </a:rPr>
              <a:t>a special effort to understand each other's </a:t>
            </a:r>
            <a:r>
              <a:rPr lang="en-US" sz="1800" dirty="0" smtClean="0">
                <a:latin typeface="+mj-lt"/>
                <a:cs typeface="Times New Roman" pitchFamily="18" charset="0"/>
              </a:rPr>
              <a:t>perspective</a:t>
            </a:r>
          </a:p>
          <a:p>
            <a:pPr>
              <a:buNone/>
            </a:pPr>
            <a:endParaRPr lang="en-US" sz="1800" dirty="0">
              <a:latin typeface="+mj-lt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1800" dirty="0" smtClean="0">
                <a:latin typeface="+mj-lt"/>
                <a:cs typeface="Times New Roman" pitchFamily="18" charset="0"/>
              </a:rPr>
              <a:t>Managers </a:t>
            </a:r>
            <a:r>
              <a:rPr lang="en-US" sz="1800" dirty="0">
                <a:latin typeface="+mj-lt"/>
                <a:cs typeface="Times New Roman" pitchFamily="18" charset="0"/>
              </a:rPr>
              <a:t>should practice MBWA.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634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634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634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6349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6349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3" grpId="0" build="p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539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540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>
            <a:normAutofit fontScale="90000"/>
          </a:bodyPr>
          <a:lstStyle/>
          <a:p>
            <a:r>
              <a:rPr lang="en-US"/>
              <a:t>Overcoming Communication Barriers</a:t>
            </a:r>
          </a:p>
        </p:txBody>
      </p:sp>
      <p:sp>
        <p:nvSpPr>
          <p:cNvPr id="65541" name="Rectangle 5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>
            <a:normAutofit/>
          </a:bodyPr>
          <a:lstStyle/>
          <a:p>
            <a:pPr>
              <a:buNone/>
            </a:pPr>
            <a:r>
              <a:rPr lang="en-US" sz="1800" dirty="0"/>
              <a:t>Organizational </a:t>
            </a:r>
            <a:r>
              <a:rPr lang="en-US" sz="1800" dirty="0" smtClean="0"/>
              <a:t>Actions</a:t>
            </a:r>
          </a:p>
          <a:p>
            <a:pPr>
              <a:buNone/>
            </a:pPr>
            <a:endParaRPr lang="en-US" sz="1800" dirty="0"/>
          </a:p>
          <a:p>
            <a:pPr>
              <a:buFont typeface="Wingdings" pitchFamily="2" charset="2"/>
              <a:buChar char="Ø"/>
            </a:pPr>
            <a:r>
              <a:rPr lang="en-US" sz="1800" dirty="0" smtClean="0"/>
              <a:t>Create </a:t>
            </a:r>
            <a:r>
              <a:rPr lang="en-US" sz="1800" dirty="0"/>
              <a:t>a climate of trust and </a:t>
            </a:r>
            <a:r>
              <a:rPr lang="en-US" sz="1800" dirty="0" smtClean="0"/>
              <a:t>openness</a:t>
            </a:r>
          </a:p>
          <a:p>
            <a:pPr>
              <a:buFont typeface="Wingdings" pitchFamily="2" charset="2"/>
              <a:buChar char="Ø"/>
            </a:pPr>
            <a:endParaRPr lang="en-US" sz="1800" dirty="0"/>
          </a:p>
          <a:p>
            <a:pPr>
              <a:buFont typeface="Wingdings" pitchFamily="2" charset="2"/>
              <a:buChar char="Ø"/>
            </a:pPr>
            <a:r>
              <a:rPr lang="en-US" sz="1800" dirty="0" smtClean="0"/>
              <a:t>Develop </a:t>
            </a:r>
            <a:r>
              <a:rPr lang="en-US" sz="1800" dirty="0"/>
              <a:t>and use formal information channels in all </a:t>
            </a:r>
            <a:r>
              <a:rPr lang="en-US" sz="1800" dirty="0" smtClean="0"/>
              <a:t>directions</a:t>
            </a:r>
          </a:p>
          <a:p>
            <a:pPr>
              <a:buFont typeface="Wingdings" pitchFamily="2" charset="2"/>
              <a:buChar char="Ø"/>
            </a:pPr>
            <a:endParaRPr lang="en-US" sz="1800" dirty="0"/>
          </a:p>
          <a:p>
            <a:pPr>
              <a:buFont typeface="Wingdings" pitchFamily="2" charset="2"/>
              <a:buChar char="Ø"/>
            </a:pPr>
            <a:r>
              <a:rPr lang="en-US" sz="1800" dirty="0" smtClean="0"/>
              <a:t>Encourage </a:t>
            </a:r>
            <a:r>
              <a:rPr lang="en-US" sz="1800" dirty="0"/>
              <a:t>the use of multiple channels including formal and informal </a:t>
            </a:r>
            <a:r>
              <a:rPr lang="en-US" sz="1800" dirty="0" smtClean="0"/>
              <a:t>communications</a:t>
            </a:r>
          </a:p>
          <a:p>
            <a:pPr>
              <a:buFont typeface="Wingdings" pitchFamily="2" charset="2"/>
              <a:buChar char="Ø"/>
            </a:pPr>
            <a:endParaRPr lang="en-US" sz="1800" dirty="0"/>
          </a:p>
          <a:p>
            <a:pPr>
              <a:buFont typeface="Wingdings" pitchFamily="2" charset="2"/>
              <a:buChar char="Ø"/>
            </a:pPr>
            <a:r>
              <a:rPr lang="en-US" sz="1800" dirty="0" smtClean="0"/>
              <a:t> </a:t>
            </a:r>
            <a:r>
              <a:rPr lang="en-US" sz="1800" dirty="0"/>
              <a:t>The organizational structure should fit communication needs.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655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55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655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55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655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55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655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55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655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55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41" grpId="0" build="p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592099-a-blue-arrow-is-jumping-over-barrier-it-express-overcoming-difficulti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-1" y="1143000"/>
            <a:ext cx="914400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 smtClean="0">
                <a:ln w="31550" cmpd="sng">
                  <a:gradFill>
                    <a:gsLst>
                      <a:gs pos="25000">
                        <a:schemeClr val="accent1">
                          <a:shade val="25000"/>
                          <a:satMod val="190000"/>
                        </a:schemeClr>
                      </a:gs>
                      <a:gs pos="80000">
                        <a:schemeClr val="accent1">
                          <a:tint val="75000"/>
                          <a:satMod val="19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rgbClr val="FFFFFF"/>
                </a:solidFill>
                <a:effectLst>
                  <a:outerShdw blurRad="41275" dist="12700" dir="12000000" algn="tl" rotWithShape="0">
                    <a:srgbClr val="000000">
                      <a:alpha val="40000"/>
                    </a:srgbClr>
                  </a:outerShdw>
                </a:effectLst>
              </a:rPr>
              <a:t>CONCLUSION</a:t>
            </a:r>
            <a:endParaRPr lang="en-US" sz="96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4000" b="1" dirty="0" smtClean="0"/>
              <a:t>Ways </a:t>
            </a:r>
            <a:r>
              <a:rPr lang="en-IN" sz="4000" b="1" dirty="0"/>
              <a:t>T</a:t>
            </a:r>
            <a:r>
              <a:rPr lang="en-IN" sz="4000" b="1" dirty="0" smtClean="0"/>
              <a:t>o </a:t>
            </a:r>
            <a:r>
              <a:rPr lang="en-IN" sz="4000" b="1" dirty="0"/>
              <a:t>O</a:t>
            </a:r>
            <a:r>
              <a:rPr lang="en-IN" sz="4000" b="1" dirty="0" smtClean="0"/>
              <a:t>vercome Barriers to Communication-</a:t>
            </a:r>
            <a:endParaRPr lang="en-IN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1800" b="1" dirty="0" smtClean="0"/>
              <a:t>For Physical Barriers-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1800" dirty="0" smtClean="0"/>
              <a:t>Appropriate Seating Arrangement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1800" dirty="0" smtClean="0"/>
              <a:t>Ensure Visibility &amp; Audibility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1800" dirty="0" smtClean="0"/>
              <a:t>Environmental Comfort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1800" dirty="0" smtClean="0"/>
              <a:t>Minimise Visual/Oral Distractions</a:t>
            </a:r>
          </a:p>
          <a:p>
            <a:pPr marL="0" indent="0">
              <a:buNone/>
            </a:pPr>
            <a:r>
              <a:rPr lang="en-IN" sz="1800" b="1" dirty="0" smtClean="0"/>
              <a:t>For Semantic Barriers-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1800" dirty="0" smtClean="0"/>
              <a:t>Use of Simple Language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1800" dirty="0" smtClean="0"/>
              <a:t>Symbols &amp; Charts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1800" dirty="0" smtClean="0"/>
              <a:t>Active Listening/ Constructive feedback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074195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 smtClean="0"/>
              <a:t>Contd..</a:t>
            </a:r>
            <a:endParaRPr lang="en-IN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 smtClean="0"/>
              <a:t>For Socio-Psychological Barriers-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 smtClean="0"/>
              <a:t>Calling Attention &amp; Motivation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 smtClean="0"/>
              <a:t>Assistance &amp; Sympathy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 smtClean="0"/>
              <a:t>For Cross Cultural Barriers-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 smtClean="0"/>
              <a:t>Understanding of Traditions &amp; Customs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 smtClean="0"/>
              <a:t>Information of all Sides of Culture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60979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smtClean="0"/>
              <a:t>Contd..</a:t>
            </a:r>
            <a:endParaRPr lang="en-IN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 smtClean="0"/>
              <a:t>For Organisational Barriers-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 smtClean="0"/>
              <a:t>Simple Organisational Structure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 smtClean="0"/>
              <a:t>Avoiding Information Overload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 smtClean="0"/>
              <a:t>Flexibility in Meeting Targets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1160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E9CD9E7D940C147A1DC260109959B3E" ma:contentTypeVersion="0" ma:contentTypeDescription="Create a new document." ma:contentTypeScope="" ma:versionID="6006666a4a1b1882b1dbf4c27ee73a5c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0967b7be50301903c78f9c39c6fd9af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5E29CE7-B891-4435-ACDC-2BC376F94760}"/>
</file>

<file path=customXml/itemProps2.xml><?xml version="1.0" encoding="utf-8"?>
<ds:datastoreItem xmlns:ds="http://schemas.openxmlformats.org/officeDocument/2006/customXml" ds:itemID="{C0DB8011-EFC5-4677-9822-0F2DE7C26FD5}"/>
</file>

<file path=customXml/itemProps3.xml><?xml version="1.0" encoding="utf-8"?>
<ds:datastoreItem xmlns:ds="http://schemas.openxmlformats.org/officeDocument/2006/customXml" ds:itemID="{56E64CA5-0339-487C-BF96-BF553933ED89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3819</TotalTime>
  <Words>788</Words>
  <Application>Microsoft Office PowerPoint</Application>
  <PresentationFormat>On-screen Show (4:3)</PresentationFormat>
  <Paragraphs>262</Paragraphs>
  <Slides>38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39" baseType="lpstr">
      <vt:lpstr>Office Theme</vt:lpstr>
      <vt:lpstr>PowerPoint Presentation</vt:lpstr>
      <vt:lpstr>PowerPoint Presentation</vt:lpstr>
      <vt:lpstr>★★★    IMPORTANCE    ★★★</vt:lpstr>
      <vt:lpstr>BARRIERS</vt:lpstr>
      <vt:lpstr>FACTORS</vt:lpstr>
      <vt:lpstr>CLASSIFICATION OF BARRIERS</vt:lpstr>
      <vt:lpstr>PowerPoint Presentation</vt:lpstr>
      <vt:lpstr>Faulty Organizational Structure</vt:lpstr>
      <vt:lpstr>Noise</vt:lpstr>
      <vt:lpstr>Time and Distance</vt:lpstr>
      <vt:lpstr>Information Overload</vt:lpstr>
      <vt:lpstr>PowerPoint Presentation</vt:lpstr>
      <vt:lpstr>SEMANTICS</vt:lpstr>
      <vt:lpstr>SIMILAR SOUNDING WORDS</vt:lpstr>
      <vt:lpstr>WORDS HAVE MULTIPLE PRONUNCIATIONS </vt:lpstr>
      <vt:lpstr>WORDS HAVE MULTIPLE MEANING </vt:lpstr>
      <vt:lpstr> DENOTATIONS AND CONNOTATIONS </vt:lpstr>
      <vt:lpstr>LANGUAGE BARRIERS</vt:lpstr>
      <vt:lpstr>LANGUAGE BARRIERS</vt:lpstr>
      <vt:lpstr>PowerPoint Presentation</vt:lpstr>
      <vt:lpstr>What is Pyschological barrier?</vt:lpstr>
      <vt:lpstr>    Psychological barriers </vt:lpstr>
      <vt:lpstr>Others include: </vt:lpstr>
      <vt:lpstr>PowerPoint Presentation</vt:lpstr>
      <vt:lpstr>PowerPoint Presentation</vt:lpstr>
      <vt:lpstr>Cross Culture Communication</vt:lpstr>
      <vt:lpstr>Different Cross Cultural Barrier</vt:lpstr>
      <vt:lpstr>Different Cross Cultural Barrier</vt:lpstr>
      <vt:lpstr>Different Cross Cultural Barrier</vt:lpstr>
      <vt:lpstr>PowerPoint Presentation</vt:lpstr>
      <vt:lpstr>Organizational barriers</vt:lpstr>
      <vt:lpstr>….cont</vt:lpstr>
      <vt:lpstr>Overcoming Communication Barriers</vt:lpstr>
      <vt:lpstr>Overcoming Communication Barriers</vt:lpstr>
      <vt:lpstr>PowerPoint Presentation</vt:lpstr>
      <vt:lpstr>Ways To Overcome Barriers to Communication-</vt:lpstr>
      <vt:lpstr>Contd..</vt:lpstr>
      <vt:lpstr>Contd..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VINAY</dc:creator>
  <cp:lastModifiedBy>DELL</cp:lastModifiedBy>
  <cp:revision>313</cp:revision>
  <dcterms:created xsi:type="dcterms:W3CDTF">2013-10-14T18:05:50Z</dcterms:created>
  <dcterms:modified xsi:type="dcterms:W3CDTF">2022-11-07T02:52:54Z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0x0101002E9CD9E7D940C147A1DC260109959B3E</vt:lpwstr>
  </property>
</Properties>
</file>