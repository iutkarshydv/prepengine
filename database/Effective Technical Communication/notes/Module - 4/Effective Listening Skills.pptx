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0" r:id="rId5"/>
    <p:sldId id="284" r:id="rId6"/>
    <p:sldId id="285" r:id="rId7"/>
    <p:sldId id="287" r:id="rId8"/>
    <p:sldId id="286" r:id="rId9"/>
    <p:sldId id="288" r:id="rId10"/>
    <p:sldId id="266" r:id="rId11"/>
    <p:sldId id="279" r:id="rId12"/>
    <p:sldId id="267" r:id="rId13"/>
    <p:sldId id="268" r:id="rId14"/>
    <p:sldId id="269" r:id="rId15"/>
    <p:sldId id="271" r:id="rId16"/>
    <p:sldId id="272" r:id="rId17"/>
    <p:sldId id="289" r:id="rId18"/>
    <p:sldId id="280" r:id="rId19"/>
    <p:sldId id="281" r:id="rId20"/>
    <p:sldId id="282" r:id="rId21"/>
    <p:sldId id="283" r:id="rId22"/>
    <p:sldId id="274" r:id="rId23"/>
    <p:sldId id="275" r:id="rId24"/>
    <p:sldId id="276" r:id="rId25"/>
    <p:sldId id="290" r:id="rId26"/>
    <p:sldId id="277" r:id="rId27"/>
    <p:sldId id="278" r:id="rId2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5" name="Holder 5"/>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4" name="Holder 4"/>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07542" y="232663"/>
            <a:ext cx="5471795" cy="635000"/>
          </a:xfrm>
          <a:prstGeom prst="rect">
            <a:avLst/>
          </a:prstGeom>
        </p:spPr>
        <p:txBody>
          <a:bodyPr wrap="square" lIns="0" tIns="0" rIns="0" bIns="0">
            <a:spAutoFit/>
          </a:bodyPr>
          <a:lstStyle>
            <a:lvl1pPr>
              <a:defRPr sz="4000" b="1" i="0">
                <a:solidFill>
                  <a:srgbClr val="C00000"/>
                </a:solidFill>
                <a:latin typeface="Arial"/>
                <a:cs typeface="Arial"/>
              </a:defRPr>
            </a:lvl1pPr>
          </a:lstStyle>
          <a:p>
            <a:endParaRPr/>
          </a:p>
        </p:txBody>
      </p:sp>
      <p:sp>
        <p:nvSpPr>
          <p:cNvPr id="3" name="Holder 3"/>
          <p:cNvSpPr>
            <a:spLocks noGrp="1"/>
          </p:cNvSpPr>
          <p:nvPr>
            <p:ph type="body" idx="1"/>
          </p:nvPr>
        </p:nvSpPr>
        <p:spPr>
          <a:xfrm>
            <a:off x="459740" y="1144638"/>
            <a:ext cx="4716780" cy="2607945"/>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12/7/2022</a:t>
            </a:fld>
            <a:endParaRPr lang="en-US"/>
          </a:p>
        </p:txBody>
      </p:sp>
      <p:sp>
        <p:nvSpPr>
          <p:cNvPr id="6" name="Holder 6"/>
          <p:cNvSpPr>
            <a:spLocks noGrp="1"/>
          </p:cNvSpPr>
          <p:nvPr>
            <p:ph type="sldNum" sz="quarter" idx="7"/>
          </p:nvPr>
        </p:nvSpPr>
        <p:spPr>
          <a:xfrm>
            <a:off x="8283067" y="6466897"/>
            <a:ext cx="179070" cy="153670"/>
          </a:xfrm>
          <a:prstGeom prst="rect">
            <a:avLst/>
          </a:prstGeom>
        </p:spPr>
        <p:txBody>
          <a:bodyPr wrap="square" lIns="0" tIns="0" rIns="0" bIns="0">
            <a:spAutoFit/>
          </a:bodyPr>
          <a:lstStyle>
            <a:lvl1pPr>
              <a:defRPr sz="900" b="0" i="0">
                <a:solidFill>
                  <a:srgbClr val="888888"/>
                </a:solidFill>
                <a:latin typeface="Arial MT"/>
                <a:cs typeface="Arial MT"/>
              </a:defRPr>
            </a:lvl1pPr>
          </a:lstStyle>
          <a:p>
            <a:pPr marL="12700">
              <a:lnSpc>
                <a:spcPct val="100000"/>
              </a:lnSpc>
              <a:spcBef>
                <a:spcPts val="15"/>
              </a:spcBef>
            </a:pPr>
            <a:r>
              <a:rPr dirty="0"/>
              <a:t>1</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esolcourses.com/content/topics/animals/stories/hippo-that-lives-in-a-house.html" TargetMode="External"/><Relationship Id="rId2" Type="http://schemas.openxmlformats.org/officeDocument/2006/relationships/hyperlink" Target="../../../../videoplayback.mp4"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45945" y="1316228"/>
            <a:ext cx="6552565" cy="906017"/>
          </a:xfrm>
          <a:prstGeom prst="rect">
            <a:avLst/>
          </a:prstGeom>
        </p:spPr>
        <p:txBody>
          <a:bodyPr vert="horz" wrap="square" lIns="0" tIns="74295" rIns="0" bIns="0" rtlCol="0">
            <a:spAutoFit/>
          </a:bodyPr>
          <a:lstStyle/>
          <a:p>
            <a:pPr marR="551180" algn="ctr">
              <a:lnSpc>
                <a:spcPct val="100000"/>
              </a:lnSpc>
              <a:spcBef>
                <a:spcPts val="95"/>
              </a:spcBef>
            </a:pPr>
            <a:r>
              <a:rPr lang="en-US" sz="5400" b="1" spc="-15" dirty="0">
                <a:latin typeface="Algerian" pitchFamily="82" charset="0"/>
                <a:cs typeface="Calibri"/>
              </a:rPr>
              <a:t>Listening</a:t>
            </a:r>
            <a:r>
              <a:rPr lang="en-US" sz="5400" b="1" spc="-25" dirty="0">
                <a:latin typeface="Algerian" pitchFamily="82" charset="0"/>
                <a:cs typeface="Calibri"/>
              </a:rPr>
              <a:t> </a:t>
            </a:r>
            <a:r>
              <a:rPr lang="en-US" sz="5400" b="1" spc="-5" dirty="0">
                <a:latin typeface="Algerian" pitchFamily="82" charset="0"/>
                <a:cs typeface="Calibri"/>
              </a:rPr>
              <a:t>Skills</a:t>
            </a:r>
          </a:p>
        </p:txBody>
      </p:sp>
      <p:sp>
        <p:nvSpPr>
          <p:cNvPr id="3" name="object 3"/>
          <p:cNvSpPr txBox="1"/>
          <p:nvPr/>
        </p:nvSpPr>
        <p:spPr>
          <a:xfrm>
            <a:off x="76200" y="3787521"/>
            <a:ext cx="9067800" cy="1999906"/>
          </a:xfrm>
          <a:prstGeom prst="rect">
            <a:avLst/>
          </a:prstGeom>
        </p:spPr>
        <p:txBody>
          <a:bodyPr vert="horz" wrap="square" lIns="0" tIns="12065" rIns="0" bIns="0" rtlCol="0">
            <a:spAutoFit/>
          </a:bodyPr>
          <a:lstStyle/>
          <a:p>
            <a:pPr marR="551180">
              <a:lnSpc>
                <a:spcPct val="100000"/>
              </a:lnSpc>
              <a:spcBef>
                <a:spcPts val="95"/>
              </a:spcBef>
            </a:pPr>
            <a:r>
              <a:rPr lang="en-US" sz="4000" dirty="0" smtClean="0"/>
              <a:t>Hearing v/s </a:t>
            </a:r>
            <a:r>
              <a:rPr lang="en-US" sz="4000" dirty="0"/>
              <a:t>Listening; </a:t>
            </a:r>
            <a:endParaRPr lang="en-US" sz="4000" dirty="0" smtClean="0"/>
          </a:p>
          <a:p>
            <a:pPr marR="551180">
              <a:lnSpc>
                <a:spcPct val="100000"/>
              </a:lnSpc>
              <a:spcBef>
                <a:spcPts val="95"/>
              </a:spcBef>
            </a:pPr>
            <a:r>
              <a:rPr lang="en-US" sz="4000" dirty="0"/>
              <a:t>	</a:t>
            </a:r>
            <a:r>
              <a:rPr lang="en-US" sz="4000" dirty="0" smtClean="0"/>
              <a:t>			Barriers in Listening</a:t>
            </a:r>
            <a:endParaRPr sz="4000" dirty="0">
              <a:latin typeface="Calibri"/>
              <a:cs typeface="Calibri"/>
            </a:endParaRPr>
          </a:p>
          <a:p>
            <a:pPr>
              <a:lnSpc>
                <a:spcPct val="100000"/>
              </a:lnSpc>
              <a:spcBef>
                <a:spcPts val="50"/>
              </a:spcBef>
            </a:pPr>
            <a:endParaRPr sz="4750" dirty="0">
              <a:latin typeface="Calibri"/>
              <a:cs typeface="Calibri"/>
            </a:endParaRPr>
          </a:p>
        </p:txBody>
      </p:sp>
      <p:sp>
        <p:nvSpPr>
          <p:cNvPr id="4" name="object 4"/>
          <p:cNvSpPr/>
          <p:nvPr/>
        </p:nvSpPr>
        <p:spPr>
          <a:xfrm>
            <a:off x="451104" y="3189732"/>
            <a:ext cx="8001000" cy="17780"/>
          </a:xfrm>
          <a:custGeom>
            <a:avLst/>
            <a:gdLst/>
            <a:ahLst/>
            <a:cxnLst/>
            <a:rect l="l" t="t" r="r" b="b"/>
            <a:pathLst>
              <a:path w="8001000" h="17780">
                <a:moveTo>
                  <a:pt x="0" y="17398"/>
                </a:moveTo>
                <a:lnTo>
                  <a:pt x="8001000" y="0"/>
                </a:lnTo>
              </a:path>
            </a:pathLst>
          </a:custGeom>
          <a:ln w="70104">
            <a:solidFill>
              <a:srgbClr val="000000"/>
            </a:solidFill>
          </a:ln>
        </p:spPr>
        <p:txBody>
          <a:bodyPr wrap="square" lIns="0" tIns="0" rIns="0" bIns="0" rtlCol="0"/>
          <a:lstStyle/>
          <a:p>
            <a:endParaRPr/>
          </a:p>
        </p:txBody>
      </p:sp>
      <p:sp>
        <p:nvSpPr>
          <p:cNvPr id="6" name="object 6"/>
          <p:cNvSpPr txBox="1">
            <a:spLocks noGrp="1"/>
          </p:cNvSpPr>
          <p:nvPr>
            <p:ph type="title"/>
          </p:nvPr>
        </p:nvSpPr>
        <p:spPr>
          <a:xfrm>
            <a:off x="611225" y="506729"/>
            <a:ext cx="373380" cy="848360"/>
          </a:xfrm>
          <a:prstGeom prst="rect">
            <a:avLst/>
          </a:prstGeom>
        </p:spPr>
        <p:txBody>
          <a:bodyPr vert="horz" wrap="square" lIns="0" tIns="12700" rIns="0" bIns="0" rtlCol="0">
            <a:spAutoFit/>
          </a:bodyPr>
          <a:lstStyle/>
          <a:p>
            <a:pPr marL="12700">
              <a:lnSpc>
                <a:spcPct val="100000"/>
              </a:lnSpc>
              <a:spcBef>
                <a:spcPts val="100"/>
              </a:spcBef>
            </a:pPr>
            <a:r>
              <a:rPr sz="5400" b="0" dirty="0">
                <a:solidFill>
                  <a:srgbClr val="FFFFFF"/>
                </a:solidFill>
                <a:latin typeface="Calibri"/>
                <a:cs typeface="Calibri"/>
              </a:rPr>
              <a:t>5</a:t>
            </a:r>
            <a:endParaRPr sz="5400">
              <a:latin typeface="Calibri"/>
              <a:cs typeface="Calibri"/>
            </a:endParaRPr>
          </a:p>
        </p:txBody>
      </p:sp>
      <p:sp>
        <p:nvSpPr>
          <p:cNvPr id="7" name="object 7"/>
          <p:cNvSpPr txBox="1"/>
          <p:nvPr/>
        </p:nvSpPr>
        <p:spPr>
          <a:xfrm>
            <a:off x="8347075" y="6456070"/>
            <a:ext cx="8953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88888"/>
                </a:solidFill>
                <a:latin typeface="Arial MT"/>
                <a:cs typeface="Arial MT"/>
              </a:rPr>
              <a:t>1</a:t>
            </a:r>
            <a:endParaRPr sz="900">
              <a:latin typeface="Arial MT"/>
              <a:cs typeface="Arial M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542" y="725170"/>
            <a:ext cx="2713990" cy="528320"/>
          </a:xfrm>
          <a:prstGeom prst="rect">
            <a:avLst/>
          </a:prstGeom>
        </p:spPr>
        <p:txBody>
          <a:bodyPr vert="horz" wrap="square" lIns="0" tIns="12700" rIns="0" bIns="0" rtlCol="0">
            <a:spAutoFit/>
          </a:bodyPr>
          <a:lstStyle/>
          <a:p>
            <a:pPr marL="12700">
              <a:lnSpc>
                <a:spcPct val="100000"/>
              </a:lnSpc>
              <a:spcBef>
                <a:spcPts val="100"/>
              </a:spcBef>
            </a:pPr>
            <a:r>
              <a:rPr sz="3300" b="0" dirty="0">
                <a:solidFill>
                  <a:srgbClr val="000000"/>
                </a:solidFill>
                <a:latin typeface="Times New Roman"/>
                <a:cs typeface="Times New Roman"/>
              </a:rPr>
              <a:t>Chapter</a:t>
            </a:r>
            <a:r>
              <a:rPr sz="3300" b="0" spc="-90" dirty="0">
                <a:solidFill>
                  <a:srgbClr val="000000"/>
                </a:solidFill>
                <a:latin typeface="Times New Roman"/>
                <a:cs typeface="Times New Roman"/>
              </a:rPr>
              <a:t> </a:t>
            </a:r>
            <a:r>
              <a:rPr sz="3300" b="0" dirty="0">
                <a:solidFill>
                  <a:srgbClr val="000000"/>
                </a:solidFill>
                <a:latin typeface="Times New Roman"/>
                <a:cs typeface="Times New Roman"/>
              </a:rPr>
              <a:t>Outline</a:t>
            </a:r>
            <a:endParaRPr sz="3300" dirty="0">
              <a:latin typeface="Times New Roman"/>
              <a:cs typeface="Times New Roman"/>
            </a:endParaRPr>
          </a:p>
        </p:txBody>
      </p:sp>
      <p:sp>
        <p:nvSpPr>
          <p:cNvPr id="3" name="object 3"/>
          <p:cNvSpPr txBox="1"/>
          <p:nvPr/>
        </p:nvSpPr>
        <p:spPr>
          <a:xfrm>
            <a:off x="707542" y="1732763"/>
            <a:ext cx="5713095" cy="3809365"/>
          </a:xfrm>
          <a:prstGeom prst="rect">
            <a:avLst/>
          </a:prstGeom>
        </p:spPr>
        <p:txBody>
          <a:bodyPr vert="horz" wrap="square" lIns="0" tIns="64769" rIns="0" bIns="0" rtlCol="0">
            <a:spAutoFit/>
          </a:bodyPr>
          <a:lstStyle/>
          <a:p>
            <a:pPr marL="469900" indent="-457200">
              <a:lnSpc>
                <a:spcPct val="100000"/>
              </a:lnSpc>
              <a:spcBef>
                <a:spcPts val="509"/>
              </a:spcBef>
              <a:buFont typeface="Wingdings"/>
              <a:buChar char=""/>
              <a:tabLst>
                <a:tab pos="469900" algn="l"/>
              </a:tabLst>
            </a:pPr>
            <a:r>
              <a:rPr sz="3200" spc="-5" dirty="0" smtClean="0">
                <a:latin typeface="Calibri"/>
                <a:cs typeface="Calibri"/>
              </a:rPr>
              <a:t>What</a:t>
            </a:r>
            <a:r>
              <a:rPr sz="3200" spc="-15" dirty="0" smtClean="0">
                <a:latin typeface="Calibri"/>
                <a:cs typeface="Calibri"/>
              </a:rPr>
              <a:t> </a:t>
            </a:r>
            <a:r>
              <a:rPr sz="3200" spc="-10" dirty="0">
                <a:latin typeface="Calibri"/>
                <a:cs typeface="Calibri"/>
              </a:rPr>
              <a:t>is</a:t>
            </a:r>
            <a:r>
              <a:rPr sz="3200" spc="-15" dirty="0">
                <a:latin typeface="Calibri"/>
                <a:cs typeface="Calibri"/>
              </a:rPr>
              <a:t> </a:t>
            </a:r>
            <a:r>
              <a:rPr sz="3200" spc="-10" dirty="0">
                <a:latin typeface="Calibri"/>
                <a:cs typeface="Calibri"/>
              </a:rPr>
              <a:t>Listening?</a:t>
            </a:r>
            <a:endParaRPr sz="3200" dirty="0">
              <a:latin typeface="Calibri"/>
              <a:cs typeface="Calibri"/>
            </a:endParaRPr>
          </a:p>
          <a:p>
            <a:pPr marL="469900" indent="-457200">
              <a:lnSpc>
                <a:spcPct val="100000"/>
              </a:lnSpc>
              <a:spcBef>
                <a:spcPts val="409"/>
              </a:spcBef>
              <a:buFont typeface="Wingdings"/>
              <a:buChar char=""/>
              <a:tabLst>
                <a:tab pos="469900" algn="l"/>
              </a:tabLst>
            </a:pPr>
            <a:r>
              <a:rPr sz="3200" spc="-10" dirty="0" smtClean="0">
                <a:latin typeface="Calibri"/>
                <a:cs typeface="Calibri"/>
              </a:rPr>
              <a:t>Process</a:t>
            </a:r>
            <a:r>
              <a:rPr sz="3200" spc="-45" dirty="0" smtClean="0">
                <a:latin typeface="Calibri"/>
                <a:cs typeface="Calibri"/>
              </a:rPr>
              <a:t> </a:t>
            </a:r>
            <a:r>
              <a:rPr sz="3200" spc="-5" dirty="0">
                <a:latin typeface="Calibri"/>
                <a:cs typeface="Calibri"/>
              </a:rPr>
              <a:t>of</a:t>
            </a:r>
            <a:r>
              <a:rPr sz="3200" spc="-20" dirty="0">
                <a:latin typeface="Calibri"/>
                <a:cs typeface="Calibri"/>
              </a:rPr>
              <a:t> </a:t>
            </a:r>
            <a:r>
              <a:rPr sz="3200" spc="-10" dirty="0">
                <a:latin typeface="Calibri"/>
                <a:cs typeface="Calibri"/>
              </a:rPr>
              <a:t>Listening.</a:t>
            </a:r>
            <a:endParaRPr sz="3200" dirty="0">
              <a:latin typeface="Calibri"/>
              <a:cs typeface="Calibri"/>
            </a:endParaRPr>
          </a:p>
          <a:p>
            <a:pPr marL="469900" indent="-457200">
              <a:lnSpc>
                <a:spcPct val="100000"/>
              </a:lnSpc>
              <a:spcBef>
                <a:spcPts val="420"/>
              </a:spcBef>
              <a:buFont typeface="Wingdings"/>
              <a:buChar char=""/>
              <a:tabLst>
                <a:tab pos="469900" algn="l"/>
              </a:tabLst>
            </a:pPr>
            <a:r>
              <a:rPr sz="3200" spc="-5" dirty="0" smtClean="0">
                <a:latin typeface="Calibri"/>
                <a:cs typeface="Calibri"/>
              </a:rPr>
              <a:t>Importance </a:t>
            </a:r>
            <a:r>
              <a:rPr sz="3200" dirty="0">
                <a:latin typeface="Calibri"/>
                <a:cs typeface="Calibri"/>
              </a:rPr>
              <a:t>of</a:t>
            </a:r>
            <a:r>
              <a:rPr sz="3200" spc="-10" dirty="0">
                <a:latin typeface="Calibri"/>
                <a:cs typeface="Calibri"/>
              </a:rPr>
              <a:t> </a:t>
            </a:r>
            <a:r>
              <a:rPr sz="3200" spc="-15" dirty="0">
                <a:latin typeface="Calibri"/>
                <a:cs typeface="Calibri"/>
              </a:rPr>
              <a:t>Listening</a:t>
            </a:r>
            <a:endParaRPr sz="3200" dirty="0">
              <a:latin typeface="Calibri"/>
              <a:cs typeface="Calibri"/>
            </a:endParaRPr>
          </a:p>
          <a:p>
            <a:pPr marL="469900" indent="-457200">
              <a:lnSpc>
                <a:spcPct val="100000"/>
              </a:lnSpc>
              <a:spcBef>
                <a:spcPts val="420"/>
              </a:spcBef>
              <a:buFont typeface="Wingdings"/>
              <a:buChar char=""/>
              <a:tabLst>
                <a:tab pos="469900" algn="l"/>
              </a:tabLst>
            </a:pPr>
            <a:r>
              <a:rPr sz="3200" spc="-30" dirty="0" smtClean="0">
                <a:latin typeface="Calibri"/>
                <a:cs typeface="Calibri"/>
              </a:rPr>
              <a:t>Types</a:t>
            </a:r>
            <a:r>
              <a:rPr sz="3200" spc="-20" dirty="0" smtClean="0">
                <a:latin typeface="Calibri"/>
                <a:cs typeface="Calibri"/>
              </a:rPr>
              <a:t> </a:t>
            </a:r>
            <a:r>
              <a:rPr sz="3200" dirty="0">
                <a:latin typeface="Calibri"/>
                <a:cs typeface="Calibri"/>
              </a:rPr>
              <a:t>of</a:t>
            </a:r>
            <a:r>
              <a:rPr sz="3200" spc="-15" dirty="0">
                <a:latin typeface="Calibri"/>
                <a:cs typeface="Calibri"/>
              </a:rPr>
              <a:t> Listening</a:t>
            </a:r>
            <a:endParaRPr sz="3200" dirty="0">
              <a:latin typeface="Calibri"/>
              <a:cs typeface="Calibri"/>
            </a:endParaRPr>
          </a:p>
          <a:p>
            <a:pPr marL="469900" indent="-457200">
              <a:lnSpc>
                <a:spcPct val="100000"/>
              </a:lnSpc>
              <a:spcBef>
                <a:spcPts val="409"/>
              </a:spcBef>
              <a:buFont typeface="Wingdings"/>
              <a:buChar char=""/>
              <a:tabLst>
                <a:tab pos="469900" algn="l"/>
              </a:tabLst>
            </a:pPr>
            <a:r>
              <a:rPr sz="3200" spc="-10" dirty="0" smtClean="0">
                <a:latin typeface="Calibri"/>
                <a:cs typeface="Calibri"/>
              </a:rPr>
              <a:t>Barriers</a:t>
            </a:r>
            <a:r>
              <a:rPr sz="3200" spc="-25" dirty="0" smtClean="0">
                <a:latin typeface="Calibri"/>
                <a:cs typeface="Calibri"/>
              </a:rPr>
              <a:t> </a:t>
            </a:r>
            <a:r>
              <a:rPr sz="3200" spc="-25" dirty="0">
                <a:latin typeface="Calibri"/>
                <a:cs typeface="Calibri"/>
              </a:rPr>
              <a:t>to</a:t>
            </a:r>
            <a:r>
              <a:rPr sz="3200" spc="10" dirty="0">
                <a:latin typeface="Calibri"/>
                <a:cs typeface="Calibri"/>
              </a:rPr>
              <a:t> </a:t>
            </a:r>
            <a:r>
              <a:rPr sz="3200" spc="-25" dirty="0">
                <a:latin typeface="Calibri"/>
                <a:cs typeface="Calibri"/>
              </a:rPr>
              <a:t>effective</a:t>
            </a:r>
            <a:r>
              <a:rPr sz="3200" dirty="0">
                <a:latin typeface="Calibri"/>
                <a:cs typeface="Calibri"/>
              </a:rPr>
              <a:t> </a:t>
            </a:r>
            <a:r>
              <a:rPr sz="3200" spc="-15" dirty="0">
                <a:latin typeface="Calibri"/>
                <a:cs typeface="Calibri"/>
              </a:rPr>
              <a:t>listening</a:t>
            </a:r>
            <a:endParaRPr sz="3200" dirty="0">
              <a:latin typeface="Calibri"/>
              <a:cs typeface="Calibri"/>
            </a:endParaRPr>
          </a:p>
          <a:p>
            <a:pPr marL="469900" indent="-457200">
              <a:lnSpc>
                <a:spcPct val="100000"/>
              </a:lnSpc>
              <a:spcBef>
                <a:spcPts val="420"/>
              </a:spcBef>
              <a:buFont typeface="Wingdings"/>
              <a:buChar char=""/>
              <a:tabLst>
                <a:tab pos="469900" algn="l"/>
              </a:tabLst>
            </a:pPr>
            <a:r>
              <a:rPr sz="3200" spc="-5" dirty="0" smtClean="0">
                <a:latin typeface="Calibri"/>
                <a:cs typeface="Calibri"/>
              </a:rPr>
              <a:t>How </a:t>
            </a:r>
            <a:r>
              <a:rPr sz="3200" spc="-25" dirty="0">
                <a:latin typeface="Calibri"/>
                <a:cs typeface="Calibri"/>
              </a:rPr>
              <a:t>to</a:t>
            </a:r>
            <a:r>
              <a:rPr sz="3200" dirty="0">
                <a:latin typeface="Calibri"/>
                <a:cs typeface="Calibri"/>
              </a:rPr>
              <a:t> </a:t>
            </a:r>
            <a:r>
              <a:rPr sz="3200" spc="-20" dirty="0">
                <a:latin typeface="Calibri"/>
                <a:cs typeface="Calibri"/>
              </a:rPr>
              <a:t>Listen</a:t>
            </a:r>
            <a:r>
              <a:rPr sz="3200" spc="10" dirty="0">
                <a:latin typeface="Calibri"/>
                <a:cs typeface="Calibri"/>
              </a:rPr>
              <a:t> </a:t>
            </a:r>
            <a:r>
              <a:rPr sz="3200" spc="-25" dirty="0">
                <a:latin typeface="Calibri"/>
                <a:cs typeface="Calibri"/>
              </a:rPr>
              <a:t>Effectively?</a:t>
            </a:r>
            <a:endParaRPr sz="3200" dirty="0">
              <a:latin typeface="Calibri"/>
              <a:cs typeface="Calibri"/>
            </a:endParaRPr>
          </a:p>
          <a:p>
            <a:pPr marL="469900" indent="-457200">
              <a:lnSpc>
                <a:spcPct val="100000"/>
              </a:lnSpc>
              <a:spcBef>
                <a:spcPts val="420"/>
              </a:spcBef>
              <a:buFont typeface="Wingdings"/>
              <a:buChar char=""/>
              <a:tabLst>
                <a:tab pos="469900" algn="l"/>
              </a:tabLst>
            </a:pPr>
            <a:r>
              <a:rPr sz="3200" spc="-5" dirty="0" smtClean="0">
                <a:latin typeface="Calibri"/>
                <a:cs typeface="Calibri"/>
              </a:rPr>
              <a:t>Benefits</a:t>
            </a:r>
            <a:r>
              <a:rPr sz="3200" spc="-20" dirty="0" smtClean="0">
                <a:latin typeface="Calibri"/>
                <a:cs typeface="Calibri"/>
              </a:rPr>
              <a:t> </a:t>
            </a:r>
            <a:r>
              <a:rPr sz="3200" dirty="0">
                <a:latin typeface="Calibri"/>
                <a:cs typeface="Calibri"/>
              </a:rPr>
              <a:t>of</a:t>
            </a:r>
            <a:r>
              <a:rPr sz="3200" spc="-15" dirty="0">
                <a:latin typeface="Calibri"/>
                <a:cs typeface="Calibri"/>
              </a:rPr>
              <a:t> </a:t>
            </a:r>
            <a:r>
              <a:rPr sz="3200" spc="-35" dirty="0">
                <a:latin typeface="Calibri"/>
                <a:cs typeface="Calibri"/>
              </a:rPr>
              <a:t>Effective</a:t>
            </a:r>
            <a:r>
              <a:rPr sz="3200" spc="-5" dirty="0">
                <a:latin typeface="Calibri"/>
                <a:cs typeface="Calibri"/>
              </a:rPr>
              <a:t> </a:t>
            </a:r>
            <a:r>
              <a:rPr sz="3200" spc="-15" dirty="0">
                <a:latin typeface="Calibri"/>
                <a:cs typeface="Calibri"/>
              </a:rPr>
              <a:t>Listening</a:t>
            </a:r>
            <a:endParaRPr sz="3200" dirty="0">
              <a:latin typeface="Calibri"/>
              <a:cs typeface="Calibri"/>
            </a:endParaRPr>
          </a:p>
        </p:txBody>
      </p:sp>
      <p:sp>
        <p:nvSpPr>
          <p:cNvPr id="4" name="object 4"/>
          <p:cNvSpPr txBox="1"/>
          <p:nvPr/>
        </p:nvSpPr>
        <p:spPr>
          <a:xfrm>
            <a:off x="8308085" y="5865672"/>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4536A"/>
                </a:solidFill>
                <a:latin typeface="Arial"/>
                <a:cs typeface="Arial"/>
              </a:rPr>
              <a:t>2</a:t>
            </a:r>
            <a:endParaRPr sz="2400">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582200"/>
            <a:ext cx="4359910" cy="528955"/>
          </a:xfrm>
          <a:prstGeom prst="rect">
            <a:avLst/>
          </a:prstGeom>
        </p:spPr>
        <p:txBody>
          <a:bodyPr vert="horz" wrap="square" lIns="0" tIns="12700" rIns="0" bIns="0" rtlCol="0">
            <a:spAutoFit/>
          </a:bodyPr>
          <a:lstStyle/>
          <a:p>
            <a:pPr marL="12700" algn="l">
              <a:lnSpc>
                <a:spcPct val="100000"/>
              </a:lnSpc>
              <a:spcBef>
                <a:spcPts val="100"/>
              </a:spcBef>
            </a:pPr>
            <a:r>
              <a:rPr sz="3300" dirty="0">
                <a:latin typeface="Times New Roman"/>
                <a:cs typeface="Times New Roman"/>
              </a:rPr>
              <a:t>1.What</a:t>
            </a:r>
            <a:r>
              <a:rPr sz="3300" spc="-30" dirty="0">
                <a:latin typeface="Times New Roman"/>
                <a:cs typeface="Times New Roman"/>
              </a:rPr>
              <a:t> </a:t>
            </a:r>
            <a:r>
              <a:rPr sz="3300" dirty="0">
                <a:latin typeface="Times New Roman"/>
                <a:cs typeface="Times New Roman"/>
              </a:rPr>
              <a:t>Is </a:t>
            </a:r>
            <a:r>
              <a:rPr sz="3300" spc="-5" dirty="0">
                <a:latin typeface="Times New Roman"/>
                <a:cs typeface="Times New Roman"/>
              </a:rPr>
              <a:t>Listening?</a:t>
            </a:r>
            <a:r>
              <a:rPr sz="3300" spc="-10" dirty="0">
                <a:latin typeface="Times New Roman"/>
                <a:cs typeface="Times New Roman"/>
              </a:rPr>
              <a:t> </a:t>
            </a:r>
            <a:endParaRPr sz="3300" dirty="0">
              <a:latin typeface="Times New Roman"/>
              <a:cs typeface="Times New Roman"/>
            </a:endParaRPr>
          </a:p>
        </p:txBody>
      </p:sp>
      <p:sp>
        <p:nvSpPr>
          <p:cNvPr id="3" name="object 3"/>
          <p:cNvSpPr txBox="1"/>
          <p:nvPr/>
        </p:nvSpPr>
        <p:spPr>
          <a:xfrm>
            <a:off x="76200" y="1143000"/>
            <a:ext cx="8915400" cy="3864007"/>
          </a:xfrm>
          <a:prstGeom prst="rect">
            <a:avLst/>
          </a:prstGeom>
        </p:spPr>
        <p:txBody>
          <a:bodyPr vert="horz" wrap="square" lIns="0" tIns="53975" rIns="0" bIns="0" rtlCol="0">
            <a:spAutoFit/>
          </a:bodyPr>
          <a:lstStyle/>
          <a:p>
            <a:pPr marL="355600" marR="5080" indent="-342900" algn="just">
              <a:lnSpc>
                <a:spcPct val="150000"/>
              </a:lnSpc>
              <a:spcBef>
                <a:spcPts val="425"/>
              </a:spcBef>
              <a:buChar char="•"/>
              <a:tabLst>
                <a:tab pos="354965" algn="l"/>
                <a:tab pos="355600" algn="l"/>
              </a:tabLst>
            </a:pPr>
            <a:r>
              <a:rPr sz="2400" spc="-5" dirty="0">
                <a:latin typeface="Arial MT"/>
                <a:cs typeface="Arial MT"/>
              </a:rPr>
              <a:t>Listening</a:t>
            </a:r>
            <a:r>
              <a:rPr sz="2400" spc="30" dirty="0">
                <a:latin typeface="Arial MT"/>
                <a:cs typeface="Arial MT"/>
              </a:rPr>
              <a:t> </a:t>
            </a:r>
            <a:r>
              <a:rPr sz="2400" spc="-5" dirty="0">
                <a:latin typeface="Arial MT"/>
                <a:cs typeface="Arial MT"/>
              </a:rPr>
              <a:t>is</a:t>
            </a:r>
            <a:r>
              <a:rPr sz="2400" spc="15" dirty="0">
                <a:latin typeface="Arial MT"/>
                <a:cs typeface="Arial MT"/>
              </a:rPr>
              <a:t> </a:t>
            </a:r>
            <a:r>
              <a:rPr sz="2400" spc="-5" dirty="0">
                <a:latin typeface="Arial MT"/>
                <a:cs typeface="Arial MT"/>
              </a:rPr>
              <a:t>the</a:t>
            </a:r>
            <a:r>
              <a:rPr sz="2400" spc="10" dirty="0">
                <a:latin typeface="Arial MT"/>
                <a:cs typeface="Arial MT"/>
              </a:rPr>
              <a:t> </a:t>
            </a:r>
            <a:r>
              <a:rPr sz="2400" spc="-5" dirty="0">
                <a:latin typeface="Arial MT"/>
                <a:cs typeface="Arial MT"/>
              </a:rPr>
              <a:t>ability</a:t>
            </a:r>
            <a:r>
              <a:rPr sz="2400" spc="30" dirty="0">
                <a:latin typeface="Arial MT"/>
                <a:cs typeface="Arial MT"/>
              </a:rPr>
              <a:t> </a:t>
            </a:r>
            <a:r>
              <a:rPr sz="2400" dirty="0">
                <a:latin typeface="Arial MT"/>
                <a:cs typeface="Arial MT"/>
              </a:rPr>
              <a:t>to</a:t>
            </a:r>
            <a:r>
              <a:rPr sz="2400" spc="10" dirty="0">
                <a:latin typeface="Arial MT"/>
                <a:cs typeface="Arial MT"/>
              </a:rPr>
              <a:t> </a:t>
            </a:r>
            <a:r>
              <a:rPr sz="2400" spc="-5" dirty="0">
                <a:latin typeface="Arial MT"/>
                <a:cs typeface="Arial MT"/>
              </a:rPr>
              <a:t>accurately</a:t>
            </a:r>
            <a:r>
              <a:rPr sz="2400" spc="25" dirty="0">
                <a:latin typeface="Arial MT"/>
                <a:cs typeface="Arial MT"/>
              </a:rPr>
              <a:t> </a:t>
            </a:r>
            <a:r>
              <a:rPr sz="2400" dirty="0">
                <a:latin typeface="Arial MT"/>
                <a:cs typeface="Arial MT"/>
              </a:rPr>
              <a:t>receive</a:t>
            </a:r>
            <a:r>
              <a:rPr sz="2400" spc="20" dirty="0">
                <a:latin typeface="Arial MT"/>
                <a:cs typeface="Arial MT"/>
              </a:rPr>
              <a:t> </a:t>
            </a:r>
            <a:r>
              <a:rPr sz="2400" spc="-5" dirty="0">
                <a:latin typeface="Arial MT"/>
                <a:cs typeface="Arial MT"/>
              </a:rPr>
              <a:t>and</a:t>
            </a:r>
            <a:r>
              <a:rPr sz="2400" spc="25" dirty="0">
                <a:latin typeface="Arial MT"/>
                <a:cs typeface="Arial MT"/>
              </a:rPr>
              <a:t> </a:t>
            </a:r>
            <a:r>
              <a:rPr sz="2400" dirty="0">
                <a:latin typeface="Arial MT"/>
                <a:cs typeface="Arial MT"/>
              </a:rPr>
              <a:t>interpret </a:t>
            </a:r>
            <a:r>
              <a:rPr sz="2400" spc="-655" dirty="0">
                <a:latin typeface="Arial MT"/>
                <a:cs typeface="Arial MT"/>
              </a:rPr>
              <a:t> </a:t>
            </a:r>
            <a:r>
              <a:rPr sz="2400" spc="-5" dirty="0">
                <a:latin typeface="Arial MT"/>
                <a:cs typeface="Arial MT"/>
              </a:rPr>
              <a:t>messages</a:t>
            </a:r>
            <a:r>
              <a:rPr sz="2400" spc="15" dirty="0">
                <a:latin typeface="Arial MT"/>
                <a:cs typeface="Arial MT"/>
              </a:rPr>
              <a:t> </a:t>
            </a:r>
            <a:r>
              <a:rPr sz="2400" spc="-5" dirty="0">
                <a:latin typeface="Arial MT"/>
                <a:cs typeface="Arial MT"/>
              </a:rPr>
              <a:t>in</a:t>
            </a:r>
            <a:r>
              <a:rPr sz="2400" dirty="0">
                <a:latin typeface="Arial MT"/>
                <a:cs typeface="Arial MT"/>
              </a:rPr>
              <a:t> the</a:t>
            </a:r>
            <a:r>
              <a:rPr sz="2400" spc="5" dirty="0">
                <a:latin typeface="Arial MT"/>
                <a:cs typeface="Arial MT"/>
              </a:rPr>
              <a:t> </a:t>
            </a:r>
            <a:r>
              <a:rPr sz="2400" dirty="0">
                <a:latin typeface="Arial MT"/>
                <a:cs typeface="Arial MT"/>
              </a:rPr>
              <a:t>communication</a:t>
            </a:r>
            <a:r>
              <a:rPr sz="2400" spc="25" dirty="0">
                <a:latin typeface="Arial MT"/>
                <a:cs typeface="Arial MT"/>
              </a:rPr>
              <a:t> </a:t>
            </a:r>
            <a:r>
              <a:rPr sz="2400" spc="-5" dirty="0">
                <a:latin typeface="Arial MT"/>
                <a:cs typeface="Arial MT"/>
              </a:rPr>
              <a:t>process.</a:t>
            </a:r>
            <a:endParaRPr sz="2400" dirty="0">
              <a:latin typeface="Arial MT"/>
              <a:cs typeface="Arial MT"/>
            </a:endParaRPr>
          </a:p>
          <a:p>
            <a:pPr marL="355600" marR="283210" indent="-342900" algn="just">
              <a:lnSpc>
                <a:spcPct val="150000"/>
              </a:lnSpc>
              <a:buChar char="•"/>
              <a:tabLst>
                <a:tab pos="354965" algn="l"/>
                <a:tab pos="355600" algn="l"/>
              </a:tabLst>
            </a:pPr>
            <a:r>
              <a:rPr sz="2400" dirty="0" smtClean="0">
                <a:latin typeface="Arial MT"/>
                <a:cs typeface="Arial MT"/>
              </a:rPr>
              <a:t>Listening</a:t>
            </a:r>
            <a:r>
              <a:rPr sz="2400" spc="15" dirty="0" smtClean="0">
                <a:latin typeface="Arial MT"/>
                <a:cs typeface="Arial MT"/>
              </a:rPr>
              <a:t> </a:t>
            </a:r>
            <a:r>
              <a:rPr sz="2400" dirty="0">
                <a:latin typeface="Arial MT"/>
                <a:cs typeface="Arial MT"/>
              </a:rPr>
              <a:t>is</a:t>
            </a:r>
            <a:r>
              <a:rPr sz="2400" spc="-5" dirty="0">
                <a:latin typeface="Arial MT"/>
                <a:cs typeface="Arial MT"/>
              </a:rPr>
              <a:t> </a:t>
            </a:r>
            <a:r>
              <a:rPr sz="2400" dirty="0">
                <a:latin typeface="Arial MT"/>
                <a:cs typeface="Arial MT"/>
              </a:rPr>
              <a:t>key</a:t>
            </a:r>
            <a:r>
              <a:rPr sz="2400" spc="5" dirty="0">
                <a:latin typeface="Arial MT"/>
                <a:cs typeface="Arial MT"/>
              </a:rPr>
              <a:t> </a:t>
            </a:r>
            <a:r>
              <a:rPr sz="2400" dirty="0">
                <a:latin typeface="Arial MT"/>
                <a:cs typeface="Arial MT"/>
              </a:rPr>
              <a:t>to</a:t>
            </a:r>
            <a:r>
              <a:rPr sz="2400" spc="-10" dirty="0">
                <a:latin typeface="Arial MT"/>
                <a:cs typeface="Arial MT"/>
              </a:rPr>
              <a:t> </a:t>
            </a:r>
            <a:r>
              <a:rPr sz="2400" dirty="0">
                <a:latin typeface="Arial MT"/>
                <a:cs typeface="Arial MT"/>
              </a:rPr>
              <a:t>all</a:t>
            </a:r>
            <a:r>
              <a:rPr sz="2400" spc="5" dirty="0">
                <a:latin typeface="Arial MT"/>
                <a:cs typeface="Arial MT"/>
              </a:rPr>
              <a:t> </a:t>
            </a:r>
            <a:r>
              <a:rPr sz="2400" spc="-5" dirty="0">
                <a:latin typeface="Arial MT"/>
                <a:cs typeface="Arial MT"/>
              </a:rPr>
              <a:t>effective</a:t>
            </a:r>
            <a:r>
              <a:rPr sz="2400" spc="-15" dirty="0">
                <a:latin typeface="Arial MT"/>
                <a:cs typeface="Arial MT"/>
              </a:rPr>
              <a:t> </a:t>
            </a:r>
            <a:r>
              <a:rPr sz="2400" dirty="0">
                <a:latin typeface="Arial MT"/>
                <a:cs typeface="Arial MT"/>
              </a:rPr>
              <a:t>communication,</a:t>
            </a:r>
            <a:r>
              <a:rPr sz="2400" spc="20" dirty="0">
                <a:latin typeface="Arial MT"/>
                <a:cs typeface="Arial MT"/>
              </a:rPr>
              <a:t> </a:t>
            </a:r>
            <a:r>
              <a:rPr sz="2400" dirty="0">
                <a:latin typeface="Arial MT"/>
                <a:cs typeface="Arial MT"/>
              </a:rPr>
              <a:t>without </a:t>
            </a:r>
            <a:r>
              <a:rPr sz="2400" spc="-655" dirty="0">
                <a:latin typeface="Arial MT"/>
                <a:cs typeface="Arial MT"/>
              </a:rPr>
              <a:t> </a:t>
            </a:r>
            <a:r>
              <a:rPr sz="2400" spc="-5" dirty="0">
                <a:latin typeface="Arial MT"/>
                <a:cs typeface="Arial MT"/>
              </a:rPr>
              <a:t>the</a:t>
            </a:r>
            <a:r>
              <a:rPr sz="2400" dirty="0">
                <a:latin typeface="Arial MT"/>
                <a:cs typeface="Arial MT"/>
              </a:rPr>
              <a:t> </a:t>
            </a:r>
            <a:r>
              <a:rPr sz="2400" spc="-5" dirty="0">
                <a:latin typeface="Arial MT"/>
                <a:cs typeface="Arial MT"/>
              </a:rPr>
              <a:t>ability</a:t>
            </a:r>
            <a:r>
              <a:rPr sz="2400" spc="35" dirty="0">
                <a:latin typeface="Arial MT"/>
                <a:cs typeface="Arial MT"/>
              </a:rPr>
              <a:t> </a:t>
            </a:r>
            <a:r>
              <a:rPr sz="2400" dirty="0">
                <a:latin typeface="Arial MT"/>
                <a:cs typeface="Arial MT"/>
              </a:rPr>
              <a:t>to</a:t>
            </a:r>
            <a:r>
              <a:rPr sz="2400" spc="10" dirty="0">
                <a:latin typeface="Arial MT"/>
                <a:cs typeface="Arial MT"/>
              </a:rPr>
              <a:t> </a:t>
            </a:r>
            <a:r>
              <a:rPr sz="2400" spc="-5" dirty="0">
                <a:latin typeface="Arial MT"/>
                <a:cs typeface="Arial MT"/>
              </a:rPr>
              <a:t>listen</a:t>
            </a:r>
            <a:r>
              <a:rPr sz="2400" spc="20" dirty="0">
                <a:latin typeface="Arial MT"/>
                <a:cs typeface="Arial MT"/>
              </a:rPr>
              <a:t> </a:t>
            </a:r>
            <a:r>
              <a:rPr sz="2400" spc="-5" dirty="0">
                <a:latin typeface="Arial MT"/>
                <a:cs typeface="Arial MT"/>
              </a:rPr>
              <a:t>effectively</a:t>
            </a:r>
            <a:r>
              <a:rPr sz="2400" spc="10" dirty="0">
                <a:latin typeface="Arial MT"/>
                <a:cs typeface="Arial MT"/>
              </a:rPr>
              <a:t> </a:t>
            </a:r>
            <a:r>
              <a:rPr sz="2400" spc="-5" dirty="0">
                <a:latin typeface="Arial MT"/>
                <a:cs typeface="Arial MT"/>
              </a:rPr>
              <a:t>messages</a:t>
            </a:r>
            <a:r>
              <a:rPr sz="2400" spc="25" dirty="0">
                <a:latin typeface="Arial MT"/>
                <a:cs typeface="Arial MT"/>
              </a:rPr>
              <a:t> </a:t>
            </a:r>
            <a:r>
              <a:rPr sz="2400" spc="-5" dirty="0">
                <a:latin typeface="Arial MT"/>
                <a:cs typeface="Arial MT"/>
              </a:rPr>
              <a:t>are</a:t>
            </a:r>
            <a:r>
              <a:rPr sz="2400" spc="5" dirty="0">
                <a:latin typeface="Arial MT"/>
                <a:cs typeface="Arial MT"/>
              </a:rPr>
              <a:t> </a:t>
            </a:r>
            <a:r>
              <a:rPr sz="2400" spc="-5" dirty="0">
                <a:latin typeface="Arial MT"/>
                <a:cs typeface="Arial MT"/>
              </a:rPr>
              <a:t>easily </a:t>
            </a:r>
            <a:r>
              <a:rPr sz="2400" dirty="0">
                <a:latin typeface="Arial MT"/>
                <a:cs typeface="Arial MT"/>
              </a:rPr>
              <a:t> misunderstood.</a:t>
            </a:r>
          </a:p>
          <a:p>
            <a:pPr marL="355600" indent="-342900" algn="just">
              <a:lnSpc>
                <a:spcPct val="150000"/>
              </a:lnSpc>
              <a:buChar char="•"/>
              <a:tabLst>
                <a:tab pos="354965" algn="l"/>
                <a:tab pos="355600" algn="l"/>
              </a:tabLst>
            </a:pPr>
            <a:r>
              <a:rPr sz="2400" dirty="0" smtClean="0">
                <a:latin typeface="Arial MT"/>
                <a:cs typeface="Arial MT"/>
              </a:rPr>
              <a:t>Listening</a:t>
            </a:r>
            <a:r>
              <a:rPr sz="2400" spc="20" dirty="0" smtClean="0">
                <a:latin typeface="Arial MT"/>
                <a:cs typeface="Arial MT"/>
              </a:rPr>
              <a:t> </a:t>
            </a:r>
            <a:r>
              <a:rPr sz="2400" dirty="0">
                <a:latin typeface="Arial MT"/>
                <a:cs typeface="Arial MT"/>
              </a:rPr>
              <a:t>is</a:t>
            </a:r>
            <a:r>
              <a:rPr sz="2400" spc="-5" dirty="0">
                <a:latin typeface="Arial MT"/>
                <a:cs typeface="Arial MT"/>
              </a:rPr>
              <a:t> </a:t>
            </a:r>
            <a:r>
              <a:rPr sz="2400" dirty="0">
                <a:latin typeface="Arial MT"/>
                <a:cs typeface="Arial MT"/>
              </a:rPr>
              <a:t>one</a:t>
            </a:r>
            <a:r>
              <a:rPr sz="2400" spc="10" dirty="0">
                <a:latin typeface="Arial MT"/>
                <a:cs typeface="Arial MT"/>
              </a:rPr>
              <a:t> </a:t>
            </a:r>
            <a:r>
              <a:rPr sz="2400" dirty="0">
                <a:latin typeface="Arial MT"/>
                <a:cs typeface="Arial MT"/>
              </a:rPr>
              <a:t>of</a:t>
            </a:r>
            <a:r>
              <a:rPr sz="2400" spc="-5" dirty="0">
                <a:latin typeface="Arial MT"/>
                <a:cs typeface="Arial MT"/>
              </a:rPr>
              <a:t> </a:t>
            </a:r>
            <a:r>
              <a:rPr sz="2400" dirty="0">
                <a:latin typeface="Arial MT"/>
                <a:cs typeface="Arial MT"/>
              </a:rPr>
              <a:t>the</a:t>
            </a:r>
            <a:r>
              <a:rPr sz="2400" spc="-5" dirty="0">
                <a:latin typeface="Arial MT"/>
                <a:cs typeface="Arial MT"/>
              </a:rPr>
              <a:t> </a:t>
            </a:r>
            <a:r>
              <a:rPr sz="2400" dirty="0">
                <a:latin typeface="Arial MT"/>
                <a:cs typeface="Arial MT"/>
              </a:rPr>
              <a:t>most important </a:t>
            </a:r>
            <a:r>
              <a:rPr sz="2400" spc="-5" dirty="0">
                <a:latin typeface="Arial MT"/>
                <a:cs typeface="Arial MT"/>
              </a:rPr>
              <a:t>skills</a:t>
            </a:r>
            <a:r>
              <a:rPr sz="2400" spc="25" dirty="0">
                <a:latin typeface="Arial MT"/>
                <a:cs typeface="Arial MT"/>
              </a:rPr>
              <a:t> </a:t>
            </a:r>
            <a:r>
              <a:rPr sz="2400" dirty="0">
                <a:latin typeface="Arial MT"/>
                <a:cs typeface="Arial MT"/>
              </a:rPr>
              <a:t>you</a:t>
            </a:r>
            <a:r>
              <a:rPr sz="2400" spc="-5" dirty="0">
                <a:latin typeface="Arial MT"/>
                <a:cs typeface="Arial MT"/>
              </a:rPr>
              <a:t> </a:t>
            </a:r>
            <a:r>
              <a:rPr sz="2400" dirty="0">
                <a:latin typeface="Arial MT"/>
                <a:cs typeface="Arial MT"/>
              </a:rPr>
              <a:t>can</a:t>
            </a:r>
          </a:p>
          <a:p>
            <a:pPr marL="355600" algn="just">
              <a:lnSpc>
                <a:spcPct val="150000"/>
              </a:lnSpc>
            </a:pPr>
            <a:r>
              <a:rPr sz="2400" spc="-5" dirty="0">
                <a:latin typeface="Arial MT"/>
                <a:cs typeface="Arial MT"/>
              </a:rPr>
              <a:t>have.</a:t>
            </a:r>
            <a:endParaRPr sz="2400" dirty="0">
              <a:latin typeface="Arial MT"/>
              <a:cs typeface="Arial MT"/>
            </a:endParaRPr>
          </a:p>
        </p:txBody>
      </p:sp>
      <p:sp>
        <p:nvSpPr>
          <p:cNvPr id="4" name="object 4"/>
          <p:cNvSpPr txBox="1"/>
          <p:nvPr/>
        </p:nvSpPr>
        <p:spPr>
          <a:xfrm>
            <a:off x="1137" y="4822370"/>
            <a:ext cx="8991600" cy="1773691"/>
          </a:xfrm>
          <a:prstGeom prst="rect">
            <a:avLst/>
          </a:prstGeom>
        </p:spPr>
        <p:txBody>
          <a:bodyPr vert="horz" wrap="square" lIns="0" tIns="76835" rIns="0" bIns="0" rtlCol="0">
            <a:spAutoFit/>
          </a:bodyPr>
          <a:lstStyle/>
          <a:p>
            <a:pPr marL="355600" indent="-342900" algn="just">
              <a:lnSpc>
                <a:spcPct val="150000"/>
              </a:lnSpc>
              <a:spcBef>
                <a:spcPts val="605"/>
              </a:spcBef>
              <a:buChar char="•"/>
              <a:tabLst>
                <a:tab pos="354965" algn="l"/>
                <a:tab pos="355600" algn="l"/>
              </a:tabLst>
            </a:pPr>
            <a:r>
              <a:rPr sz="2400" spc="-5" dirty="0">
                <a:latin typeface="Arial MT"/>
                <a:cs typeface="Arial MT"/>
              </a:rPr>
              <a:t>An </a:t>
            </a:r>
            <a:r>
              <a:rPr sz="2400" dirty="0">
                <a:latin typeface="Arial MT"/>
                <a:cs typeface="Arial MT"/>
              </a:rPr>
              <a:t>active</a:t>
            </a:r>
            <a:r>
              <a:rPr sz="2400" spc="5" dirty="0">
                <a:latin typeface="Arial MT"/>
                <a:cs typeface="Arial MT"/>
              </a:rPr>
              <a:t> </a:t>
            </a:r>
            <a:r>
              <a:rPr sz="2400" spc="-5" dirty="0">
                <a:latin typeface="Arial MT"/>
                <a:cs typeface="Arial MT"/>
              </a:rPr>
              <a:t>process</a:t>
            </a:r>
            <a:r>
              <a:rPr sz="2400" spc="10" dirty="0">
                <a:latin typeface="Arial MT"/>
                <a:cs typeface="Arial MT"/>
              </a:rPr>
              <a:t> </a:t>
            </a:r>
            <a:r>
              <a:rPr sz="2400" spc="-5" dirty="0">
                <a:latin typeface="Arial MT"/>
                <a:cs typeface="Arial MT"/>
              </a:rPr>
              <a:t>of</a:t>
            </a:r>
            <a:r>
              <a:rPr sz="2400" spc="5" dirty="0">
                <a:latin typeface="Arial MT"/>
                <a:cs typeface="Arial MT"/>
              </a:rPr>
              <a:t> </a:t>
            </a:r>
            <a:r>
              <a:rPr sz="2400" dirty="0">
                <a:latin typeface="Arial MT"/>
                <a:cs typeface="Arial MT"/>
              </a:rPr>
              <a:t>getting</a:t>
            </a:r>
            <a:r>
              <a:rPr sz="2400" spc="10" dirty="0">
                <a:latin typeface="Arial MT"/>
                <a:cs typeface="Arial MT"/>
              </a:rPr>
              <a:t> </a:t>
            </a:r>
            <a:r>
              <a:rPr sz="2400" dirty="0">
                <a:latin typeface="Arial MT"/>
                <a:cs typeface="Arial MT"/>
              </a:rPr>
              <a:t>information,</a:t>
            </a:r>
            <a:r>
              <a:rPr sz="2400" spc="10" dirty="0">
                <a:latin typeface="Arial MT"/>
                <a:cs typeface="Arial MT"/>
              </a:rPr>
              <a:t> </a:t>
            </a:r>
            <a:r>
              <a:rPr sz="2400" spc="-5" dirty="0">
                <a:latin typeface="Arial MT"/>
                <a:cs typeface="Arial MT"/>
              </a:rPr>
              <a:t>ideas.</a:t>
            </a:r>
            <a:endParaRPr sz="2400" dirty="0">
              <a:latin typeface="Arial MT"/>
              <a:cs typeface="Arial MT"/>
            </a:endParaRPr>
          </a:p>
          <a:p>
            <a:pPr marL="355600" marR="5080" indent="-342900" algn="just">
              <a:lnSpc>
                <a:spcPct val="150000"/>
              </a:lnSpc>
              <a:spcBef>
                <a:spcPts val="835"/>
              </a:spcBef>
              <a:buChar char="•"/>
              <a:tabLst>
                <a:tab pos="354965" algn="l"/>
                <a:tab pos="355600" algn="l"/>
              </a:tabLst>
            </a:pPr>
            <a:r>
              <a:rPr sz="2400" spc="-5" dirty="0">
                <a:solidFill>
                  <a:srgbClr val="FF0000"/>
                </a:solidFill>
                <a:latin typeface="Arial MT"/>
                <a:cs typeface="Arial MT"/>
              </a:rPr>
              <a:t>“Listening</a:t>
            </a:r>
            <a:r>
              <a:rPr sz="2400" spc="25" dirty="0">
                <a:solidFill>
                  <a:srgbClr val="FF0000"/>
                </a:solidFill>
                <a:latin typeface="Arial MT"/>
                <a:cs typeface="Arial MT"/>
              </a:rPr>
              <a:t> </a:t>
            </a:r>
            <a:r>
              <a:rPr sz="2400" spc="-5" dirty="0">
                <a:solidFill>
                  <a:srgbClr val="FF0000"/>
                </a:solidFill>
                <a:latin typeface="Arial MT"/>
                <a:cs typeface="Arial MT"/>
              </a:rPr>
              <a:t>is</a:t>
            </a:r>
            <a:r>
              <a:rPr sz="2400" spc="10" dirty="0">
                <a:solidFill>
                  <a:srgbClr val="FF0000"/>
                </a:solidFill>
                <a:latin typeface="Arial MT"/>
                <a:cs typeface="Arial MT"/>
              </a:rPr>
              <a:t> </a:t>
            </a:r>
            <a:r>
              <a:rPr sz="2400" spc="-5" dirty="0">
                <a:solidFill>
                  <a:srgbClr val="FF0000"/>
                </a:solidFill>
                <a:latin typeface="Arial MT"/>
                <a:cs typeface="Arial MT"/>
              </a:rPr>
              <a:t>the</a:t>
            </a:r>
            <a:r>
              <a:rPr sz="2400" dirty="0">
                <a:solidFill>
                  <a:srgbClr val="FF0000"/>
                </a:solidFill>
                <a:latin typeface="Arial MT"/>
                <a:cs typeface="Arial MT"/>
              </a:rPr>
              <a:t> </a:t>
            </a:r>
            <a:r>
              <a:rPr sz="2400" spc="-5" dirty="0">
                <a:solidFill>
                  <a:srgbClr val="FF0000"/>
                </a:solidFill>
                <a:latin typeface="Arial MT"/>
                <a:cs typeface="Arial MT"/>
              </a:rPr>
              <a:t>process</a:t>
            </a:r>
            <a:r>
              <a:rPr sz="2400" spc="25" dirty="0">
                <a:solidFill>
                  <a:srgbClr val="FF0000"/>
                </a:solidFill>
                <a:latin typeface="Arial MT"/>
                <a:cs typeface="Arial MT"/>
              </a:rPr>
              <a:t> </a:t>
            </a:r>
            <a:r>
              <a:rPr sz="2400" dirty="0">
                <a:solidFill>
                  <a:srgbClr val="FF0000"/>
                </a:solidFill>
                <a:latin typeface="Arial MT"/>
                <a:cs typeface="Arial MT"/>
              </a:rPr>
              <a:t>of</a:t>
            </a:r>
            <a:r>
              <a:rPr sz="2400" spc="-10" dirty="0">
                <a:solidFill>
                  <a:srgbClr val="FF0000"/>
                </a:solidFill>
                <a:latin typeface="Arial MT"/>
                <a:cs typeface="Arial MT"/>
              </a:rPr>
              <a:t> </a:t>
            </a:r>
            <a:r>
              <a:rPr sz="2400" dirty="0">
                <a:solidFill>
                  <a:srgbClr val="FF0000"/>
                </a:solidFill>
                <a:latin typeface="Arial MT"/>
                <a:cs typeface="Arial MT"/>
              </a:rPr>
              <a:t>receiving,</a:t>
            </a:r>
            <a:r>
              <a:rPr sz="2400" spc="30" dirty="0">
                <a:solidFill>
                  <a:srgbClr val="FF0000"/>
                </a:solidFill>
                <a:latin typeface="Arial MT"/>
                <a:cs typeface="Arial MT"/>
              </a:rPr>
              <a:t> </a:t>
            </a:r>
            <a:r>
              <a:rPr sz="2400" dirty="0">
                <a:solidFill>
                  <a:srgbClr val="FF0000"/>
                </a:solidFill>
                <a:latin typeface="Arial MT"/>
                <a:cs typeface="Arial MT"/>
              </a:rPr>
              <a:t>constructing </a:t>
            </a:r>
            <a:r>
              <a:rPr sz="2400" spc="-650" dirty="0">
                <a:solidFill>
                  <a:srgbClr val="FF0000"/>
                </a:solidFill>
                <a:latin typeface="Arial MT"/>
                <a:cs typeface="Arial MT"/>
              </a:rPr>
              <a:t> </a:t>
            </a:r>
            <a:r>
              <a:rPr sz="2400" spc="-5" dirty="0">
                <a:solidFill>
                  <a:srgbClr val="FF0000"/>
                </a:solidFill>
                <a:latin typeface="Arial MT"/>
                <a:cs typeface="Arial MT"/>
              </a:rPr>
              <a:t>meaning</a:t>
            </a:r>
            <a:r>
              <a:rPr sz="2400" spc="20" dirty="0">
                <a:solidFill>
                  <a:srgbClr val="FF0000"/>
                </a:solidFill>
                <a:latin typeface="Arial MT"/>
                <a:cs typeface="Arial MT"/>
              </a:rPr>
              <a:t> </a:t>
            </a:r>
            <a:r>
              <a:rPr sz="2400" dirty="0">
                <a:solidFill>
                  <a:srgbClr val="FF0000"/>
                </a:solidFill>
                <a:latin typeface="Arial MT"/>
                <a:cs typeface="Arial MT"/>
              </a:rPr>
              <a:t>from,</a:t>
            </a:r>
            <a:r>
              <a:rPr sz="2400" spc="-25" dirty="0">
                <a:solidFill>
                  <a:srgbClr val="FF0000"/>
                </a:solidFill>
                <a:latin typeface="Arial MT"/>
                <a:cs typeface="Arial MT"/>
              </a:rPr>
              <a:t> </a:t>
            </a:r>
            <a:r>
              <a:rPr sz="2400" spc="-5" dirty="0">
                <a:solidFill>
                  <a:srgbClr val="FF0000"/>
                </a:solidFill>
                <a:latin typeface="Arial MT"/>
                <a:cs typeface="Arial MT"/>
              </a:rPr>
              <a:t>and</a:t>
            </a:r>
            <a:r>
              <a:rPr sz="2400" spc="15" dirty="0">
                <a:solidFill>
                  <a:srgbClr val="FF0000"/>
                </a:solidFill>
                <a:latin typeface="Arial MT"/>
                <a:cs typeface="Arial MT"/>
              </a:rPr>
              <a:t> </a:t>
            </a:r>
            <a:r>
              <a:rPr sz="2400" dirty="0">
                <a:solidFill>
                  <a:srgbClr val="FF0000"/>
                </a:solidFill>
                <a:latin typeface="Arial MT"/>
                <a:cs typeface="Arial MT"/>
              </a:rPr>
              <a:t>responding</a:t>
            </a:r>
            <a:r>
              <a:rPr sz="2400" spc="35" dirty="0">
                <a:solidFill>
                  <a:srgbClr val="FF0000"/>
                </a:solidFill>
                <a:latin typeface="Arial MT"/>
                <a:cs typeface="Arial MT"/>
              </a:rPr>
              <a:t> </a:t>
            </a:r>
            <a:r>
              <a:rPr sz="2400" dirty="0">
                <a:solidFill>
                  <a:srgbClr val="FF0000"/>
                </a:solidFill>
                <a:latin typeface="Arial MT"/>
                <a:cs typeface="Arial MT"/>
              </a:rPr>
              <a:t>to</a:t>
            </a:r>
            <a:r>
              <a:rPr sz="2400" spc="5" dirty="0">
                <a:solidFill>
                  <a:srgbClr val="FF0000"/>
                </a:solidFill>
                <a:latin typeface="Arial MT"/>
                <a:cs typeface="Arial MT"/>
              </a:rPr>
              <a:t> </a:t>
            </a:r>
            <a:r>
              <a:rPr sz="2400" spc="-5" dirty="0">
                <a:solidFill>
                  <a:srgbClr val="FF0000"/>
                </a:solidFill>
                <a:latin typeface="Arial MT"/>
                <a:cs typeface="Arial MT"/>
              </a:rPr>
              <a:t>spoken.</a:t>
            </a:r>
            <a:endParaRPr sz="2400" dirty="0">
              <a:latin typeface="Arial MT"/>
              <a:cs typeface="Arial MT"/>
            </a:endParaRPr>
          </a:p>
        </p:txBody>
      </p:sp>
      <p:sp>
        <p:nvSpPr>
          <p:cNvPr id="5" name="object 5"/>
          <p:cNvSpPr txBox="1"/>
          <p:nvPr/>
        </p:nvSpPr>
        <p:spPr>
          <a:xfrm>
            <a:off x="8503030" y="6190239"/>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44536A"/>
                </a:solidFill>
                <a:latin typeface="Arial"/>
                <a:cs typeface="Arial"/>
              </a:rPr>
              <a:t>3</a:t>
            </a:r>
            <a:endParaRPr sz="2400" dirty="0">
              <a:latin typeface="Arial"/>
              <a:cs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56159"/>
            <a:ext cx="3918585" cy="528955"/>
          </a:xfrm>
          <a:prstGeom prst="rect">
            <a:avLst/>
          </a:prstGeom>
        </p:spPr>
        <p:txBody>
          <a:bodyPr vert="horz" wrap="square" lIns="0" tIns="12700" rIns="0" bIns="0" rtlCol="0">
            <a:spAutoFit/>
          </a:bodyPr>
          <a:lstStyle/>
          <a:p>
            <a:pPr marL="12700">
              <a:lnSpc>
                <a:spcPct val="100000"/>
              </a:lnSpc>
              <a:spcBef>
                <a:spcPts val="100"/>
              </a:spcBef>
            </a:pPr>
            <a:r>
              <a:rPr sz="3300" spc="-10" dirty="0">
                <a:latin typeface="Times New Roman"/>
                <a:cs typeface="Times New Roman"/>
              </a:rPr>
              <a:t>2.Process</a:t>
            </a:r>
            <a:r>
              <a:rPr sz="3300" spc="-30" dirty="0">
                <a:latin typeface="Times New Roman"/>
                <a:cs typeface="Times New Roman"/>
              </a:rPr>
              <a:t> </a:t>
            </a:r>
            <a:r>
              <a:rPr sz="3300" dirty="0">
                <a:latin typeface="Times New Roman"/>
                <a:cs typeface="Times New Roman"/>
              </a:rPr>
              <a:t>of</a:t>
            </a:r>
            <a:r>
              <a:rPr sz="3300" spc="-5" dirty="0">
                <a:latin typeface="Times New Roman"/>
                <a:cs typeface="Times New Roman"/>
              </a:rPr>
              <a:t> Listening</a:t>
            </a:r>
            <a:endParaRPr sz="3300" dirty="0">
              <a:latin typeface="Times New Roman"/>
              <a:cs typeface="Times New Roman"/>
            </a:endParaRPr>
          </a:p>
        </p:txBody>
      </p:sp>
      <p:pic>
        <p:nvPicPr>
          <p:cNvPr id="3" name="object 3"/>
          <p:cNvPicPr/>
          <p:nvPr/>
        </p:nvPicPr>
        <p:blipFill>
          <a:blip r:embed="rId2" cstate="print"/>
          <a:stretch>
            <a:fillRect/>
          </a:stretch>
        </p:blipFill>
        <p:spPr>
          <a:xfrm>
            <a:off x="165235" y="1173244"/>
            <a:ext cx="8749200" cy="4298229"/>
          </a:xfrm>
          <a:prstGeom prst="rect">
            <a:avLst/>
          </a:prstGeom>
        </p:spPr>
      </p:pic>
      <p:sp>
        <p:nvSpPr>
          <p:cNvPr id="4" name="object 4"/>
          <p:cNvSpPr txBox="1"/>
          <p:nvPr/>
        </p:nvSpPr>
        <p:spPr>
          <a:xfrm>
            <a:off x="8282685" y="5894545"/>
            <a:ext cx="245745" cy="366395"/>
          </a:xfrm>
          <a:prstGeom prst="rect">
            <a:avLst/>
          </a:prstGeom>
        </p:spPr>
        <p:txBody>
          <a:bodyPr vert="horz" wrap="square" lIns="0" tIns="0" rIns="0" bIns="0" rtlCol="0">
            <a:spAutoFit/>
          </a:bodyPr>
          <a:lstStyle/>
          <a:p>
            <a:pPr marL="38100">
              <a:lnSpc>
                <a:spcPts val="2755"/>
              </a:lnSpc>
            </a:pPr>
            <a:fld id="{81D60167-4931-47E6-BA6A-407CBD079E47}" type="slidenum">
              <a:rPr sz="2400" b="1" spc="-5" dirty="0">
                <a:solidFill>
                  <a:srgbClr val="44536A"/>
                </a:solidFill>
                <a:latin typeface="Arial"/>
                <a:cs typeface="Arial"/>
              </a:rPr>
              <a:t>4</a:t>
            </a:fld>
            <a:endParaRPr sz="2400">
              <a:latin typeface="Arial"/>
              <a:cs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914400"/>
            <a:ext cx="8686800" cy="4444807"/>
          </a:xfrm>
          <a:prstGeom prst="rect">
            <a:avLst/>
          </a:prstGeom>
        </p:spPr>
        <p:txBody>
          <a:bodyPr wrap="square">
            <a:spAutoFit/>
          </a:bodyPr>
          <a:lstStyle/>
          <a:p>
            <a:pPr marL="12700">
              <a:spcBef>
                <a:spcPts val="100"/>
              </a:spcBef>
            </a:pPr>
            <a:r>
              <a:rPr lang="en-US" sz="3300" b="1" spc="-10" dirty="0" smtClean="0">
                <a:solidFill>
                  <a:srgbClr val="C00000"/>
                </a:solidFill>
                <a:latin typeface="Times New Roman"/>
                <a:ea typeface="+mj-ea"/>
                <a:cs typeface="Times New Roman"/>
              </a:rPr>
              <a:t>Receiving</a:t>
            </a:r>
          </a:p>
          <a:p>
            <a:pPr marL="12700">
              <a:spcBef>
                <a:spcPts val="100"/>
              </a:spcBef>
            </a:pPr>
            <a:endParaRPr lang="en-US" sz="3300" b="1" spc="-10" dirty="0">
              <a:solidFill>
                <a:srgbClr val="C00000"/>
              </a:solidFill>
              <a:latin typeface="Times New Roman"/>
              <a:ea typeface="+mj-ea"/>
              <a:cs typeface="Times New Roman"/>
            </a:endParaRPr>
          </a:p>
          <a:p>
            <a:pPr algn="just">
              <a:lnSpc>
                <a:spcPct val="150000"/>
              </a:lnSpc>
            </a:pPr>
            <a:r>
              <a:rPr lang="en-US" sz="2400" b="1" dirty="0">
                <a:latin typeface="Times New Roman" pitchFamily="18" charset="0"/>
                <a:cs typeface="Times New Roman" pitchFamily="18" charset="0"/>
              </a:rPr>
              <a:t>Receiving</a:t>
            </a:r>
            <a:r>
              <a:rPr lang="en-US" sz="2400" dirty="0">
                <a:latin typeface="Times New Roman" pitchFamily="18" charset="0"/>
                <a:cs typeface="Times New Roman" pitchFamily="18" charset="0"/>
              </a:rPr>
              <a:t> is the intentional focus on hearing a speaker’s message, which happens when we filter out other sources so that we can isolate the message and avoid the confusing mixture of incoming stimuli. At this stage, we are still only hearing the message. Notice in Figure </a:t>
            </a:r>
            <a:r>
              <a:rPr lang="en-US" sz="2400" dirty="0" smtClean="0">
                <a:latin typeface="Times New Roman" pitchFamily="18" charset="0"/>
                <a:cs typeface="Times New Roman" pitchFamily="18" charset="0"/>
              </a:rPr>
              <a:t>4.3,  this </a:t>
            </a:r>
            <a:r>
              <a:rPr lang="en-US" sz="2400" dirty="0">
                <a:latin typeface="Times New Roman" pitchFamily="18" charset="0"/>
                <a:cs typeface="Times New Roman" pitchFamily="18" charset="0"/>
              </a:rPr>
              <a:t>stage is represented by the ear because it is the primary tool involved with this stage of the listening process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125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1042" y="533400"/>
            <a:ext cx="8305800" cy="5401479"/>
          </a:xfrm>
          <a:prstGeom prst="rect">
            <a:avLst/>
          </a:prstGeom>
        </p:spPr>
        <p:txBody>
          <a:bodyPr wrap="square">
            <a:spAutoFit/>
          </a:bodyPr>
          <a:lstStyle/>
          <a:p>
            <a:pPr marL="12700">
              <a:spcBef>
                <a:spcPts val="100"/>
              </a:spcBef>
            </a:pPr>
            <a:r>
              <a:rPr lang="en-US" sz="3300" b="1" spc="-10" dirty="0">
                <a:solidFill>
                  <a:srgbClr val="C00000"/>
                </a:solidFill>
                <a:latin typeface="Times New Roman"/>
                <a:ea typeface="+mj-ea"/>
                <a:cs typeface="Times New Roman"/>
              </a:rPr>
              <a:t>Understanding</a:t>
            </a:r>
            <a:endParaRPr lang="en-US" sz="3300" b="1" spc="-10" dirty="0">
              <a:solidFill>
                <a:srgbClr val="C00000"/>
              </a:solidFill>
              <a:latin typeface="Times New Roman"/>
              <a:ea typeface="+mj-ea"/>
              <a:cs typeface="Times New Roman"/>
            </a:endParaRPr>
          </a:p>
          <a:p>
            <a:pPr algn="just"/>
            <a:endParaRPr lang="en-US" sz="2400" dirty="0" smtClean="0">
              <a:latin typeface="Times New Roman" pitchFamily="18" charset="0"/>
              <a:cs typeface="Times New Roman" pitchFamily="18" charset="0"/>
            </a:endParaRPr>
          </a:p>
          <a:p>
            <a:pPr algn="just">
              <a:lnSpc>
                <a:spcPct val="150000"/>
              </a:lnSpc>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understanding stage is the stage during which the listener determines the context and meanings of the words that are heard through a process called decoding. </a:t>
            </a:r>
            <a:r>
              <a:rPr lang="en-US" sz="2400" dirty="0">
                <a:latin typeface="Times New Roman" pitchFamily="18" charset="0"/>
                <a:cs typeface="Times New Roman" pitchFamily="18" charset="0"/>
              </a:rPr>
              <a:t>Understanding or comprehension occurs when the listener’s determination of the context and meanings of the words matches the speaker’s message. One tactic for better understanding a speaker’s meaning is to ask questions to fill in any holes you may have in the mental reconstruction of the speaker’s message.</a:t>
            </a:r>
          </a:p>
        </p:txBody>
      </p:sp>
    </p:spTree>
    <p:extLst>
      <p:ext uri="{BB962C8B-B14F-4D97-AF65-F5344CB8AC3E}">
        <p14:creationId xmlns:p14="http://schemas.microsoft.com/office/powerpoint/2010/main" val="342348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990600"/>
            <a:ext cx="8534400" cy="4998804"/>
          </a:xfrm>
          <a:prstGeom prst="rect">
            <a:avLst/>
          </a:prstGeom>
        </p:spPr>
        <p:txBody>
          <a:bodyPr wrap="square">
            <a:spAutoFit/>
          </a:bodyPr>
          <a:lstStyle/>
          <a:p>
            <a:pPr marL="12700">
              <a:spcBef>
                <a:spcPts val="100"/>
              </a:spcBef>
            </a:pPr>
            <a:r>
              <a:rPr lang="en-US" sz="3300" b="1" spc="-10" dirty="0" smtClean="0">
                <a:solidFill>
                  <a:srgbClr val="C00000"/>
                </a:solidFill>
                <a:latin typeface="Times New Roman"/>
                <a:ea typeface="+mj-ea"/>
                <a:cs typeface="Times New Roman"/>
              </a:rPr>
              <a:t>Remembering</a:t>
            </a:r>
          </a:p>
          <a:p>
            <a:pPr marL="12700">
              <a:spcBef>
                <a:spcPts val="100"/>
              </a:spcBef>
            </a:pPr>
            <a:endParaRPr lang="en-US" sz="3300" b="1" spc="-10" dirty="0">
              <a:solidFill>
                <a:srgbClr val="C00000"/>
              </a:solidFill>
              <a:latin typeface="Times New Roman"/>
              <a:ea typeface="+mj-ea"/>
              <a:cs typeface="Times New Roman"/>
            </a:endParaRPr>
          </a:p>
          <a:p>
            <a:pPr algn="just">
              <a:lnSpc>
                <a:spcPct val="150000"/>
              </a:lnSpc>
            </a:pPr>
            <a:r>
              <a:rPr lang="en-US" sz="2400" dirty="0">
                <a:latin typeface="Times New Roman" pitchFamily="18" charset="0"/>
                <a:cs typeface="Times New Roman" pitchFamily="18" charset="0"/>
              </a:rPr>
              <a:t>In </a:t>
            </a:r>
            <a:r>
              <a:rPr lang="en-US" sz="2400" dirty="0">
                <a:latin typeface="Times New Roman" pitchFamily="18" charset="0"/>
                <a:cs typeface="Times New Roman" pitchFamily="18" charset="0"/>
              </a:rPr>
              <a:t>the listening process, the remembering stage occurs as the listener categorizes and retains the information he or she has gathered from the speaker for future access. If the listener has been attending, understanding, and evaluating, chances are the result will be stored memory— allowing the listener to record information about people, objects, and events for later recall. This happens both during and after the speaker’s delivery.</a:t>
            </a:r>
          </a:p>
        </p:txBody>
      </p:sp>
    </p:spTree>
    <p:extLst>
      <p:ext uri="{BB962C8B-B14F-4D97-AF65-F5344CB8AC3E}">
        <p14:creationId xmlns:p14="http://schemas.microsoft.com/office/powerpoint/2010/main" val="838024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457200"/>
            <a:ext cx="8839200" cy="6140142"/>
          </a:xfrm>
          <a:prstGeom prst="rect">
            <a:avLst/>
          </a:prstGeom>
        </p:spPr>
        <p:txBody>
          <a:bodyPr wrap="square">
            <a:spAutoFit/>
          </a:bodyPr>
          <a:lstStyle/>
          <a:p>
            <a:pPr marL="12700">
              <a:spcBef>
                <a:spcPts val="100"/>
              </a:spcBef>
            </a:pPr>
            <a:r>
              <a:rPr lang="en-US" sz="3300" b="1" spc="-10" dirty="0">
                <a:solidFill>
                  <a:srgbClr val="C00000"/>
                </a:solidFill>
                <a:latin typeface="Times New Roman"/>
                <a:ea typeface="+mj-ea"/>
                <a:cs typeface="Times New Roman"/>
              </a:rPr>
              <a:t>Evaluating</a:t>
            </a:r>
          </a:p>
          <a:p>
            <a:pPr algn="just">
              <a:lnSpc>
                <a:spcPct val="150000"/>
              </a:lnSpc>
            </a:pPr>
            <a:r>
              <a:rPr lang="en-US" sz="2400" dirty="0">
                <a:latin typeface="Times New Roman" pitchFamily="18" charset="0"/>
                <a:cs typeface="Times New Roman" pitchFamily="18" charset="0"/>
              </a:rPr>
              <a:t>This </a:t>
            </a:r>
            <a:r>
              <a:rPr lang="en-US" sz="2400" dirty="0">
                <a:latin typeface="Times New Roman" pitchFamily="18" charset="0"/>
                <a:cs typeface="Times New Roman" pitchFamily="18" charset="0"/>
              </a:rPr>
              <a:t>stage of the listening process is the one during which the listener assesses the information they received, both qualitatively and quantitatively. Evaluating allows the listener to form an opinion of what they heard and, if necessary, to begin developing a response. The evaluating stage occurs most effectively once the listener fully understands what the speaker is trying to say. Having a clear understanding of a speaker’s message allows a listener to evaluate that message without getting bogged down in ambiguities or spending unnecessary time and energy addressing points that may be tangential or otherwise nonessential.</a:t>
            </a:r>
          </a:p>
        </p:txBody>
      </p:sp>
    </p:spTree>
    <p:extLst>
      <p:ext uri="{BB962C8B-B14F-4D97-AF65-F5344CB8AC3E}">
        <p14:creationId xmlns:p14="http://schemas.microsoft.com/office/powerpoint/2010/main" val="3448789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609600"/>
            <a:ext cx="8382000" cy="5773696"/>
          </a:xfrm>
          <a:prstGeom prst="rect">
            <a:avLst/>
          </a:prstGeom>
        </p:spPr>
        <p:txBody>
          <a:bodyPr wrap="square">
            <a:spAutoFit/>
          </a:bodyPr>
          <a:lstStyle/>
          <a:p>
            <a:pPr marL="12700">
              <a:lnSpc>
                <a:spcPct val="150000"/>
              </a:lnSpc>
              <a:spcBef>
                <a:spcPts val="100"/>
              </a:spcBef>
            </a:pPr>
            <a:r>
              <a:rPr lang="en-US" sz="3300" b="1" spc="-10" dirty="0">
                <a:solidFill>
                  <a:srgbClr val="C00000"/>
                </a:solidFill>
                <a:latin typeface="Times New Roman"/>
                <a:ea typeface="+mj-ea"/>
                <a:cs typeface="Times New Roman"/>
              </a:rPr>
              <a:t>Feedback/Response</a:t>
            </a:r>
          </a:p>
          <a:p>
            <a:pPr algn="just">
              <a:lnSpc>
                <a:spcPct val="150000"/>
              </a:lnSpc>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responding stage is the stage of the listening process in which the listener provides verbal and/or nonverbal reactions based on short- or long-term memory. </a:t>
            </a:r>
            <a:r>
              <a:rPr lang="en-US" sz="2400" dirty="0">
                <a:latin typeface="Times New Roman" pitchFamily="18" charset="0"/>
                <a:cs typeface="Times New Roman" pitchFamily="18" charset="0"/>
              </a:rPr>
              <a:t>Nonverbal responses such as nodding or eye contact allow the listener to communicate his or her level of interest without interrupting the speaker, thereby preserving the speaker/listener roles. When a listener responds verbally to what they hear and remember—for example, with a question or a comment—the speaker/listener roles are reversed, at least momentarily.</a:t>
            </a:r>
          </a:p>
        </p:txBody>
      </p:sp>
    </p:spTree>
    <p:extLst>
      <p:ext uri="{BB962C8B-B14F-4D97-AF65-F5344CB8AC3E}">
        <p14:creationId xmlns:p14="http://schemas.microsoft.com/office/powerpoint/2010/main" val="3387479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8292210" y="6466897"/>
            <a:ext cx="135255" cy="153670"/>
          </a:xfrm>
          <a:prstGeom prst="rect">
            <a:avLst/>
          </a:prstGeom>
        </p:spPr>
        <p:txBody>
          <a:bodyPr vert="horz" wrap="square" lIns="0" tIns="1905" rIns="0" bIns="0" rtlCol="0">
            <a:spAutoFit/>
          </a:bodyPr>
          <a:lstStyle/>
          <a:p>
            <a:pPr marL="12700">
              <a:lnSpc>
                <a:spcPct val="100000"/>
              </a:lnSpc>
              <a:spcBef>
                <a:spcPts val="15"/>
              </a:spcBef>
            </a:pPr>
            <a:r>
              <a:rPr sz="900" spc="-70" dirty="0">
                <a:solidFill>
                  <a:srgbClr val="888888"/>
                </a:solidFill>
                <a:latin typeface="Arial MT"/>
                <a:cs typeface="Arial MT"/>
              </a:rPr>
              <a:t>11</a:t>
            </a:r>
            <a:endParaRPr sz="900">
              <a:latin typeface="Arial MT"/>
              <a:cs typeface="Arial MT"/>
            </a:endParaRPr>
          </a:p>
        </p:txBody>
      </p:sp>
      <p:sp>
        <p:nvSpPr>
          <p:cNvPr id="2" name="object 2"/>
          <p:cNvSpPr txBox="1">
            <a:spLocks noGrp="1"/>
          </p:cNvSpPr>
          <p:nvPr>
            <p:ph type="title"/>
          </p:nvPr>
        </p:nvSpPr>
        <p:spPr>
          <a:xfrm>
            <a:off x="535940" y="667258"/>
            <a:ext cx="6351905" cy="635000"/>
          </a:xfrm>
          <a:prstGeom prst="rect">
            <a:avLst/>
          </a:prstGeom>
        </p:spPr>
        <p:txBody>
          <a:bodyPr vert="horz" wrap="square" lIns="0" tIns="12065" rIns="0" bIns="0" rtlCol="0">
            <a:spAutoFit/>
          </a:bodyPr>
          <a:lstStyle/>
          <a:p>
            <a:pPr marL="12700">
              <a:lnSpc>
                <a:spcPct val="100000"/>
              </a:lnSpc>
              <a:spcBef>
                <a:spcPts val="95"/>
              </a:spcBef>
            </a:pPr>
            <a:r>
              <a:rPr spc="-5" dirty="0"/>
              <a:t>3.</a:t>
            </a:r>
            <a:r>
              <a:rPr dirty="0"/>
              <a:t> </a:t>
            </a:r>
            <a:r>
              <a:rPr spc="-5" dirty="0"/>
              <a:t>Importance</a:t>
            </a:r>
            <a:r>
              <a:rPr spc="15" dirty="0"/>
              <a:t> </a:t>
            </a:r>
            <a:r>
              <a:rPr spc="-5" dirty="0"/>
              <a:t>of</a:t>
            </a:r>
            <a:r>
              <a:rPr spc="10" dirty="0"/>
              <a:t> </a:t>
            </a:r>
            <a:r>
              <a:rPr spc="-5" dirty="0"/>
              <a:t>Listening</a:t>
            </a:r>
          </a:p>
        </p:txBody>
      </p:sp>
      <p:sp>
        <p:nvSpPr>
          <p:cNvPr id="3" name="object 3"/>
          <p:cNvSpPr txBox="1"/>
          <p:nvPr/>
        </p:nvSpPr>
        <p:spPr>
          <a:xfrm>
            <a:off x="535940" y="1603231"/>
            <a:ext cx="6451600" cy="3482043"/>
          </a:xfrm>
          <a:prstGeom prst="rect">
            <a:avLst/>
          </a:prstGeom>
        </p:spPr>
        <p:txBody>
          <a:bodyPr vert="horz" wrap="square" lIns="0" tIns="73025" rIns="0" bIns="0" rtlCol="0">
            <a:spAutoFit/>
          </a:bodyPr>
          <a:lstStyle/>
          <a:p>
            <a:pPr marL="184785" indent="-172720">
              <a:lnSpc>
                <a:spcPct val="150000"/>
              </a:lnSpc>
              <a:spcBef>
                <a:spcPts val="575"/>
              </a:spcBef>
              <a:buChar char="•"/>
              <a:tabLst>
                <a:tab pos="185420" algn="l"/>
              </a:tabLst>
            </a:pPr>
            <a:r>
              <a:rPr sz="2800" spc="-30" dirty="0">
                <a:latin typeface="Arial MT"/>
                <a:cs typeface="Arial MT"/>
              </a:rPr>
              <a:t>We</a:t>
            </a:r>
            <a:r>
              <a:rPr sz="2800" spc="-15" dirty="0">
                <a:latin typeface="Arial MT"/>
                <a:cs typeface="Arial MT"/>
              </a:rPr>
              <a:t> </a:t>
            </a:r>
            <a:r>
              <a:rPr sz="2800" dirty="0">
                <a:latin typeface="Arial MT"/>
                <a:cs typeface="Arial MT"/>
              </a:rPr>
              <a:t>show</a:t>
            </a:r>
            <a:r>
              <a:rPr sz="2800" spc="5" dirty="0">
                <a:latin typeface="Arial MT"/>
                <a:cs typeface="Arial MT"/>
              </a:rPr>
              <a:t> </a:t>
            </a:r>
            <a:r>
              <a:rPr sz="2800" dirty="0">
                <a:latin typeface="Arial MT"/>
                <a:cs typeface="Arial MT"/>
              </a:rPr>
              <a:t>that</a:t>
            </a:r>
            <a:r>
              <a:rPr sz="2800" spc="-20" dirty="0">
                <a:latin typeface="Arial MT"/>
                <a:cs typeface="Arial MT"/>
              </a:rPr>
              <a:t> </a:t>
            </a:r>
            <a:r>
              <a:rPr sz="2800" spc="-5" dirty="0">
                <a:latin typeface="Arial MT"/>
                <a:cs typeface="Arial MT"/>
              </a:rPr>
              <a:t>we</a:t>
            </a:r>
            <a:r>
              <a:rPr sz="2800" spc="5" dirty="0">
                <a:latin typeface="Arial MT"/>
                <a:cs typeface="Arial MT"/>
              </a:rPr>
              <a:t> </a:t>
            </a:r>
            <a:r>
              <a:rPr sz="2800" dirty="0">
                <a:latin typeface="Arial MT"/>
                <a:cs typeface="Arial MT"/>
              </a:rPr>
              <a:t>are</a:t>
            </a:r>
            <a:r>
              <a:rPr sz="2800" spc="-5" dirty="0">
                <a:latin typeface="Arial MT"/>
                <a:cs typeface="Arial MT"/>
              </a:rPr>
              <a:t> </a:t>
            </a:r>
            <a:r>
              <a:rPr sz="2800" dirty="0">
                <a:latin typeface="Arial MT"/>
                <a:cs typeface="Arial MT"/>
              </a:rPr>
              <a:t>serious</a:t>
            </a:r>
          </a:p>
          <a:p>
            <a:pPr marL="184785" indent="-172720">
              <a:lnSpc>
                <a:spcPct val="150000"/>
              </a:lnSpc>
              <a:spcBef>
                <a:spcPts val="470"/>
              </a:spcBef>
              <a:buChar char="•"/>
              <a:tabLst>
                <a:tab pos="185420" algn="l"/>
              </a:tabLst>
            </a:pPr>
            <a:r>
              <a:rPr sz="2800" spc="-30" dirty="0">
                <a:latin typeface="Arial MT"/>
                <a:cs typeface="Arial MT"/>
              </a:rPr>
              <a:t>We</a:t>
            </a:r>
            <a:r>
              <a:rPr sz="2800" spc="-10" dirty="0">
                <a:latin typeface="Arial MT"/>
                <a:cs typeface="Arial MT"/>
              </a:rPr>
              <a:t> </a:t>
            </a:r>
            <a:r>
              <a:rPr sz="2800" dirty="0">
                <a:latin typeface="Arial MT"/>
                <a:cs typeface="Arial MT"/>
              </a:rPr>
              <a:t>display</a:t>
            </a:r>
            <a:r>
              <a:rPr sz="2800" spc="5" dirty="0">
                <a:latin typeface="Arial MT"/>
                <a:cs typeface="Arial MT"/>
              </a:rPr>
              <a:t> </a:t>
            </a:r>
            <a:r>
              <a:rPr sz="2800" dirty="0">
                <a:latin typeface="Arial MT"/>
                <a:cs typeface="Arial MT"/>
              </a:rPr>
              <a:t>respect</a:t>
            </a:r>
            <a:r>
              <a:rPr sz="2800" spc="-5" dirty="0">
                <a:latin typeface="Arial MT"/>
                <a:cs typeface="Arial MT"/>
              </a:rPr>
              <a:t> to</a:t>
            </a:r>
            <a:r>
              <a:rPr sz="2800" spc="-10" dirty="0">
                <a:latin typeface="Arial MT"/>
                <a:cs typeface="Arial MT"/>
              </a:rPr>
              <a:t> </a:t>
            </a:r>
            <a:r>
              <a:rPr sz="2800" spc="5" dirty="0">
                <a:latin typeface="Arial MT"/>
                <a:cs typeface="Arial MT"/>
              </a:rPr>
              <a:t>other’s</a:t>
            </a:r>
            <a:r>
              <a:rPr sz="2800" spc="-10" dirty="0">
                <a:latin typeface="Arial MT"/>
                <a:cs typeface="Arial MT"/>
              </a:rPr>
              <a:t> </a:t>
            </a:r>
            <a:r>
              <a:rPr sz="2800" spc="-5" dirty="0">
                <a:latin typeface="Arial MT"/>
                <a:cs typeface="Arial MT"/>
              </a:rPr>
              <a:t>view </a:t>
            </a:r>
            <a:r>
              <a:rPr sz="2800" dirty="0">
                <a:latin typeface="Arial MT"/>
                <a:cs typeface="Arial MT"/>
              </a:rPr>
              <a:t>point</a:t>
            </a:r>
          </a:p>
          <a:p>
            <a:pPr marL="184785" indent="-172720">
              <a:lnSpc>
                <a:spcPct val="150000"/>
              </a:lnSpc>
              <a:spcBef>
                <a:spcPts val="465"/>
              </a:spcBef>
              <a:buChar char="•"/>
              <a:tabLst>
                <a:tab pos="185420" algn="l"/>
                <a:tab pos="1292225" algn="l"/>
              </a:tabLst>
            </a:pPr>
            <a:r>
              <a:rPr sz="2800" spc="-5" dirty="0">
                <a:latin typeface="Arial MT"/>
                <a:cs typeface="Arial MT"/>
              </a:rPr>
              <a:t>Helps	</a:t>
            </a:r>
            <a:r>
              <a:rPr sz="2800" dirty="0">
                <a:latin typeface="Arial MT"/>
                <a:cs typeface="Arial MT"/>
              </a:rPr>
              <a:t>us</a:t>
            </a:r>
            <a:r>
              <a:rPr sz="2800" spc="-25" dirty="0">
                <a:latin typeface="Arial MT"/>
                <a:cs typeface="Arial MT"/>
              </a:rPr>
              <a:t> </a:t>
            </a:r>
            <a:r>
              <a:rPr sz="2800" spc="-5" dirty="0">
                <a:latin typeface="Arial MT"/>
                <a:cs typeface="Arial MT"/>
              </a:rPr>
              <a:t>to</a:t>
            </a:r>
            <a:r>
              <a:rPr sz="2800" spc="-25" dirty="0">
                <a:latin typeface="Arial MT"/>
                <a:cs typeface="Arial MT"/>
              </a:rPr>
              <a:t> </a:t>
            </a:r>
            <a:r>
              <a:rPr sz="2800" dirty="0">
                <a:latin typeface="Arial MT"/>
                <a:cs typeface="Arial MT"/>
              </a:rPr>
              <a:t>learn</a:t>
            </a:r>
          </a:p>
          <a:p>
            <a:pPr marL="184785" indent="-172720">
              <a:lnSpc>
                <a:spcPct val="150000"/>
              </a:lnSpc>
              <a:spcBef>
                <a:spcPts val="459"/>
              </a:spcBef>
              <a:buChar char="•"/>
              <a:tabLst>
                <a:tab pos="185420" algn="l"/>
                <a:tab pos="3154045" algn="l"/>
                <a:tab pos="3947160" algn="l"/>
              </a:tabLst>
            </a:pPr>
            <a:r>
              <a:rPr sz="2800" spc="-5" dirty="0">
                <a:latin typeface="Arial MT"/>
                <a:cs typeface="Arial MT"/>
              </a:rPr>
              <a:t>Helps</a:t>
            </a:r>
            <a:r>
              <a:rPr sz="2800" spc="15" dirty="0">
                <a:latin typeface="Arial MT"/>
                <a:cs typeface="Arial MT"/>
              </a:rPr>
              <a:t> </a:t>
            </a:r>
            <a:r>
              <a:rPr sz="2800" dirty="0">
                <a:latin typeface="Arial MT"/>
                <a:cs typeface="Arial MT"/>
              </a:rPr>
              <a:t>us</a:t>
            </a:r>
            <a:r>
              <a:rPr sz="2800" spc="10" dirty="0">
                <a:latin typeface="Arial MT"/>
                <a:cs typeface="Arial MT"/>
              </a:rPr>
              <a:t> </a:t>
            </a:r>
            <a:r>
              <a:rPr sz="2800" spc="-5" dirty="0">
                <a:latin typeface="Arial MT"/>
                <a:cs typeface="Arial MT"/>
              </a:rPr>
              <a:t>to</a:t>
            </a:r>
            <a:r>
              <a:rPr sz="2800" spc="10" dirty="0">
                <a:latin typeface="Arial MT"/>
                <a:cs typeface="Arial MT"/>
              </a:rPr>
              <a:t> </a:t>
            </a:r>
            <a:r>
              <a:rPr sz="2800" dirty="0">
                <a:latin typeface="Arial MT"/>
                <a:cs typeface="Arial MT"/>
              </a:rPr>
              <a:t>adapt	and	understand</a:t>
            </a:r>
          </a:p>
          <a:p>
            <a:pPr marL="184785" indent="-172720">
              <a:lnSpc>
                <a:spcPct val="150000"/>
              </a:lnSpc>
              <a:spcBef>
                <a:spcPts val="470"/>
              </a:spcBef>
              <a:buChar char="•"/>
              <a:tabLst>
                <a:tab pos="185420" algn="l"/>
              </a:tabLst>
            </a:pPr>
            <a:r>
              <a:rPr sz="2800" spc="-5" dirty="0">
                <a:latin typeface="Arial MT"/>
                <a:cs typeface="Arial MT"/>
              </a:rPr>
              <a:t>Empathize</a:t>
            </a:r>
            <a:endParaRPr sz="2800" dirty="0">
              <a:latin typeface="Arial MT"/>
              <a:cs typeface="Arial M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914400"/>
            <a:ext cx="7892955" cy="4893647"/>
          </a:xfrm>
          <a:prstGeom prst="rect">
            <a:avLst/>
          </a:prstGeom>
        </p:spPr>
        <p:txBody>
          <a:bodyPr wrap="square">
            <a:spAutoFit/>
          </a:bodyPr>
          <a:lstStyle/>
          <a:p>
            <a:endParaRPr lang="en-US" b="1" dirty="0" smtClean="0"/>
          </a:p>
          <a:p>
            <a:pPr marL="184785" indent="-172720">
              <a:lnSpc>
                <a:spcPct val="150000"/>
              </a:lnSpc>
              <a:buChar char="•"/>
            </a:pPr>
            <a:r>
              <a:rPr lang="en-US" sz="2800" spc="-30" dirty="0">
                <a:latin typeface="Arial MT"/>
                <a:cs typeface="Arial MT"/>
              </a:rPr>
              <a:t>Listening builds trust</a:t>
            </a:r>
          </a:p>
          <a:p>
            <a:pPr marL="184785" indent="-172720">
              <a:lnSpc>
                <a:spcPct val="150000"/>
              </a:lnSpc>
              <a:buChar char="•"/>
            </a:pPr>
            <a:r>
              <a:rPr lang="en-US" sz="2800" spc="-30" dirty="0">
                <a:latin typeface="Arial MT"/>
                <a:cs typeface="Arial MT"/>
              </a:rPr>
              <a:t>Listening reduces misunderstandings</a:t>
            </a:r>
          </a:p>
          <a:p>
            <a:pPr marL="184785" indent="-172720">
              <a:lnSpc>
                <a:spcPct val="150000"/>
              </a:lnSpc>
              <a:buChar char="•"/>
            </a:pPr>
            <a:r>
              <a:rPr lang="en-US" sz="2800" spc="-30" dirty="0">
                <a:latin typeface="Arial MT"/>
                <a:cs typeface="Arial MT"/>
              </a:rPr>
              <a:t>Listening helps eliminate conflict</a:t>
            </a:r>
          </a:p>
          <a:p>
            <a:pPr marL="184785" indent="-172720">
              <a:lnSpc>
                <a:spcPct val="150000"/>
              </a:lnSpc>
              <a:buChar char="•"/>
            </a:pPr>
            <a:r>
              <a:rPr lang="en-US" sz="2800" spc="-30" dirty="0">
                <a:latin typeface="Arial MT"/>
                <a:cs typeface="Arial MT"/>
              </a:rPr>
              <a:t>Listening improves business relationships</a:t>
            </a:r>
          </a:p>
          <a:p>
            <a:pPr marL="184785" indent="-172720">
              <a:lnSpc>
                <a:spcPct val="150000"/>
              </a:lnSpc>
              <a:buChar char="•"/>
            </a:pPr>
            <a:r>
              <a:rPr lang="en-US" sz="2800" spc="-30" dirty="0">
                <a:latin typeface="Arial MT"/>
                <a:cs typeface="Arial MT"/>
              </a:rPr>
              <a:t>Listening increases your productivity</a:t>
            </a:r>
          </a:p>
          <a:p>
            <a:pPr marL="184785" indent="-172720">
              <a:lnSpc>
                <a:spcPct val="150000"/>
              </a:lnSpc>
              <a:buChar char="•"/>
            </a:pPr>
            <a:r>
              <a:rPr lang="en-US" sz="2800" spc="-30" dirty="0">
                <a:latin typeface="Arial MT"/>
                <a:cs typeface="Arial MT"/>
              </a:rPr>
              <a:t>Listening improves your leadership skills</a:t>
            </a:r>
          </a:p>
          <a:p>
            <a:pPr marL="184785" indent="-172720">
              <a:lnSpc>
                <a:spcPct val="150000"/>
              </a:lnSpc>
              <a:buChar char="•"/>
            </a:pPr>
            <a:endParaRPr lang="en-US" sz="2800" spc="-30" dirty="0">
              <a:latin typeface="Arial MT"/>
              <a:cs typeface="Arial MT"/>
            </a:endParaRPr>
          </a:p>
        </p:txBody>
      </p:sp>
    </p:spTree>
    <p:extLst>
      <p:ext uri="{BB962C8B-B14F-4D97-AF65-F5344CB8AC3E}">
        <p14:creationId xmlns:p14="http://schemas.microsoft.com/office/powerpoint/2010/main" val="9054500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dirty="0"/>
              <a:t>12</a:t>
            </a:r>
          </a:p>
        </p:txBody>
      </p:sp>
      <p:sp>
        <p:nvSpPr>
          <p:cNvPr id="2" name="object 2"/>
          <p:cNvSpPr txBox="1">
            <a:spLocks noGrp="1"/>
          </p:cNvSpPr>
          <p:nvPr>
            <p:ph type="title"/>
          </p:nvPr>
        </p:nvSpPr>
        <p:spPr>
          <a:xfrm>
            <a:off x="707542" y="666064"/>
            <a:ext cx="6850380" cy="63500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00000"/>
                </a:solidFill>
              </a:rPr>
              <a:t>Why </a:t>
            </a:r>
            <a:r>
              <a:rPr spc="-5" dirty="0">
                <a:solidFill>
                  <a:srgbClr val="000000"/>
                </a:solidFill>
              </a:rPr>
              <a:t>Listening</a:t>
            </a:r>
            <a:r>
              <a:rPr spc="-15" dirty="0">
                <a:solidFill>
                  <a:srgbClr val="000000"/>
                </a:solidFill>
              </a:rPr>
              <a:t> </a:t>
            </a:r>
            <a:r>
              <a:rPr spc="-5" dirty="0">
                <a:solidFill>
                  <a:srgbClr val="000000"/>
                </a:solidFill>
              </a:rPr>
              <a:t>is Important?</a:t>
            </a:r>
          </a:p>
        </p:txBody>
      </p:sp>
      <p:sp>
        <p:nvSpPr>
          <p:cNvPr id="3" name="object 3"/>
          <p:cNvSpPr txBox="1"/>
          <p:nvPr/>
        </p:nvSpPr>
        <p:spPr>
          <a:xfrm>
            <a:off x="535940" y="1520935"/>
            <a:ext cx="5149850" cy="2640788"/>
          </a:xfrm>
          <a:prstGeom prst="rect">
            <a:avLst/>
          </a:prstGeom>
        </p:spPr>
        <p:txBody>
          <a:bodyPr vert="horz" wrap="square" lIns="0" tIns="73025" rIns="0" bIns="0" rtlCol="0">
            <a:spAutoFit/>
          </a:bodyPr>
          <a:lstStyle/>
          <a:p>
            <a:pPr marL="184785" indent="-172720">
              <a:lnSpc>
                <a:spcPct val="200000"/>
              </a:lnSpc>
              <a:spcBef>
                <a:spcPts val="575"/>
              </a:spcBef>
              <a:buChar char="•"/>
              <a:tabLst>
                <a:tab pos="185420" algn="l"/>
              </a:tabLst>
            </a:pPr>
            <a:r>
              <a:rPr sz="2800" spc="-165" dirty="0">
                <a:latin typeface="Arial MT"/>
                <a:cs typeface="Arial MT"/>
              </a:rPr>
              <a:t>To</a:t>
            </a:r>
            <a:r>
              <a:rPr sz="2800" spc="-5" dirty="0">
                <a:latin typeface="Arial MT"/>
                <a:cs typeface="Arial MT"/>
              </a:rPr>
              <a:t> </a:t>
            </a:r>
            <a:r>
              <a:rPr sz="2800" dirty="0">
                <a:latin typeface="Arial MT"/>
                <a:cs typeface="Arial MT"/>
              </a:rPr>
              <a:t>avoid</a:t>
            </a:r>
            <a:r>
              <a:rPr sz="2800" spc="-15" dirty="0">
                <a:latin typeface="Arial MT"/>
                <a:cs typeface="Arial MT"/>
              </a:rPr>
              <a:t> </a:t>
            </a:r>
            <a:r>
              <a:rPr sz="2800" dirty="0">
                <a:latin typeface="Arial MT"/>
                <a:cs typeface="Arial MT"/>
              </a:rPr>
              <a:t>communication errors.</a:t>
            </a:r>
          </a:p>
          <a:p>
            <a:pPr marL="184785" indent="-172720">
              <a:lnSpc>
                <a:spcPct val="200000"/>
              </a:lnSpc>
              <a:spcBef>
                <a:spcPts val="470"/>
              </a:spcBef>
              <a:buChar char="•"/>
              <a:tabLst>
                <a:tab pos="185420" algn="l"/>
              </a:tabLst>
            </a:pPr>
            <a:r>
              <a:rPr sz="2800" spc="-5" dirty="0">
                <a:latin typeface="Arial MT"/>
                <a:cs typeface="Arial MT"/>
              </a:rPr>
              <a:t>Helps</a:t>
            </a:r>
            <a:r>
              <a:rPr sz="2800" spc="5" dirty="0">
                <a:latin typeface="Arial MT"/>
                <a:cs typeface="Arial MT"/>
              </a:rPr>
              <a:t> </a:t>
            </a:r>
            <a:r>
              <a:rPr sz="2800" spc="-5" dirty="0">
                <a:latin typeface="Arial MT"/>
                <a:cs typeface="Arial MT"/>
              </a:rPr>
              <a:t>to</a:t>
            </a:r>
            <a:r>
              <a:rPr sz="2800" spc="5" dirty="0">
                <a:latin typeface="Arial MT"/>
                <a:cs typeface="Arial MT"/>
              </a:rPr>
              <a:t> </a:t>
            </a:r>
            <a:r>
              <a:rPr sz="2800" dirty="0">
                <a:latin typeface="Arial MT"/>
                <a:cs typeface="Arial MT"/>
              </a:rPr>
              <a:t>learn </a:t>
            </a:r>
            <a:r>
              <a:rPr sz="2800" spc="-5" dirty="0">
                <a:latin typeface="Arial MT"/>
                <a:cs typeface="Arial MT"/>
              </a:rPr>
              <a:t>something</a:t>
            </a:r>
            <a:r>
              <a:rPr sz="2800" spc="15" dirty="0">
                <a:latin typeface="Arial MT"/>
                <a:cs typeface="Arial MT"/>
              </a:rPr>
              <a:t> </a:t>
            </a:r>
            <a:r>
              <a:rPr sz="2800" spc="-40" dirty="0">
                <a:latin typeface="Arial MT"/>
                <a:cs typeface="Arial MT"/>
              </a:rPr>
              <a:t>new.</a:t>
            </a:r>
            <a:endParaRPr sz="2800" dirty="0">
              <a:latin typeface="Arial MT"/>
              <a:cs typeface="Arial MT"/>
            </a:endParaRPr>
          </a:p>
          <a:p>
            <a:pPr marL="184785" indent="-172720">
              <a:lnSpc>
                <a:spcPct val="200000"/>
              </a:lnSpc>
              <a:spcBef>
                <a:spcPts val="445"/>
              </a:spcBef>
              <a:buChar char="•"/>
              <a:tabLst>
                <a:tab pos="185420" algn="l"/>
              </a:tabLst>
            </a:pPr>
            <a:r>
              <a:rPr sz="2800" spc="-5" dirty="0">
                <a:latin typeface="Arial MT"/>
                <a:cs typeface="Arial MT"/>
              </a:rPr>
              <a:t>It</a:t>
            </a:r>
            <a:r>
              <a:rPr sz="2800" spc="-10" dirty="0">
                <a:latin typeface="Arial MT"/>
                <a:cs typeface="Arial MT"/>
              </a:rPr>
              <a:t> </a:t>
            </a:r>
            <a:r>
              <a:rPr sz="2800" spc="-5" dirty="0">
                <a:latin typeface="Arial MT"/>
                <a:cs typeface="Arial MT"/>
              </a:rPr>
              <a:t>is</a:t>
            </a:r>
            <a:r>
              <a:rPr sz="2800" spc="-15" dirty="0">
                <a:latin typeface="Arial MT"/>
                <a:cs typeface="Arial MT"/>
              </a:rPr>
              <a:t> </a:t>
            </a:r>
            <a:r>
              <a:rPr sz="2800" spc="-5" dirty="0">
                <a:latin typeface="Arial MT"/>
                <a:cs typeface="Arial MT"/>
              </a:rPr>
              <a:t>the</a:t>
            </a:r>
            <a:r>
              <a:rPr sz="2800" dirty="0">
                <a:latin typeface="Arial MT"/>
                <a:cs typeface="Arial MT"/>
              </a:rPr>
              <a:t> </a:t>
            </a:r>
            <a:r>
              <a:rPr sz="2800" spc="-5" dirty="0">
                <a:latin typeface="Arial MT"/>
                <a:cs typeface="Arial MT"/>
              </a:rPr>
              <a:t>key</a:t>
            </a:r>
            <a:r>
              <a:rPr sz="2800" dirty="0">
                <a:latin typeface="Arial MT"/>
                <a:cs typeface="Arial MT"/>
              </a:rPr>
              <a:t> </a:t>
            </a:r>
            <a:r>
              <a:rPr sz="2800" spc="-5" dirty="0">
                <a:latin typeface="Arial MT"/>
                <a:cs typeface="Arial MT"/>
              </a:rPr>
              <a:t>to</a:t>
            </a:r>
            <a:r>
              <a:rPr sz="2800" spc="-10" dirty="0">
                <a:latin typeface="Arial MT"/>
                <a:cs typeface="Arial MT"/>
              </a:rPr>
              <a:t> </a:t>
            </a:r>
            <a:r>
              <a:rPr sz="2800" dirty="0">
                <a:latin typeface="Arial MT"/>
                <a:cs typeface="Arial MT"/>
              </a:rPr>
              <a:t>success.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dirty="0"/>
              <a:t>13</a:t>
            </a:r>
          </a:p>
        </p:txBody>
      </p:sp>
      <p:sp>
        <p:nvSpPr>
          <p:cNvPr id="2" name="object 2"/>
          <p:cNvSpPr txBox="1">
            <a:spLocks noGrp="1"/>
          </p:cNvSpPr>
          <p:nvPr>
            <p:ph type="title"/>
          </p:nvPr>
        </p:nvSpPr>
        <p:spPr>
          <a:xfrm>
            <a:off x="707542" y="666064"/>
            <a:ext cx="6532880" cy="635000"/>
          </a:xfrm>
          <a:prstGeom prst="rect">
            <a:avLst/>
          </a:prstGeom>
        </p:spPr>
        <p:txBody>
          <a:bodyPr vert="horz" wrap="square" lIns="0" tIns="12065" rIns="0" bIns="0" rtlCol="0">
            <a:spAutoFit/>
          </a:bodyPr>
          <a:lstStyle/>
          <a:p>
            <a:pPr marL="12700">
              <a:lnSpc>
                <a:spcPct val="100000"/>
              </a:lnSpc>
              <a:spcBef>
                <a:spcPts val="95"/>
              </a:spcBef>
            </a:pPr>
            <a:r>
              <a:rPr spc="-5" dirty="0"/>
              <a:t>4.</a:t>
            </a:r>
            <a:r>
              <a:rPr spc="-10" dirty="0"/>
              <a:t> </a:t>
            </a:r>
            <a:r>
              <a:rPr spc="-70" dirty="0" smtClean="0"/>
              <a:t>Types</a:t>
            </a:r>
            <a:r>
              <a:rPr spc="10" dirty="0" smtClean="0"/>
              <a:t> </a:t>
            </a:r>
            <a:r>
              <a:rPr spc="-5" dirty="0"/>
              <a:t>of Listening</a:t>
            </a:r>
          </a:p>
        </p:txBody>
      </p:sp>
      <p:sp>
        <p:nvSpPr>
          <p:cNvPr id="3" name="object 3"/>
          <p:cNvSpPr txBox="1"/>
          <p:nvPr/>
        </p:nvSpPr>
        <p:spPr>
          <a:xfrm>
            <a:off x="187657" y="2057400"/>
            <a:ext cx="4191000" cy="3490058"/>
          </a:xfrm>
          <a:prstGeom prst="rect">
            <a:avLst/>
          </a:prstGeom>
        </p:spPr>
        <p:txBody>
          <a:bodyPr vert="horz" wrap="square" lIns="0" tIns="95885" rIns="0" bIns="0" rtlCol="0">
            <a:spAutoFit/>
          </a:bodyPr>
          <a:lstStyle/>
          <a:p>
            <a:pPr marL="311150" indent="-299085">
              <a:lnSpc>
                <a:spcPct val="200000"/>
              </a:lnSpc>
              <a:spcBef>
                <a:spcPts val="755"/>
              </a:spcBef>
              <a:buSzPct val="128571"/>
              <a:buChar char="•"/>
              <a:tabLst>
                <a:tab pos="311785" algn="l"/>
              </a:tabLst>
            </a:pPr>
            <a:r>
              <a:rPr sz="2600" dirty="0" smtClean="0">
                <a:latin typeface="Arial MT"/>
                <a:cs typeface="Arial MT"/>
              </a:rPr>
              <a:t>A</a:t>
            </a:r>
            <a:r>
              <a:rPr lang="en-US" sz="2600" dirty="0" smtClean="0">
                <a:latin typeface="Arial MT"/>
                <a:cs typeface="Arial MT"/>
              </a:rPr>
              <a:t>ppreciative Listening</a:t>
            </a:r>
            <a:endParaRPr sz="2600" dirty="0">
              <a:latin typeface="Arial MT"/>
              <a:cs typeface="Arial MT"/>
            </a:endParaRPr>
          </a:p>
          <a:p>
            <a:pPr marL="283845" indent="-271780">
              <a:lnSpc>
                <a:spcPct val="200000"/>
              </a:lnSpc>
              <a:spcBef>
                <a:spcPts val="455"/>
              </a:spcBef>
              <a:buChar char="•"/>
              <a:tabLst>
                <a:tab pos="284480" algn="l"/>
              </a:tabLst>
            </a:pPr>
            <a:r>
              <a:rPr sz="2600" dirty="0" smtClean="0">
                <a:latin typeface="Arial MT"/>
                <a:cs typeface="Arial MT"/>
              </a:rPr>
              <a:t>Emphatic</a:t>
            </a:r>
            <a:r>
              <a:rPr sz="2600" spc="-75" dirty="0" smtClean="0">
                <a:latin typeface="Arial MT"/>
                <a:cs typeface="Arial MT"/>
              </a:rPr>
              <a:t> </a:t>
            </a:r>
            <a:r>
              <a:rPr sz="2600" dirty="0" smtClean="0">
                <a:latin typeface="Arial MT"/>
                <a:cs typeface="Arial MT"/>
              </a:rPr>
              <a:t>listening</a:t>
            </a:r>
            <a:endParaRPr lang="en-US" sz="2600" dirty="0" smtClean="0">
              <a:latin typeface="Arial MT"/>
              <a:cs typeface="Arial MT"/>
            </a:endParaRPr>
          </a:p>
          <a:p>
            <a:pPr marL="283845" indent="-271780">
              <a:lnSpc>
                <a:spcPct val="200000"/>
              </a:lnSpc>
              <a:spcBef>
                <a:spcPts val="455"/>
              </a:spcBef>
              <a:buChar char="•"/>
              <a:tabLst>
                <a:tab pos="284480" algn="l"/>
              </a:tabLst>
            </a:pPr>
            <a:r>
              <a:rPr lang="en-US" sz="2600" dirty="0" smtClean="0">
                <a:latin typeface="Arial MT"/>
                <a:cs typeface="Arial MT"/>
              </a:rPr>
              <a:t>Comprehensive Listening</a:t>
            </a:r>
            <a:endParaRPr sz="2600" dirty="0">
              <a:latin typeface="Arial MT"/>
              <a:cs typeface="Arial MT"/>
            </a:endParaRPr>
          </a:p>
          <a:p>
            <a:pPr marL="283845" indent="-271780">
              <a:lnSpc>
                <a:spcPct val="200000"/>
              </a:lnSpc>
              <a:spcBef>
                <a:spcPts val="459"/>
              </a:spcBef>
              <a:buChar char="•"/>
              <a:tabLst>
                <a:tab pos="284480" algn="l"/>
              </a:tabLst>
            </a:pPr>
            <a:r>
              <a:rPr lang="en-US" sz="2600" dirty="0" smtClean="0">
                <a:latin typeface="Arial MT"/>
                <a:cs typeface="Arial MT"/>
              </a:rPr>
              <a:t>Critical Listening</a:t>
            </a:r>
            <a:endParaRPr sz="2600" dirty="0">
              <a:latin typeface="Arial MT"/>
              <a:cs typeface="Arial MT"/>
            </a:endParaRPr>
          </a:p>
        </p:txBody>
      </p:sp>
      <p:pic>
        <p:nvPicPr>
          <p:cNvPr id="1026" name="Picture 2" descr="Types of Liste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452349"/>
            <a:ext cx="4648200" cy="502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dirty="0"/>
              <a:t>14</a:t>
            </a:r>
          </a:p>
        </p:txBody>
      </p:sp>
      <p:sp>
        <p:nvSpPr>
          <p:cNvPr id="2" name="object 2"/>
          <p:cNvSpPr txBox="1">
            <a:spLocks noGrp="1"/>
          </p:cNvSpPr>
          <p:nvPr>
            <p:ph type="title"/>
          </p:nvPr>
        </p:nvSpPr>
        <p:spPr>
          <a:xfrm>
            <a:off x="152400" y="381000"/>
            <a:ext cx="7010400" cy="659604"/>
          </a:xfrm>
          <a:prstGeom prst="rect">
            <a:avLst/>
          </a:prstGeom>
        </p:spPr>
        <p:txBody>
          <a:bodyPr vert="horz" wrap="square" lIns="0" tIns="12065" rIns="0" bIns="0" rtlCol="0">
            <a:spAutoFit/>
          </a:bodyPr>
          <a:lstStyle/>
          <a:p>
            <a:pPr marL="311150" indent="-299085" algn="l">
              <a:lnSpc>
                <a:spcPct val="150000"/>
              </a:lnSpc>
              <a:spcBef>
                <a:spcPts val="755"/>
              </a:spcBef>
              <a:tabLst>
                <a:tab pos="311785" algn="l"/>
              </a:tabLst>
            </a:pPr>
            <a:r>
              <a:rPr lang="en-US" sz="3200" dirty="0">
                <a:latin typeface="Arial MT"/>
                <a:cs typeface="Arial MT"/>
              </a:rPr>
              <a:t>Appreciative Listening</a:t>
            </a:r>
            <a:endParaRPr lang="en-US" sz="3200" dirty="0">
              <a:latin typeface="Arial MT"/>
              <a:cs typeface="Arial MT"/>
            </a:endParaRPr>
          </a:p>
        </p:txBody>
      </p:sp>
      <p:sp>
        <p:nvSpPr>
          <p:cNvPr id="6" name="Rectangle 5"/>
          <p:cNvSpPr/>
          <p:nvPr/>
        </p:nvSpPr>
        <p:spPr>
          <a:xfrm>
            <a:off x="304800" y="1295400"/>
            <a:ext cx="8534400" cy="4524315"/>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Appreciative listening refers to the listening behavior where the listener seeks certain information to appreciate and meet their needs and goals. It is one kind of selective listening. Appreciative listeners are intended to listen to particular information that is important for them.</a:t>
            </a:r>
          </a:p>
          <a:p>
            <a:pPr algn="just">
              <a:lnSpc>
                <a:spcPct val="150000"/>
              </a:lnSpc>
            </a:pPr>
            <a:r>
              <a:rPr lang="en-US" sz="2400" b="1" dirty="0">
                <a:solidFill>
                  <a:srgbClr val="C00000"/>
                </a:solidFill>
                <a:latin typeface="Times New Roman" pitchFamily="18" charset="0"/>
                <a:ea typeface="+mj-ea"/>
                <a:cs typeface="Times New Roman" pitchFamily="18" charset="0"/>
              </a:rPr>
              <a:t>For example</a:t>
            </a:r>
            <a:r>
              <a:rPr lang="en-US" sz="2400" dirty="0">
                <a:latin typeface="Times New Roman" pitchFamily="18" charset="0"/>
                <a:cs typeface="Times New Roman" pitchFamily="18" charset="0"/>
              </a:rPr>
              <a:t>, I listen to a favorite song and poetry to seek the exciting words of the speech. Additionally, I am listening to a political speech to find out motivational words.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542" y="498728"/>
            <a:ext cx="4143375" cy="683329"/>
          </a:xfrm>
          <a:prstGeom prst="rect">
            <a:avLst/>
          </a:prstGeom>
        </p:spPr>
        <p:txBody>
          <a:bodyPr vert="horz" wrap="square" lIns="0" tIns="12700" rIns="0" bIns="0" rtlCol="0">
            <a:spAutoFit/>
          </a:bodyPr>
          <a:lstStyle/>
          <a:p>
            <a:pPr marL="311150" indent="-299085" algn="l">
              <a:lnSpc>
                <a:spcPct val="150000"/>
              </a:lnSpc>
              <a:spcBef>
                <a:spcPts val="755"/>
              </a:spcBef>
              <a:tabLst>
                <a:tab pos="311785" algn="l"/>
              </a:tabLst>
            </a:pPr>
            <a:r>
              <a:rPr sz="3200" dirty="0">
                <a:latin typeface="Arial MT"/>
                <a:cs typeface="Arial MT"/>
              </a:rPr>
              <a:t>Empathetic </a:t>
            </a:r>
            <a:r>
              <a:rPr sz="3200" dirty="0">
                <a:latin typeface="Arial MT"/>
                <a:cs typeface="Arial MT"/>
              </a:rPr>
              <a:t>listening</a:t>
            </a:r>
          </a:p>
        </p:txBody>
      </p:sp>
      <p:sp>
        <p:nvSpPr>
          <p:cNvPr id="3" name="object 3"/>
          <p:cNvSpPr txBox="1"/>
          <p:nvPr/>
        </p:nvSpPr>
        <p:spPr>
          <a:xfrm>
            <a:off x="370764" y="1385073"/>
            <a:ext cx="8382000" cy="4301819"/>
          </a:xfrm>
          <a:prstGeom prst="rect">
            <a:avLst/>
          </a:prstGeom>
        </p:spPr>
        <p:txBody>
          <a:bodyPr vert="horz" wrap="square" lIns="0" tIns="53975" rIns="0" bIns="0" rtlCol="0">
            <a:spAutoFit/>
          </a:bodyPr>
          <a:lstStyle/>
          <a:p>
            <a:pPr algn="just">
              <a:lnSpc>
                <a:spcPct val="150000"/>
              </a:lnSpc>
            </a:pPr>
            <a:r>
              <a:rPr lang="en-US" sz="2400" dirty="0">
                <a:latin typeface="Times New Roman" pitchFamily="18" charset="0"/>
                <a:cs typeface="Times New Roman" pitchFamily="18" charset="0"/>
              </a:rPr>
              <a:t>Empathic listening is understood as the feeling and emotions of the speaker; sometimes, the listener can feel what the speaker is feeling. </a:t>
            </a:r>
            <a:r>
              <a:rPr lang="en-US" sz="2400" dirty="0">
                <a:latin typeface="Times New Roman" pitchFamily="18" charset="0"/>
                <a:cs typeface="Times New Roman" pitchFamily="18" charset="0"/>
              </a:rPr>
              <a:t>Therefore, this listening needs good close attention, discriminative listening, comprehensive listening, and deep connection with the emotion of the </a:t>
            </a:r>
            <a:r>
              <a:rPr lang="en-US" sz="2400" dirty="0" smtClean="0">
                <a:latin typeface="Times New Roman" pitchFamily="18" charset="0"/>
                <a:cs typeface="Times New Roman" pitchFamily="18" charset="0"/>
              </a:rPr>
              <a:t>speakers.</a:t>
            </a:r>
          </a:p>
          <a:p>
            <a:pPr algn="just">
              <a:lnSpc>
                <a:spcPct val="150000"/>
              </a:lnSpc>
            </a:pPr>
            <a:endParaRPr lang="en-US" sz="1600" dirty="0">
              <a:latin typeface="Times New Roman" pitchFamily="18" charset="0"/>
              <a:cs typeface="Times New Roman" pitchFamily="18" charset="0"/>
            </a:endParaRPr>
          </a:p>
          <a:p>
            <a:pPr algn="just">
              <a:lnSpc>
                <a:spcPct val="150000"/>
              </a:lnSpc>
            </a:pPr>
            <a:r>
              <a:rPr lang="en-US" sz="2400" b="1" dirty="0">
                <a:solidFill>
                  <a:srgbClr val="C00000"/>
                </a:solidFill>
                <a:latin typeface="Times New Roman" pitchFamily="18" charset="0"/>
                <a:ea typeface="+mj-ea"/>
                <a:cs typeface="Times New Roman" pitchFamily="18" charset="0"/>
              </a:rPr>
              <a:t>For </a:t>
            </a:r>
            <a:r>
              <a:rPr lang="en-US" sz="2400" b="1" dirty="0">
                <a:solidFill>
                  <a:srgbClr val="C00000"/>
                </a:solidFill>
                <a:latin typeface="Times New Roman" pitchFamily="18" charset="0"/>
                <a:ea typeface="+mj-ea"/>
                <a:cs typeface="Times New Roman" pitchFamily="18" charset="0"/>
              </a:rPr>
              <a:t>example</a:t>
            </a:r>
            <a:r>
              <a:rPr lang="en-US" sz="2400" dirty="0">
                <a:latin typeface="Times New Roman" pitchFamily="18" charset="0"/>
                <a:cs typeface="Times New Roman" pitchFamily="18" charset="0"/>
              </a:rPr>
              <a:t>, the Audience is thinking about the same things that the speaker is thinking.</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dirty="0"/>
              <a:t>17</a:t>
            </a:r>
          </a:p>
        </p:txBody>
      </p:sp>
      <p:sp>
        <p:nvSpPr>
          <p:cNvPr id="2" name="object 2"/>
          <p:cNvSpPr txBox="1">
            <a:spLocks noGrp="1"/>
          </p:cNvSpPr>
          <p:nvPr>
            <p:ph type="title"/>
          </p:nvPr>
        </p:nvSpPr>
        <p:spPr>
          <a:xfrm>
            <a:off x="707542" y="666064"/>
            <a:ext cx="5015230" cy="750847"/>
          </a:xfrm>
          <a:prstGeom prst="rect">
            <a:avLst/>
          </a:prstGeom>
        </p:spPr>
        <p:txBody>
          <a:bodyPr vert="horz" wrap="square" lIns="0" tIns="12065" rIns="0" bIns="0" rtlCol="0">
            <a:spAutoFit/>
          </a:bodyPr>
          <a:lstStyle/>
          <a:p>
            <a:pPr marL="311150" indent="-299085" algn="l">
              <a:lnSpc>
                <a:spcPct val="150000"/>
              </a:lnSpc>
              <a:spcBef>
                <a:spcPts val="755"/>
              </a:spcBef>
              <a:tabLst>
                <a:tab pos="311785" algn="l"/>
              </a:tabLst>
            </a:pPr>
            <a:r>
              <a:rPr lang="en-US" sz="3200" dirty="0" smtClean="0">
                <a:latin typeface="Arial MT"/>
                <a:cs typeface="Arial MT"/>
              </a:rPr>
              <a:t>Comprehensive</a:t>
            </a:r>
            <a:r>
              <a:rPr sz="3200" dirty="0" smtClean="0">
                <a:latin typeface="Arial MT"/>
                <a:cs typeface="Arial MT"/>
              </a:rPr>
              <a:t> </a:t>
            </a:r>
            <a:r>
              <a:rPr sz="3200" dirty="0">
                <a:latin typeface="Arial MT"/>
                <a:cs typeface="Arial MT"/>
              </a:rPr>
              <a:t>Listening</a:t>
            </a:r>
          </a:p>
        </p:txBody>
      </p:sp>
      <p:sp>
        <p:nvSpPr>
          <p:cNvPr id="3" name="object 3"/>
          <p:cNvSpPr txBox="1"/>
          <p:nvPr/>
        </p:nvSpPr>
        <p:spPr>
          <a:xfrm>
            <a:off x="228600" y="1605737"/>
            <a:ext cx="8610600" cy="4377802"/>
          </a:xfrm>
          <a:prstGeom prst="rect">
            <a:avLst/>
          </a:prstGeom>
        </p:spPr>
        <p:txBody>
          <a:bodyPr vert="horz" wrap="square" lIns="0" tIns="12065" rIns="0" bIns="0" rtlCol="0">
            <a:spAutoFit/>
          </a:bodyPr>
          <a:lstStyle/>
          <a:p>
            <a:pPr marL="12065" algn="just">
              <a:lnSpc>
                <a:spcPct val="150000"/>
              </a:lnSpc>
              <a:spcBef>
                <a:spcPts val="95"/>
              </a:spcBef>
              <a:tabLst>
                <a:tab pos="584200" algn="l"/>
                <a:tab pos="584835" algn="l"/>
              </a:tabLst>
            </a:pPr>
            <a:r>
              <a:rPr lang="en-US" sz="2400" dirty="0">
                <a:latin typeface="Times New Roman" pitchFamily="18" charset="0"/>
                <a:cs typeface="Times New Roman" pitchFamily="18" charset="0"/>
              </a:rPr>
              <a:t>Comprehensive Listening means understanding the meaning of the message rather than interpreting only the sound of the message. It is an active process of seeking the meaning of the message. Actually, It is the initial process of meaning the verbal and nonverbal communication messages, thoughts, ideas, and opinions. Listeners use knowledge and vocabulary to understand the meaning of the speaker’s message. It is not only the meaning of the words but also something more than that.</a:t>
            </a:r>
            <a:endParaRPr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785" y="381000"/>
            <a:ext cx="8382000" cy="6370975"/>
          </a:xfrm>
          <a:prstGeom prst="rect">
            <a:avLst/>
          </a:prstGeom>
        </p:spPr>
        <p:txBody>
          <a:bodyPr wrap="square">
            <a:spAutoFit/>
          </a:bodyPr>
          <a:lstStyle/>
          <a:p>
            <a:pPr marL="311150" indent="-299085">
              <a:lnSpc>
                <a:spcPct val="150000"/>
              </a:lnSpc>
              <a:spcBef>
                <a:spcPts val="755"/>
              </a:spcBef>
              <a:tabLst>
                <a:tab pos="311785" algn="l"/>
              </a:tabLst>
            </a:pPr>
            <a:r>
              <a:rPr lang="en-US" sz="3200" b="1" dirty="0">
                <a:solidFill>
                  <a:srgbClr val="C00000"/>
                </a:solidFill>
                <a:latin typeface="Arial MT"/>
                <a:ea typeface="+mj-ea"/>
                <a:cs typeface="Arial MT"/>
              </a:rPr>
              <a:t>Critical listening</a:t>
            </a:r>
            <a:endParaRPr lang="en-US" sz="3200" b="1" dirty="0">
              <a:solidFill>
                <a:srgbClr val="C00000"/>
              </a:solidFill>
              <a:latin typeface="Arial MT"/>
              <a:ea typeface="+mj-ea"/>
              <a:cs typeface="Arial MT"/>
            </a:endParaRPr>
          </a:p>
          <a:p>
            <a:pPr algn="just">
              <a:lnSpc>
                <a:spcPct val="150000"/>
              </a:lnSpc>
            </a:pPr>
            <a:r>
              <a:rPr lang="en-US" sz="2400" dirty="0" smtClean="0">
                <a:latin typeface="Times New Roman" pitchFamily="18" charset="0"/>
                <a:cs typeface="Times New Roman" pitchFamily="18" charset="0"/>
              </a:rPr>
              <a:t>Critical </a:t>
            </a:r>
            <a:r>
              <a:rPr lang="en-US" sz="2400" dirty="0">
                <a:latin typeface="Times New Roman" pitchFamily="18" charset="0"/>
                <a:cs typeface="Times New Roman" pitchFamily="18" charset="0"/>
              </a:rPr>
              <a:t>listening is the fourth kind of listening where listeners have to evaluate the message. </a:t>
            </a:r>
            <a:r>
              <a:rPr lang="en-US" sz="2400" dirty="0">
                <a:latin typeface="Times New Roman" pitchFamily="18" charset="0"/>
                <a:cs typeface="Times New Roman" pitchFamily="18" charset="0"/>
              </a:rPr>
              <a:t>Listeners have to critically respond to the message and give their opinion. Critical listening is listening in order to evaluate and judge, forming opinion about what is being said. Judgment includes assessing strengths and weaknesses, agreement and approval.</a:t>
            </a:r>
          </a:p>
          <a:p>
            <a:pPr algn="just">
              <a:lnSpc>
                <a:spcPct val="150000"/>
              </a:lnSpc>
            </a:pPr>
            <a:r>
              <a:rPr lang="en-US" sz="2400" dirty="0">
                <a:latin typeface="Times New Roman" pitchFamily="18" charset="0"/>
                <a:cs typeface="Times New Roman" pitchFamily="18" charset="0"/>
              </a:rPr>
              <a:t>This form of listening requires significant real-time cognitive effort as the listener analyses what is being said, relating it to existing knowledge and rules, whilst simultaneously listening to the on-going words from the speaker.</a:t>
            </a:r>
          </a:p>
        </p:txBody>
      </p:sp>
    </p:spTree>
    <p:extLst>
      <p:ext uri="{BB962C8B-B14F-4D97-AF65-F5344CB8AC3E}">
        <p14:creationId xmlns:p14="http://schemas.microsoft.com/office/powerpoint/2010/main" val="1585198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32663"/>
            <a:ext cx="8458200" cy="1231106"/>
          </a:xfrm>
        </p:spPr>
        <p:txBody>
          <a:bodyPr/>
          <a:lstStyle/>
          <a:p>
            <a:r>
              <a:rPr lang="en-US" spc="-5" dirty="0"/>
              <a:t>5. Barriers</a:t>
            </a:r>
            <a:r>
              <a:rPr lang="en-US" spc="30" dirty="0"/>
              <a:t> </a:t>
            </a:r>
            <a:r>
              <a:rPr lang="en-US" spc="-5" dirty="0"/>
              <a:t>to</a:t>
            </a:r>
            <a:r>
              <a:rPr lang="en-US" spc="-10" dirty="0"/>
              <a:t> E</a:t>
            </a:r>
            <a:r>
              <a:rPr lang="en-US" spc="-5" dirty="0"/>
              <a:t>ffective</a:t>
            </a:r>
            <a:r>
              <a:rPr lang="en-US" spc="35" dirty="0"/>
              <a:t> </a:t>
            </a:r>
            <a:r>
              <a:rPr lang="en-US" spc="-5" dirty="0"/>
              <a:t>Listening</a:t>
            </a:r>
            <a:endParaRPr lang="en-US" dirty="0"/>
          </a:p>
        </p:txBody>
      </p:sp>
      <p:sp>
        <p:nvSpPr>
          <p:cNvPr id="3" name="Text Placeholder 2"/>
          <p:cNvSpPr>
            <a:spLocks noGrp="1"/>
          </p:cNvSpPr>
          <p:nvPr>
            <p:ph type="body" idx="1"/>
          </p:nvPr>
        </p:nvSpPr>
        <p:spPr>
          <a:xfrm>
            <a:off x="228600" y="1143000"/>
            <a:ext cx="8610600" cy="5216813"/>
          </a:xfrm>
        </p:spPr>
        <p:txBody>
          <a:bodyPr/>
          <a:lstStyle/>
          <a:p>
            <a:pPr>
              <a:lnSpc>
                <a:spcPct val="150000"/>
              </a:lnSpc>
            </a:pPr>
            <a:r>
              <a:rPr lang="en-US" sz="2800" b="1" spc="-5" dirty="0">
                <a:solidFill>
                  <a:srgbClr val="C00000"/>
                </a:solidFill>
                <a:latin typeface="Arial"/>
                <a:ea typeface="+mj-ea"/>
                <a:cs typeface="Arial"/>
              </a:rPr>
              <a:t>1. External </a:t>
            </a:r>
            <a:r>
              <a:rPr lang="en-US" sz="2800" b="1" spc="-5" dirty="0">
                <a:solidFill>
                  <a:srgbClr val="C00000"/>
                </a:solidFill>
                <a:latin typeface="Arial"/>
                <a:ea typeface="+mj-ea"/>
                <a:cs typeface="Arial"/>
              </a:rPr>
              <a:t>Listening Barriers</a:t>
            </a:r>
          </a:p>
          <a:p>
            <a:pPr algn="just">
              <a:lnSpc>
                <a:spcPct val="150000"/>
              </a:lnSpc>
            </a:pPr>
            <a:r>
              <a:rPr lang="en-US" sz="2200" dirty="0" smtClean="0"/>
              <a:t>	</a:t>
            </a:r>
            <a:r>
              <a:rPr lang="en-US" sz="2000" b="1" spc="-5" dirty="0">
                <a:solidFill>
                  <a:srgbClr val="C00000"/>
                </a:solidFill>
                <a:latin typeface="Arial"/>
                <a:ea typeface="+mj-ea"/>
                <a:cs typeface="Arial"/>
              </a:rPr>
              <a:t>External </a:t>
            </a:r>
            <a:r>
              <a:rPr lang="en-US" sz="2000" b="1" spc="-5" dirty="0">
                <a:solidFill>
                  <a:srgbClr val="C00000"/>
                </a:solidFill>
                <a:latin typeface="Arial"/>
                <a:ea typeface="+mj-ea"/>
                <a:cs typeface="Arial"/>
              </a:rPr>
              <a:t>listening barriers</a:t>
            </a:r>
            <a:r>
              <a:rPr lang="en-US" sz="2200" dirty="0"/>
              <a:t> are easier to manage </a:t>
            </a:r>
            <a:r>
              <a:rPr lang="en-US" sz="2200" dirty="0"/>
              <a:t>than</a:t>
            </a:r>
            <a:r>
              <a:rPr lang="en-US" sz="2000" b="1" spc="-5" dirty="0">
                <a:solidFill>
                  <a:srgbClr val="C00000"/>
                </a:solidFill>
                <a:latin typeface="Arial"/>
                <a:ea typeface="+mj-ea"/>
                <a:cs typeface="Arial"/>
              </a:rPr>
              <a:t> internal barriers</a:t>
            </a:r>
            <a:r>
              <a:rPr lang="en-US" sz="2200" dirty="0"/>
              <a:t>. They include a variety of environmental distractions that can usually be avoided or minimized with simple corrections, like removing yourself from the interfering barrier or removing the issue from the area that you are in. External barriers include</a:t>
            </a:r>
            <a:r>
              <a:rPr lang="en-US" sz="2200" dirty="0" smtClean="0"/>
              <a:t>:</a:t>
            </a:r>
          </a:p>
          <a:p>
            <a:pPr algn="just">
              <a:lnSpc>
                <a:spcPct val="150000"/>
              </a:lnSpc>
            </a:pPr>
            <a:endParaRPr lang="en-US" sz="1400" dirty="0"/>
          </a:p>
          <a:p>
            <a:pPr fontAlgn="base">
              <a:lnSpc>
                <a:spcPct val="150000"/>
              </a:lnSpc>
            </a:pPr>
            <a:r>
              <a:rPr lang="en-US" b="1" dirty="0"/>
              <a:t>Noise.</a:t>
            </a:r>
            <a:r>
              <a:rPr lang="en-US" dirty="0"/>
              <a:t> </a:t>
            </a:r>
            <a:r>
              <a:rPr lang="en-US" sz="2200" dirty="0"/>
              <a:t>Any external noise can be a barrier, like the sound </a:t>
            </a:r>
            <a:r>
              <a:rPr lang="en-US" sz="2200" dirty="0" smtClean="0"/>
              <a:t>of equipment </a:t>
            </a:r>
            <a:r>
              <a:rPr lang="en-US" sz="2200" dirty="0"/>
              <a:t>running, phones ringing, or other people having conversations</a:t>
            </a:r>
            <a:r>
              <a:rPr lang="en-US" sz="2200" dirty="0" smtClean="0"/>
              <a:t>.</a:t>
            </a:r>
            <a:endParaRPr lang="en-US" sz="2200" dirty="0"/>
          </a:p>
        </p:txBody>
      </p:sp>
    </p:spTree>
    <p:extLst>
      <p:ext uri="{BB962C8B-B14F-4D97-AF65-F5344CB8AC3E}">
        <p14:creationId xmlns:p14="http://schemas.microsoft.com/office/powerpoint/2010/main" val="1636612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7227" y="914400"/>
            <a:ext cx="4430973" cy="5170646"/>
          </a:xfrm>
        </p:spPr>
        <p:txBody>
          <a:bodyPr/>
          <a:lstStyle/>
          <a:p>
            <a:pPr algn="just" fontAlgn="base">
              <a:lnSpc>
                <a:spcPct val="150000"/>
              </a:lnSpc>
            </a:pPr>
            <a:r>
              <a:rPr lang="en-US" sz="2200" dirty="0"/>
              <a:t> </a:t>
            </a:r>
            <a:r>
              <a:rPr lang="en-US" b="1" dirty="0"/>
              <a:t>Visual distractions.</a:t>
            </a:r>
            <a:r>
              <a:rPr lang="en-US" sz="2200" dirty="0"/>
              <a:t> </a:t>
            </a:r>
            <a:endParaRPr lang="en-US" sz="2200" dirty="0" smtClean="0"/>
          </a:p>
          <a:p>
            <a:pPr algn="just" fontAlgn="base">
              <a:lnSpc>
                <a:spcPct val="150000"/>
              </a:lnSpc>
            </a:pPr>
            <a:r>
              <a:rPr lang="en-US" sz="2200" dirty="0" smtClean="0"/>
              <a:t>Visual </a:t>
            </a:r>
            <a:r>
              <a:rPr lang="en-US" sz="2200" dirty="0"/>
              <a:t>distractions can be as simple as the scene outside a window or the goings-on just beyond the glass walls of a nearby office.</a:t>
            </a:r>
          </a:p>
          <a:p>
            <a:pPr algn="just" fontAlgn="base">
              <a:lnSpc>
                <a:spcPct val="150000"/>
              </a:lnSpc>
            </a:pPr>
            <a:r>
              <a:rPr lang="en-US" b="1" dirty="0"/>
              <a:t>Physical setting.</a:t>
            </a:r>
            <a:r>
              <a:rPr lang="en-US" sz="2200" dirty="0"/>
              <a:t> </a:t>
            </a:r>
            <a:endParaRPr lang="en-US" sz="2200" dirty="0" smtClean="0"/>
          </a:p>
          <a:p>
            <a:pPr algn="just" fontAlgn="base">
              <a:lnSpc>
                <a:spcPct val="150000"/>
              </a:lnSpc>
            </a:pPr>
            <a:r>
              <a:rPr lang="en-US" sz="2200" dirty="0" smtClean="0"/>
              <a:t>An </a:t>
            </a:r>
            <a:r>
              <a:rPr lang="en-US" sz="2200" dirty="0"/>
              <a:t>uncomfortable temperature, poor or nonexistent seating, bad odors, or distance between the listener and speaker can be an issue</a:t>
            </a:r>
            <a:r>
              <a:rPr lang="en-US" sz="2200" dirty="0" smtClean="0"/>
              <a:t>.</a:t>
            </a:r>
            <a:endParaRPr lang="en-US" sz="2200" dirty="0"/>
          </a:p>
        </p:txBody>
      </p:sp>
      <p:sp>
        <p:nvSpPr>
          <p:cNvPr id="4" name="Rectangle 3"/>
          <p:cNvSpPr/>
          <p:nvPr/>
        </p:nvSpPr>
        <p:spPr>
          <a:xfrm>
            <a:off x="4876800" y="838200"/>
            <a:ext cx="4114800" cy="5262979"/>
          </a:xfrm>
          <a:prstGeom prst="rect">
            <a:avLst/>
          </a:prstGeom>
        </p:spPr>
        <p:txBody>
          <a:bodyPr wrap="square">
            <a:spAutoFit/>
          </a:bodyPr>
          <a:lstStyle/>
          <a:p>
            <a:pPr algn="just" fontAlgn="base">
              <a:lnSpc>
                <a:spcPct val="150000"/>
              </a:lnSpc>
            </a:pPr>
            <a:r>
              <a:rPr lang="en-US" sz="2400" b="1" dirty="0">
                <a:latin typeface="Arial MT"/>
                <a:cs typeface="Arial MT"/>
              </a:rPr>
              <a:t>Objects.</a:t>
            </a:r>
            <a:r>
              <a:rPr lang="en-US" dirty="0"/>
              <a:t> </a:t>
            </a:r>
            <a:endParaRPr lang="en-US" dirty="0" smtClean="0"/>
          </a:p>
          <a:p>
            <a:pPr algn="just" fontAlgn="base">
              <a:lnSpc>
                <a:spcPct val="150000"/>
              </a:lnSpc>
            </a:pPr>
            <a:r>
              <a:rPr lang="en-US" sz="2200" dirty="0">
                <a:latin typeface="Arial MT"/>
                <a:cs typeface="Arial MT"/>
              </a:rPr>
              <a:t>Items </a:t>
            </a:r>
            <a:r>
              <a:rPr lang="en-US" sz="2200" dirty="0">
                <a:latin typeface="Arial MT"/>
                <a:cs typeface="Arial MT"/>
              </a:rPr>
              <a:t>like pocket change, pens, and jewelry are often fidgeted with while listening.</a:t>
            </a:r>
          </a:p>
          <a:p>
            <a:pPr algn="just" fontAlgn="base">
              <a:lnSpc>
                <a:spcPct val="150000"/>
              </a:lnSpc>
            </a:pPr>
            <a:r>
              <a:rPr lang="en-US" sz="2400" b="1" dirty="0">
                <a:latin typeface="Arial MT"/>
                <a:cs typeface="Arial MT"/>
              </a:rPr>
              <a:t>The person speaking. </a:t>
            </a:r>
            <a:endParaRPr lang="en-US" sz="2400" b="1" dirty="0">
              <a:latin typeface="Arial MT"/>
              <a:cs typeface="Arial MT"/>
            </a:endParaRPr>
          </a:p>
          <a:p>
            <a:pPr algn="just" fontAlgn="base">
              <a:lnSpc>
                <a:spcPct val="150000"/>
              </a:lnSpc>
            </a:pPr>
            <a:r>
              <a:rPr lang="en-US" sz="2200" dirty="0">
                <a:latin typeface="Arial MT"/>
                <a:cs typeface="Arial MT"/>
              </a:rPr>
              <a:t>The </a:t>
            </a:r>
            <a:r>
              <a:rPr lang="en-US" sz="2200" dirty="0">
                <a:latin typeface="Arial MT"/>
                <a:cs typeface="Arial MT"/>
              </a:rPr>
              <a:t>person listening may become distracted by the other person’s personal appearance, mannerisms, voice, or gestures.</a:t>
            </a:r>
          </a:p>
        </p:txBody>
      </p:sp>
    </p:spTree>
    <p:extLst>
      <p:ext uri="{BB962C8B-B14F-4D97-AF65-F5344CB8AC3E}">
        <p14:creationId xmlns:p14="http://schemas.microsoft.com/office/powerpoint/2010/main" val="892128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066800"/>
            <a:ext cx="8610600" cy="4401205"/>
          </a:xfrm>
        </p:spPr>
        <p:txBody>
          <a:bodyPr/>
          <a:lstStyle/>
          <a:p>
            <a:r>
              <a:rPr lang="en-US" sz="2800" b="1" spc="-5" dirty="0">
                <a:solidFill>
                  <a:srgbClr val="C00000"/>
                </a:solidFill>
                <a:latin typeface="Arial"/>
                <a:ea typeface="+mj-ea"/>
                <a:cs typeface="Arial"/>
              </a:rPr>
              <a:t>2</a:t>
            </a:r>
            <a:r>
              <a:rPr lang="en-US" b="1" spc="-5" dirty="0" smtClean="0">
                <a:solidFill>
                  <a:srgbClr val="C00000"/>
                </a:solidFill>
                <a:latin typeface="Arial"/>
                <a:cs typeface="Arial"/>
              </a:rPr>
              <a:t>. </a:t>
            </a:r>
            <a:r>
              <a:rPr lang="en-US" sz="2800" b="1" spc="-5" dirty="0">
                <a:solidFill>
                  <a:srgbClr val="C00000"/>
                </a:solidFill>
                <a:latin typeface="Arial"/>
                <a:ea typeface="+mj-ea"/>
                <a:cs typeface="Arial"/>
              </a:rPr>
              <a:t>Internal </a:t>
            </a:r>
            <a:r>
              <a:rPr lang="en-US" sz="2800" b="1" spc="-5" dirty="0">
                <a:solidFill>
                  <a:srgbClr val="C00000"/>
                </a:solidFill>
                <a:latin typeface="Arial"/>
                <a:ea typeface="+mj-ea"/>
                <a:cs typeface="Arial"/>
              </a:rPr>
              <a:t>Listening </a:t>
            </a:r>
            <a:r>
              <a:rPr lang="en-US" sz="2800" b="1" spc="-5" dirty="0">
                <a:solidFill>
                  <a:srgbClr val="C00000"/>
                </a:solidFill>
                <a:latin typeface="Arial"/>
                <a:ea typeface="+mj-ea"/>
                <a:cs typeface="Arial"/>
              </a:rPr>
              <a:t>Barriers</a:t>
            </a:r>
          </a:p>
          <a:p>
            <a:pPr algn="just">
              <a:lnSpc>
                <a:spcPct val="150000"/>
              </a:lnSpc>
            </a:pPr>
            <a:r>
              <a:rPr lang="en-US" sz="2200" dirty="0" smtClean="0"/>
              <a:t>Internal listening barriers are more difficult to manage, as they reside inside the mind of the listener. Internal barriers’ elimination relies on a high level of self-awareness and discipline on the part of the listener, like catching oneself before the mind starts to wander and bringing full attention back to the speaker. Internal barriers include:</a:t>
            </a:r>
          </a:p>
          <a:p>
            <a:pPr algn="just">
              <a:lnSpc>
                <a:spcPct val="150000"/>
              </a:lnSpc>
            </a:pPr>
            <a:endParaRPr lang="en-US" sz="1400" dirty="0" smtClean="0"/>
          </a:p>
          <a:p>
            <a:pPr fontAlgn="base"/>
            <a:r>
              <a:rPr lang="en-US" b="1" dirty="0" smtClean="0"/>
              <a:t>Anxiety</a:t>
            </a:r>
            <a:r>
              <a:rPr lang="en-US" b="1" dirty="0"/>
              <a:t>.</a:t>
            </a:r>
            <a:r>
              <a:rPr lang="en-US" dirty="0"/>
              <a:t> </a:t>
            </a:r>
            <a:r>
              <a:rPr lang="en-US" sz="2200" dirty="0"/>
              <a:t>Anxiety can take place from competing personal worries and concerns</a:t>
            </a:r>
            <a:r>
              <a:rPr lang="en-US" dirty="0"/>
              <a:t>.</a:t>
            </a:r>
          </a:p>
          <a:p>
            <a:endParaRPr lang="en-US" dirty="0"/>
          </a:p>
        </p:txBody>
      </p:sp>
    </p:spTree>
    <p:extLst>
      <p:ext uri="{BB962C8B-B14F-4D97-AF65-F5344CB8AC3E}">
        <p14:creationId xmlns:p14="http://schemas.microsoft.com/office/powerpoint/2010/main" val="2992288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762000"/>
            <a:ext cx="4114800" cy="5408562"/>
          </a:xfrm>
        </p:spPr>
        <p:txBody>
          <a:bodyPr/>
          <a:lstStyle/>
          <a:p>
            <a:pPr algn="just" fontAlgn="base"/>
            <a:r>
              <a:rPr lang="en-US" b="1" dirty="0"/>
              <a:t>Self-centeredness</a:t>
            </a:r>
            <a:r>
              <a:rPr lang="en-US" b="1" dirty="0" smtClean="0"/>
              <a:t>.</a:t>
            </a:r>
          </a:p>
          <a:p>
            <a:pPr algn="just" fontAlgn="base"/>
            <a:r>
              <a:rPr lang="en-US" dirty="0" smtClean="0"/>
              <a:t>This </a:t>
            </a:r>
            <a:r>
              <a:rPr lang="en-US" dirty="0"/>
              <a:t>causes the listener to focus on his or her own thoughts rather than the speaker’s words.</a:t>
            </a:r>
          </a:p>
          <a:p>
            <a:pPr algn="just" fontAlgn="base"/>
            <a:r>
              <a:rPr lang="en-US" b="1" dirty="0"/>
              <a:t>Mental laziness.</a:t>
            </a:r>
            <a:r>
              <a:rPr lang="en-US" dirty="0"/>
              <a:t> </a:t>
            </a:r>
            <a:endParaRPr lang="en-US" dirty="0" smtClean="0"/>
          </a:p>
          <a:p>
            <a:pPr algn="just" fontAlgn="base"/>
            <a:r>
              <a:rPr lang="en-US" dirty="0" smtClean="0"/>
              <a:t>Laziness </a:t>
            </a:r>
            <a:r>
              <a:rPr lang="en-US" dirty="0"/>
              <a:t>creates an unwillingness to listen to complex or detailed information.</a:t>
            </a:r>
          </a:p>
          <a:p>
            <a:pPr algn="just" fontAlgn="base"/>
            <a:r>
              <a:rPr lang="en-US" b="1" dirty="0"/>
              <a:t>Boredom.</a:t>
            </a:r>
            <a:r>
              <a:rPr lang="en-US" dirty="0"/>
              <a:t> </a:t>
            </a:r>
            <a:endParaRPr lang="en-US" dirty="0" smtClean="0"/>
          </a:p>
          <a:p>
            <a:pPr algn="just" fontAlgn="base"/>
            <a:r>
              <a:rPr lang="en-US" dirty="0" smtClean="0"/>
              <a:t>Boredom </a:t>
            </a:r>
            <a:r>
              <a:rPr lang="en-US" dirty="0"/>
              <a:t>stems from a lack of interest in the speaker’s subject matter</a:t>
            </a:r>
            <a:r>
              <a:rPr lang="en-US" dirty="0" smtClean="0"/>
              <a:t>.</a:t>
            </a:r>
            <a:endParaRPr lang="en-US" dirty="0"/>
          </a:p>
        </p:txBody>
      </p:sp>
      <p:sp>
        <p:nvSpPr>
          <p:cNvPr id="4" name="Rectangle 3"/>
          <p:cNvSpPr/>
          <p:nvPr/>
        </p:nvSpPr>
        <p:spPr>
          <a:xfrm>
            <a:off x="4495800" y="685800"/>
            <a:ext cx="4495800" cy="5262979"/>
          </a:xfrm>
          <a:prstGeom prst="rect">
            <a:avLst/>
          </a:prstGeom>
        </p:spPr>
        <p:txBody>
          <a:bodyPr wrap="square">
            <a:spAutoFit/>
          </a:bodyPr>
          <a:lstStyle/>
          <a:p>
            <a:pPr algn="just" fontAlgn="base"/>
            <a:r>
              <a:rPr lang="en-US" sz="2400" b="1" dirty="0">
                <a:latin typeface="Arial MT"/>
                <a:cs typeface="Arial MT"/>
              </a:rPr>
              <a:t>Sense of superiority. </a:t>
            </a:r>
          </a:p>
          <a:p>
            <a:pPr algn="just" fontAlgn="base"/>
            <a:r>
              <a:rPr lang="en-US" sz="2400" dirty="0" smtClean="0">
                <a:latin typeface="Arial MT"/>
                <a:cs typeface="Arial MT"/>
              </a:rPr>
              <a:t>This </a:t>
            </a:r>
            <a:r>
              <a:rPr lang="en-US" sz="2400" dirty="0">
                <a:latin typeface="Arial MT"/>
                <a:cs typeface="Arial MT"/>
              </a:rPr>
              <a:t>leads the listener to believe they have nothing to learn from the speaker.</a:t>
            </a:r>
          </a:p>
          <a:p>
            <a:pPr fontAlgn="base"/>
            <a:r>
              <a:rPr lang="en-US" sz="2400" b="1" dirty="0">
                <a:latin typeface="Arial MT"/>
                <a:cs typeface="Arial MT"/>
              </a:rPr>
              <a:t>Cognitive dissonance. </a:t>
            </a:r>
            <a:endParaRPr lang="en-US" sz="2400" b="1" dirty="0" smtClean="0">
              <a:latin typeface="Arial MT"/>
              <a:cs typeface="Arial MT"/>
            </a:endParaRPr>
          </a:p>
          <a:p>
            <a:pPr algn="just" fontAlgn="base"/>
            <a:r>
              <a:rPr lang="en-US" sz="2400" dirty="0" smtClean="0">
                <a:latin typeface="Arial MT"/>
                <a:cs typeface="Arial MT"/>
              </a:rPr>
              <a:t>The </a:t>
            </a:r>
            <a:r>
              <a:rPr lang="en-US" sz="2400" dirty="0">
                <a:latin typeface="Arial MT"/>
                <a:cs typeface="Arial MT"/>
              </a:rPr>
              <a:t>listener hears only what he or she expects or molds the speaker’s message to conform with their own beliefs.</a:t>
            </a:r>
          </a:p>
          <a:p>
            <a:pPr fontAlgn="base"/>
            <a:r>
              <a:rPr lang="en-US" sz="2400" b="1" dirty="0">
                <a:latin typeface="Arial MT"/>
                <a:cs typeface="Arial MT"/>
              </a:rPr>
              <a:t>Impatience.</a:t>
            </a:r>
            <a:r>
              <a:rPr lang="en-US" dirty="0"/>
              <a:t> </a:t>
            </a:r>
            <a:endParaRPr lang="en-US" dirty="0" smtClean="0"/>
          </a:p>
          <a:p>
            <a:pPr algn="just" fontAlgn="base"/>
            <a:r>
              <a:rPr lang="en-US" sz="2400" dirty="0" smtClean="0">
                <a:latin typeface="Arial MT"/>
                <a:cs typeface="Arial MT"/>
              </a:rPr>
              <a:t>A </a:t>
            </a:r>
            <a:r>
              <a:rPr lang="en-US" sz="2400" dirty="0">
                <a:latin typeface="Arial MT"/>
                <a:cs typeface="Arial MT"/>
              </a:rPr>
              <a:t>listener can become impatient with a speaker who talks slowly or draws out the message.</a:t>
            </a:r>
          </a:p>
        </p:txBody>
      </p:sp>
    </p:spTree>
    <p:extLst>
      <p:ext uri="{BB962C8B-B14F-4D97-AF65-F5344CB8AC3E}">
        <p14:creationId xmlns:p14="http://schemas.microsoft.com/office/powerpoint/2010/main" val="4106834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dirty="0"/>
              <a:t>19</a:t>
            </a:r>
          </a:p>
        </p:txBody>
      </p:sp>
      <p:sp>
        <p:nvSpPr>
          <p:cNvPr id="2" name="object 2"/>
          <p:cNvSpPr txBox="1">
            <a:spLocks noGrp="1"/>
          </p:cNvSpPr>
          <p:nvPr>
            <p:ph type="title"/>
          </p:nvPr>
        </p:nvSpPr>
        <p:spPr>
          <a:xfrm>
            <a:off x="228600" y="474979"/>
            <a:ext cx="8763000" cy="1120178"/>
          </a:xfrm>
          <a:prstGeom prst="rect">
            <a:avLst/>
          </a:prstGeom>
        </p:spPr>
        <p:txBody>
          <a:bodyPr vert="horz" wrap="square" lIns="0" tIns="12065" rIns="0" bIns="0" rtlCol="0">
            <a:spAutoFit/>
          </a:bodyPr>
          <a:lstStyle/>
          <a:p>
            <a:pPr marL="12700" algn="ctr">
              <a:lnSpc>
                <a:spcPct val="100000"/>
              </a:lnSpc>
              <a:spcBef>
                <a:spcPts val="95"/>
              </a:spcBef>
            </a:pPr>
            <a:r>
              <a:rPr lang="en-US" sz="3600" spc="-5" dirty="0" smtClean="0"/>
              <a:t>Some Common </a:t>
            </a:r>
            <a:r>
              <a:rPr sz="3600" spc="-5" dirty="0" smtClean="0"/>
              <a:t>Barriers</a:t>
            </a:r>
            <a:r>
              <a:rPr sz="3600" spc="30" dirty="0" smtClean="0"/>
              <a:t> </a:t>
            </a:r>
            <a:r>
              <a:rPr sz="3600" spc="-5" dirty="0"/>
              <a:t>to</a:t>
            </a:r>
            <a:r>
              <a:rPr sz="3600" spc="-10" dirty="0"/>
              <a:t> </a:t>
            </a:r>
            <a:r>
              <a:rPr lang="en-US" sz="3600" spc="-10" dirty="0" smtClean="0"/>
              <a:t>E</a:t>
            </a:r>
            <a:r>
              <a:rPr sz="3600" spc="-5" dirty="0" smtClean="0"/>
              <a:t>ffective</a:t>
            </a:r>
            <a:r>
              <a:rPr sz="3600" spc="35" dirty="0" smtClean="0"/>
              <a:t> </a:t>
            </a:r>
            <a:r>
              <a:rPr lang="en-US" sz="3600" spc="-5" dirty="0"/>
              <a:t>L</a:t>
            </a:r>
            <a:r>
              <a:rPr sz="3600" spc="-5" dirty="0" smtClean="0"/>
              <a:t>istening</a:t>
            </a:r>
            <a:endParaRPr sz="3600" spc="-5" dirty="0"/>
          </a:p>
        </p:txBody>
      </p:sp>
      <p:sp>
        <p:nvSpPr>
          <p:cNvPr id="3" name="object 3"/>
          <p:cNvSpPr txBox="1"/>
          <p:nvPr/>
        </p:nvSpPr>
        <p:spPr>
          <a:xfrm>
            <a:off x="228600" y="1676400"/>
            <a:ext cx="8686800" cy="4831579"/>
          </a:xfrm>
          <a:prstGeom prst="rect">
            <a:avLst/>
          </a:prstGeom>
        </p:spPr>
        <p:txBody>
          <a:bodyPr vert="horz" wrap="square" lIns="0" tIns="83820" rIns="0" bIns="0" rtlCol="0">
            <a:spAutoFit/>
          </a:bodyPr>
          <a:lstStyle/>
          <a:p>
            <a:pPr marL="12700" marR="360045">
              <a:lnSpc>
                <a:spcPts val="2300"/>
              </a:lnSpc>
              <a:spcBef>
                <a:spcPts val="660"/>
              </a:spcBef>
            </a:pPr>
            <a:r>
              <a:rPr sz="2400" spc="-5" dirty="0" smtClean="0">
                <a:latin typeface="Calibri"/>
                <a:cs typeface="Calibri"/>
              </a:rPr>
              <a:t>Some </a:t>
            </a:r>
            <a:r>
              <a:rPr sz="2400" spc="-10" dirty="0">
                <a:latin typeface="Calibri"/>
                <a:cs typeface="Calibri"/>
              </a:rPr>
              <a:t>common barriers </a:t>
            </a:r>
            <a:r>
              <a:rPr sz="2400" dirty="0">
                <a:latin typeface="Calibri"/>
                <a:cs typeface="Calibri"/>
              </a:rPr>
              <a:t>in the </a:t>
            </a:r>
            <a:r>
              <a:rPr sz="2400" spc="-10" dirty="0">
                <a:latin typeface="Calibri"/>
                <a:cs typeface="Calibri"/>
              </a:rPr>
              <a:t>process </a:t>
            </a:r>
            <a:r>
              <a:rPr sz="2400" spc="-5" dirty="0">
                <a:latin typeface="Calibri"/>
                <a:cs typeface="Calibri"/>
              </a:rPr>
              <a:t>of </a:t>
            </a:r>
            <a:r>
              <a:rPr sz="2400" spc="-10" dirty="0">
                <a:latin typeface="Calibri"/>
                <a:cs typeface="Calibri"/>
              </a:rPr>
              <a:t>listening </a:t>
            </a:r>
            <a:r>
              <a:rPr sz="2400" spc="-15" dirty="0">
                <a:latin typeface="Calibri"/>
                <a:cs typeface="Calibri"/>
              </a:rPr>
              <a:t>are </a:t>
            </a:r>
            <a:r>
              <a:rPr sz="2400" spc="-10" dirty="0">
                <a:latin typeface="Calibri"/>
                <a:cs typeface="Calibri"/>
              </a:rPr>
              <a:t>listed </a:t>
            </a:r>
            <a:r>
              <a:rPr sz="2400" spc="-530" dirty="0">
                <a:latin typeface="Calibri"/>
                <a:cs typeface="Calibri"/>
              </a:rPr>
              <a:t> </a:t>
            </a:r>
            <a:r>
              <a:rPr sz="2400" spc="-35" dirty="0">
                <a:latin typeface="Calibri"/>
                <a:cs typeface="Calibri"/>
              </a:rPr>
              <a:t>below</a:t>
            </a:r>
            <a:r>
              <a:rPr sz="2400" spc="-35" dirty="0" smtClean="0">
                <a:latin typeface="Calibri"/>
                <a:cs typeface="Calibri"/>
              </a:rPr>
              <a:t>.</a:t>
            </a:r>
            <a:endParaRPr lang="en-US" sz="2400" spc="-35" dirty="0" smtClean="0">
              <a:latin typeface="Calibri"/>
              <a:cs typeface="Calibri"/>
            </a:endParaRPr>
          </a:p>
          <a:p>
            <a:pPr marL="12700" marR="360045">
              <a:lnSpc>
                <a:spcPts val="2300"/>
              </a:lnSpc>
              <a:spcBef>
                <a:spcPts val="660"/>
              </a:spcBef>
            </a:pPr>
            <a:endParaRPr sz="2400" dirty="0">
              <a:latin typeface="Calibri"/>
              <a:cs typeface="Calibri"/>
            </a:endParaRPr>
          </a:p>
          <a:p>
            <a:pPr marL="243840" indent="-231775" algn="just">
              <a:lnSpc>
                <a:spcPct val="100000"/>
              </a:lnSpc>
              <a:spcBef>
                <a:spcPts val="254"/>
              </a:spcBef>
              <a:buSzPct val="95833"/>
              <a:buAutoNum type="arabicPeriod"/>
              <a:tabLst>
                <a:tab pos="244475" algn="l"/>
              </a:tabLst>
            </a:pPr>
            <a:r>
              <a:rPr sz="2400" spc="-10" dirty="0">
                <a:latin typeface="Calibri"/>
                <a:cs typeface="Calibri"/>
              </a:rPr>
              <a:t>Pre-judgments </a:t>
            </a:r>
            <a:r>
              <a:rPr sz="2400" spc="-5" dirty="0">
                <a:latin typeface="Calibri"/>
                <a:cs typeface="Calibri"/>
              </a:rPr>
              <a:t>about</a:t>
            </a:r>
            <a:r>
              <a:rPr sz="2400" spc="-10" dirty="0">
                <a:latin typeface="Calibri"/>
                <a:cs typeface="Calibri"/>
              </a:rPr>
              <a:t> </a:t>
            </a:r>
            <a:r>
              <a:rPr sz="2400" dirty="0">
                <a:latin typeface="Calibri"/>
                <a:cs typeface="Calibri"/>
              </a:rPr>
              <a:t>the</a:t>
            </a:r>
            <a:r>
              <a:rPr sz="2400" spc="-5" dirty="0">
                <a:latin typeface="Calibri"/>
                <a:cs typeface="Calibri"/>
              </a:rPr>
              <a:t> </a:t>
            </a:r>
            <a:r>
              <a:rPr sz="2400" spc="-15" dirty="0">
                <a:latin typeface="Calibri"/>
                <a:cs typeface="Calibri"/>
              </a:rPr>
              <a:t>speaker</a:t>
            </a:r>
            <a:r>
              <a:rPr sz="2400" spc="-20" dirty="0">
                <a:latin typeface="Calibri"/>
                <a:cs typeface="Calibri"/>
              </a:rPr>
              <a:t> </a:t>
            </a:r>
            <a:r>
              <a:rPr sz="2400" dirty="0">
                <a:latin typeface="Calibri"/>
                <a:cs typeface="Calibri"/>
              </a:rPr>
              <a:t>.</a:t>
            </a:r>
          </a:p>
          <a:p>
            <a:pPr marL="12700" marR="1518920" algn="just">
              <a:lnSpc>
                <a:spcPct val="80000"/>
              </a:lnSpc>
              <a:spcBef>
                <a:spcPts val="790"/>
              </a:spcBef>
              <a:buSzPct val="95833"/>
              <a:buAutoNum type="arabicPeriod"/>
              <a:tabLst>
                <a:tab pos="244475" algn="l"/>
              </a:tabLst>
            </a:pPr>
            <a:r>
              <a:rPr sz="2400" dirty="0">
                <a:latin typeface="Calibri"/>
                <a:cs typeface="Calibri"/>
              </a:rPr>
              <a:t>Assuming </a:t>
            </a:r>
            <a:r>
              <a:rPr sz="2400" spc="-10" dirty="0">
                <a:latin typeface="Calibri"/>
                <a:cs typeface="Calibri"/>
              </a:rPr>
              <a:t>that </a:t>
            </a:r>
            <a:r>
              <a:rPr sz="2400" dirty="0">
                <a:latin typeface="Calibri"/>
                <a:cs typeface="Calibri"/>
              </a:rPr>
              <a:t>the </a:t>
            </a:r>
            <a:r>
              <a:rPr sz="2400" spc="-15" dirty="0">
                <a:latin typeface="Calibri"/>
                <a:cs typeface="Calibri"/>
              </a:rPr>
              <a:t>speaker </a:t>
            </a:r>
            <a:r>
              <a:rPr sz="2400" dirty="0">
                <a:latin typeface="Calibri"/>
                <a:cs typeface="Calibri"/>
              </a:rPr>
              <a:t>is </a:t>
            </a:r>
            <a:r>
              <a:rPr sz="2400" spc="-10" dirty="0">
                <a:latin typeface="Calibri"/>
                <a:cs typeface="Calibri"/>
              </a:rPr>
              <a:t>going </a:t>
            </a:r>
            <a:r>
              <a:rPr sz="2400" spc="-15" dirty="0">
                <a:latin typeface="Calibri"/>
                <a:cs typeface="Calibri"/>
              </a:rPr>
              <a:t>to </a:t>
            </a:r>
            <a:r>
              <a:rPr sz="2400" spc="-10" dirty="0">
                <a:latin typeface="Calibri"/>
                <a:cs typeface="Calibri"/>
              </a:rPr>
              <a:t>give </a:t>
            </a:r>
            <a:r>
              <a:rPr sz="2400" spc="-5" dirty="0">
                <a:latin typeface="Calibri"/>
                <a:cs typeface="Calibri"/>
              </a:rPr>
              <a:t>some </a:t>
            </a:r>
            <a:r>
              <a:rPr sz="2400" spc="-530" dirty="0">
                <a:latin typeface="Calibri"/>
                <a:cs typeface="Calibri"/>
              </a:rPr>
              <a:t> </a:t>
            </a:r>
            <a:r>
              <a:rPr sz="2400" spc="-10" dirty="0">
                <a:latin typeface="Calibri"/>
                <a:cs typeface="Calibri"/>
              </a:rPr>
              <a:t>unimportant</a:t>
            </a:r>
            <a:r>
              <a:rPr sz="2400" spc="-20" dirty="0">
                <a:latin typeface="Calibri"/>
                <a:cs typeface="Calibri"/>
              </a:rPr>
              <a:t> </a:t>
            </a:r>
            <a:r>
              <a:rPr sz="2400" spc="-10" dirty="0">
                <a:latin typeface="Calibri"/>
                <a:cs typeface="Calibri"/>
              </a:rPr>
              <a:t>information</a:t>
            </a:r>
            <a:r>
              <a:rPr sz="2400" spc="-20" dirty="0">
                <a:latin typeface="Calibri"/>
                <a:cs typeface="Calibri"/>
              </a:rPr>
              <a:t> </a:t>
            </a:r>
            <a:r>
              <a:rPr sz="2400" dirty="0">
                <a:latin typeface="Calibri"/>
                <a:cs typeface="Calibri"/>
              </a:rPr>
              <a:t>.</a:t>
            </a:r>
          </a:p>
          <a:p>
            <a:pPr marL="243840" indent="-231775" algn="just">
              <a:lnSpc>
                <a:spcPct val="100000"/>
              </a:lnSpc>
              <a:spcBef>
                <a:spcPts val="229"/>
              </a:spcBef>
              <a:buSzPct val="95833"/>
              <a:buAutoNum type="arabicPeriod"/>
              <a:tabLst>
                <a:tab pos="244475" algn="l"/>
              </a:tabLst>
            </a:pPr>
            <a:r>
              <a:rPr sz="2400" dirty="0">
                <a:latin typeface="Calibri"/>
                <a:cs typeface="Calibri"/>
              </a:rPr>
              <a:t>Arriving</a:t>
            </a:r>
            <a:r>
              <a:rPr sz="2400" spc="-30" dirty="0">
                <a:latin typeface="Calibri"/>
                <a:cs typeface="Calibri"/>
              </a:rPr>
              <a:t> </a:t>
            </a:r>
            <a:r>
              <a:rPr sz="2400" spc="-15" dirty="0">
                <a:latin typeface="Calibri"/>
                <a:cs typeface="Calibri"/>
              </a:rPr>
              <a:t>late </a:t>
            </a:r>
            <a:r>
              <a:rPr sz="2400" spc="-20" dirty="0">
                <a:latin typeface="Calibri"/>
                <a:cs typeface="Calibri"/>
              </a:rPr>
              <a:t>for</a:t>
            </a:r>
            <a:r>
              <a:rPr sz="2400" spc="-15" dirty="0">
                <a:latin typeface="Calibri"/>
                <a:cs typeface="Calibri"/>
              </a:rPr>
              <a:t> </a:t>
            </a:r>
            <a:r>
              <a:rPr sz="2400" dirty="0">
                <a:latin typeface="Calibri"/>
                <a:cs typeface="Calibri"/>
              </a:rPr>
              <a:t>a </a:t>
            </a:r>
            <a:r>
              <a:rPr sz="2400" spc="-5" dirty="0">
                <a:latin typeface="Calibri"/>
                <a:cs typeface="Calibri"/>
              </a:rPr>
              <a:t>speech,</a:t>
            </a:r>
            <a:r>
              <a:rPr sz="2400" spc="-10" dirty="0">
                <a:latin typeface="Calibri"/>
                <a:cs typeface="Calibri"/>
              </a:rPr>
              <a:t> presentation</a:t>
            </a:r>
            <a:r>
              <a:rPr sz="2400" spc="-25" dirty="0">
                <a:latin typeface="Calibri"/>
                <a:cs typeface="Calibri"/>
              </a:rPr>
              <a:t> </a:t>
            </a:r>
            <a:r>
              <a:rPr sz="2400" spc="-5" dirty="0">
                <a:latin typeface="Calibri"/>
                <a:cs typeface="Calibri"/>
              </a:rPr>
              <a:t>or</a:t>
            </a:r>
            <a:r>
              <a:rPr sz="2400" spc="-15" dirty="0">
                <a:latin typeface="Calibri"/>
                <a:cs typeface="Calibri"/>
              </a:rPr>
              <a:t> </a:t>
            </a:r>
            <a:r>
              <a:rPr sz="2400" spc="-5" dirty="0">
                <a:latin typeface="Calibri"/>
                <a:cs typeface="Calibri"/>
              </a:rPr>
              <a:t>lecture</a:t>
            </a:r>
            <a:r>
              <a:rPr sz="2400" spc="-10" dirty="0">
                <a:latin typeface="Calibri"/>
                <a:cs typeface="Calibri"/>
              </a:rPr>
              <a:t> </a:t>
            </a:r>
            <a:r>
              <a:rPr sz="2400" dirty="0">
                <a:latin typeface="Calibri"/>
                <a:cs typeface="Calibri"/>
              </a:rPr>
              <a:t>.</a:t>
            </a:r>
          </a:p>
          <a:p>
            <a:pPr marL="12700" marR="1221105" algn="just">
              <a:lnSpc>
                <a:spcPts val="2300"/>
              </a:lnSpc>
              <a:spcBef>
                <a:spcPts val="790"/>
              </a:spcBef>
              <a:buSzPct val="95833"/>
              <a:buAutoNum type="arabicPeriod"/>
              <a:tabLst>
                <a:tab pos="244475" algn="l"/>
              </a:tabLst>
            </a:pPr>
            <a:r>
              <a:rPr sz="2400" dirty="0">
                <a:latin typeface="Calibri"/>
                <a:cs typeface="Calibri"/>
              </a:rPr>
              <a:t>Judging the </a:t>
            </a:r>
            <a:r>
              <a:rPr sz="2400" spc="-15" dirty="0">
                <a:latin typeface="Calibri"/>
                <a:cs typeface="Calibri"/>
              </a:rPr>
              <a:t>speaker </a:t>
            </a:r>
            <a:r>
              <a:rPr sz="2400" spc="-10" dirty="0">
                <a:latin typeface="Calibri"/>
                <a:cs typeface="Calibri"/>
              </a:rPr>
              <a:t>by </a:t>
            </a:r>
            <a:r>
              <a:rPr sz="2400" spc="-5" dirty="0">
                <a:latin typeface="Calibri"/>
                <a:cs typeface="Calibri"/>
              </a:rPr>
              <a:t>his/her mannerisms, </a:t>
            </a:r>
            <a:r>
              <a:rPr sz="2400" spc="-10" dirty="0">
                <a:latin typeface="Calibri"/>
                <a:cs typeface="Calibri"/>
              </a:rPr>
              <a:t>voice, </a:t>
            </a:r>
            <a:r>
              <a:rPr sz="2400" spc="-530" dirty="0">
                <a:latin typeface="Calibri"/>
                <a:cs typeface="Calibri"/>
              </a:rPr>
              <a:t> </a:t>
            </a:r>
            <a:r>
              <a:rPr sz="2400" spc="-5" dirty="0">
                <a:latin typeface="Calibri"/>
                <a:cs typeface="Calibri"/>
              </a:rPr>
              <a:t>appearance,</a:t>
            </a:r>
            <a:r>
              <a:rPr sz="2400" spc="-15" dirty="0">
                <a:latin typeface="Calibri"/>
                <a:cs typeface="Calibri"/>
              </a:rPr>
              <a:t> </a:t>
            </a:r>
            <a:r>
              <a:rPr sz="2400" spc="-5" dirty="0">
                <a:latin typeface="Calibri"/>
                <a:cs typeface="Calibri"/>
              </a:rPr>
              <a:t>accent,</a:t>
            </a:r>
            <a:r>
              <a:rPr sz="2400" spc="-30" dirty="0">
                <a:latin typeface="Calibri"/>
                <a:cs typeface="Calibri"/>
              </a:rPr>
              <a:t> </a:t>
            </a:r>
            <a:r>
              <a:rPr sz="2400" spc="-10" dirty="0">
                <a:latin typeface="Calibri"/>
                <a:cs typeface="Calibri"/>
              </a:rPr>
              <a:t>etc.</a:t>
            </a:r>
            <a:endParaRPr sz="2400" dirty="0">
              <a:latin typeface="Calibri"/>
              <a:cs typeface="Calibri"/>
            </a:endParaRPr>
          </a:p>
          <a:p>
            <a:pPr marL="243840" indent="-231775" algn="just">
              <a:lnSpc>
                <a:spcPct val="100000"/>
              </a:lnSpc>
              <a:spcBef>
                <a:spcPts val="240"/>
              </a:spcBef>
              <a:buSzPct val="95833"/>
              <a:buAutoNum type="arabicPeriod"/>
              <a:tabLst>
                <a:tab pos="244475" algn="l"/>
              </a:tabLst>
            </a:pPr>
            <a:r>
              <a:rPr sz="2400" spc="-5" dirty="0">
                <a:latin typeface="Calibri"/>
                <a:cs typeface="Calibri"/>
              </a:rPr>
              <a:t>Lack</a:t>
            </a:r>
            <a:r>
              <a:rPr sz="2400" spc="-15" dirty="0">
                <a:latin typeface="Calibri"/>
                <a:cs typeface="Calibri"/>
              </a:rPr>
              <a:t> </a:t>
            </a:r>
            <a:r>
              <a:rPr sz="2400" spc="-5" dirty="0">
                <a:latin typeface="Calibri"/>
                <a:cs typeface="Calibri"/>
              </a:rPr>
              <a:t>of</a:t>
            </a:r>
            <a:r>
              <a:rPr sz="2400" spc="-10" dirty="0">
                <a:latin typeface="Calibri"/>
                <a:cs typeface="Calibri"/>
              </a:rPr>
              <a:t> </a:t>
            </a:r>
            <a:r>
              <a:rPr sz="2400" spc="-15" dirty="0">
                <a:latin typeface="Calibri"/>
                <a:cs typeface="Calibri"/>
              </a:rPr>
              <a:t>concentration/interest</a:t>
            </a:r>
            <a:r>
              <a:rPr sz="2400" spc="-20" dirty="0">
                <a:latin typeface="Calibri"/>
                <a:cs typeface="Calibri"/>
              </a:rPr>
              <a:t> </a:t>
            </a:r>
            <a:r>
              <a:rPr sz="2400" dirty="0">
                <a:latin typeface="Calibri"/>
                <a:cs typeface="Calibri"/>
              </a:rPr>
              <a:t>.</a:t>
            </a:r>
          </a:p>
          <a:p>
            <a:pPr marL="12700" marR="5080" algn="just">
              <a:lnSpc>
                <a:spcPct val="80100"/>
              </a:lnSpc>
              <a:spcBef>
                <a:spcPts val="800"/>
              </a:spcBef>
              <a:buSzPct val="95833"/>
              <a:buAutoNum type="arabicPeriod"/>
              <a:tabLst>
                <a:tab pos="244475" algn="l"/>
              </a:tabLst>
            </a:pPr>
            <a:r>
              <a:rPr sz="2400" spc="-15" dirty="0">
                <a:latin typeface="Calibri"/>
                <a:cs typeface="Calibri"/>
              </a:rPr>
              <a:t>Avoiding</a:t>
            </a:r>
            <a:r>
              <a:rPr sz="2400" spc="5" dirty="0">
                <a:latin typeface="Calibri"/>
                <a:cs typeface="Calibri"/>
              </a:rPr>
              <a:t> </a:t>
            </a:r>
            <a:r>
              <a:rPr sz="2400" spc="-10" dirty="0">
                <a:latin typeface="Calibri"/>
                <a:cs typeface="Calibri"/>
              </a:rPr>
              <a:t>listening</a:t>
            </a:r>
            <a:r>
              <a:rPr sz="2400" spc="-5" dirty="0">
                <a:latin typeface="Calibri"/>
                <a:cs typeface="Calibri"/>
              </a:rPr>
              <a:t> </a:t>
            </a:r>
            <a:r>
              <a:rPr sz="2400" spc="-15" dirty="0">
                <a:latin typeface="Calibri"/>
                <a:cs typeface="Calibri"/>
              </a:rPr>
              <a:t>to</a:t>
            </a:r>
            <a:r>
              <a:rPr sz="2400" spc="-5" dirty="0">
                <a:latin typeface="Calibri"/>
                <a:cs typeface="Calibri"/>
              </a:rPr>
              <a:t> </a:t>
            </a:r>
            <a:r>
              <a:rPr sz="2400" spc="-10" dirty="0">
                <a:latin typeface="Calibri"/>
                <a:cs typeface="Calibri"/>
              </a:rPr>
              <a:t>difficult,</a:t>
            </a:r>
            <a:r>
              <a:rPr sz="2400" spc="5" dirty="0">
                <a:latin typeface="Calibri"/>
                <a:cs typeface="Calibri"/>
              </a:rPr>
              <a:t> </a:t>
            </a:r>
            <a:r>
              <a:rPr sz="2400" spc="-5" dirty="0">
                <a:latin typeface="Calibri"/>
                <a:cs typeface="Calibri"/>
              </a:rPr>
              <a:t>boring</a:t>
            </a:r>
            <a:r>
              <a:rPr sz="2400" spc="10" dirty="0">
                <a:latin typeface="Calibri"/>
                <a:cs typeface="Calibri"/>
              </a:rPr>
              <a:t> </a:t>
            </a:r>
            <a:r>
              <a:rPr sz="2400" spc="-10" dirty="0">
                <a:latin typeface="Calibri"/>
                <a:cs typeface="Calibri"/>
              </a:rPr>
              <a:t>or</a:t>
            </a:r>
            <a:r>
              <a:rPr sz="2400" spc="-5" dirty="0">
                <a:latin typeface="Calibri"/>
                <a:cs typeface="Calibri"/>
              </a:rPr>
              <a:t> </a:t>
            </a:r>
            <a:r>
              <a:rPr sz="2400" spc="-15" dirty="0">
                <a:latin typeface="Calibri"/>
                <a:cs typeface="Calibri"/>
              </a:rPr>
              <a:t>complex</a:t>
            </a:r>
            <a:r>
              <a:rPr sz="2400" spc="-5" dirty="0">
                <a:latin typeface="Calibri"/>
                <a:cs typeface="Calibri"/>
              </a:rPr>
              <a:t> </a:t>
            </a:r>
            <a:r>
              <a:rPr sz="2400" spc="-10" dirty="0">
                <a:latin typeface="Calibri"/>
                <a:cs typeface="Calibri"/>
              </a:rPr>
              <a:t>information </a:t>
            </a:r>
            <a:r>
              <a:rPr sz="2400" spc="-530" dirty="0">
                <a:latin typeface="Calibri"/>
                <a:cs typeface="Calibri"/>
              </a:rPr>
              <a:t> </a:t>
            </a:r>
            <a:r>
              <a:rPr sz="2400" dirty="0">
                <a:latin typeface="Calibri"/>
                <a:cs typeface="Calibri"/>
              </a:rPr>
              <a:t>and</a:t>
            </a:r>
            <a:r>
              <a:rPr sz="2400" spc="60" dirty="0">
                <a:latin typeface="Calibri"/>
                <a:cs typeface="Calibri"/>
              </a:rPr>
              <a:t> </a:t>
            </a:r>
            <a:r>
              <a:rPr sz="2400" spc="-5" dirty="0">
                <a:latin typeface="Calibri"/>
                <a:cs typeface="Calibri"/>
              </a:rPr>
              <a:t>selectively</a:t>
            </a:r>
            <a:r>
              <a:rPr sz="2400" spc="55" dirty="0">
                <a:latin typeface="Calibri"/>
                <a:cs typeface="Calibri"/>
              </a:rPr>
              <a:t> </a:t>
            </a:r>
            <a:r>
              <a:rPr sz="2400" spc="-10" dirty="0">
                <a:latin typeface="Calibri"/>
                <a:cs typeface="Calibri"/>
              </a:rPr>
              <a:t>listening</a:t>
            </a:r>
            <a:r>
              <a:rPr sz="2400" spc="55" dirty="0">
                <a:latin typeface="Calibri"/>
                <a:cs typeface="Calibri"/>
              </a:rPr>
              <a:t> </a:t>
            </a:r>
            <a:r>
              <a:rPr sz="2400" spc="-5" dirty="0">
                <a:latin typeface="Calibri"/>
                <a:cs typeface="Calibri"/>
              </a:rPr>
              <a:t>only</a:t>
            </a:r>
            <a:r>
              <a:rPr sz="2400" spc="45" dirty="0">
                <a:latin typeface="Calibri"/>
                <a:cs typeface="Calibri"/>
              </a:rPr>
              <a:t> </a:t>
            </a:r>
            <a:r>
              <a:rPr sz="2400" spc="-15" dirty="0">
                <a:latin typeface="Calibri"/>
                <a:cs typeface="Calibri"/>
              </a:rPr>
              <a:t>to</a:t>
            </a:r>
            <a:r>
              <a:rPr sz="2400" spc="60" dirty="0">
                <a:latin typeface="Calibri"/>
                <a:cs typeface="Calibri"/>
              </a:rPr>
              <a:t> </a:t>
            </a:r>
            <a:r>
              <a:rPr sz="2400" spc="-10" dirty="0">
                <a:latin typeface="Calibri"/>
                <a:cs typeface="Calibri"/>
              </a:rPr>
              <a:t>what</a:t>
            </a:r>
            <a:r>
              <a:rPr sz="2400" spc="50" dirty="0">
                <a:latin typeface="Calibri"/>
                <a:cs typeface="Calibri"/>
              </a:rPr>
              <a:t> </a:t>
            </a:r>
            <a:r>
              <a:rPr sz="2400" dirty="0">
                <a:latin typeface="Calibri"/>
                <a:cs typeface="Calibri"/>
              </a:rPr>
              <a:t>is</a:t>
            </a:r>
            <a:r>
              <a:rPr sz="2400" spc="70" dirty="0">
                <a:latin typeface="Calibri"/>
                <a:cs typeface="Calibri"/>
              </a:rPr>
              <a:t> </a:t>
            </a:r>
            <a:r>
              <a:rPr sz="2400" spc="-10" dirty="0">
                <a:latin typeface="Calibri"/>
                <a:cs typeface="Calibri"/>
              </a:rPr>
              <a:t>considered </a:t>
            </a:r>
            <a:r>
              <a:rPr sz="2400" spc="-5" dirty="0">
                <a:latin typeface="Calibri"/>
                <a:cs typeface="Calibri"/>
              </a:rPr>
              <a:t> </a:t>
            </a:r>
            <a:r>
              <a:rPr sz="2400" spc="-10" dirty="0">
                <a:latin typeface="Calibri"/>
                <a:cs typeface="Calibri"/>
              </a:rPr>
              <a:t>interesting</a:t>
            </a:r>
            <a:r>
              <a:rPr sz="2400" spc="-10" dirty="0">
                <a:latin typeface="Times New Roman"/>
                <a:cs typeface="Times New Roman"/>
              </a:rPr>
              <a:t>.</a:t>
            </a:r>
            <a:endParaRPr sz="2400" dirty="0">
              <a:latin typeface="Times New Roman"/>
              <a:cs typeface="Times New Roman"/>
            </a:endParaRPr>
          </a:p>
          <a:p>
            <a:pPr marL="243840" indent="-231775" algn="just">
              <a:lnSpc>
                <a:spcPct val="100000"/>
              </a:lnSpc>
              <a:spcBef>
                <a:spcPts val="225"/>
              </a:spcBef>
              <a:buSzPct val="95833"/>
              <a:buAutoNum type="arabicPeriod"/>
              <a:tabLst>
                <a:tab pos="244475" algn="l"/>
              </a:tabLst>
            </a:pPr>
            <a:r>
              <a:rPr sz="2400" spc="-15" dirty="0">
                <a:latin typeface="Calibri"/>
                <a:cs typeface="Calibri"/>
              </a:rPr>
              <a:t>Speaker</a:t>
            </a:r>
            <a:r>
              <a:rPr sz="2400" spc="-25" dirty="0">
                <a:latin typeface="Calibri"/>
                <a:cs typeface="Calibri"/>
              </a:rPr>
              <a:t> </a:t>
            </a:r>
            <a:r>
              <a:rPr sz="2400" spc="-5" dirty="0">
                <a:latin typeface="Calibri"/>
                <a:cs typeface="Calibri"/>
              </a:rPr>
              <a:t>or</a:t>
            </a:r>
            <a:r>
              <a:rPr sz="2400" dirty="0">
                <a:latin typeface="Calibri"/>
                <a:cs typeface="Calibri"/>
              </a:rPr>
              <a:t> </a:t>
            </a:r>
            <a:r>
              <a:rPr sz="2400" spc="-10" dirty="0">
                <a:latin typeface="Calibri"/>
                <a:cs typeface="Calibri"/>
              </a:rPr>
              <a:t>listener </a:t>
            </a:r>
            <a:r>
              <a:rPr sz="2400" spc="-5" dirty="0">
                <a:latin typeface="Calibri"/>
                <a:cs typeface="Calibri"/>
              </a:rPr>
              <a:t>being</a:t>
            </a:r>
            <a:r>
              <a:rPr sz="2400" dirty="0">
                <a:latin typeface="Calibri"/>
                <a:cs typeface="Calibri"/>
              </a:rPr>
              <a:t> </a:t>
            </a:r>
            <a:r>
              <a:rPr sz="2400" spc="-15" dirty="0">
                <a:latin typeface="Calibri"/>
                <a:cs typeface="Calibri"/>
              </a:rPr>
              <a:t>distracted </a:t>
            </a:r>
            <a:r>
              <a:rPr sz="2400" spc="-10" dirty="0">
                <a:latin typeface="Calibri"/>
                <a:cs typeface="Calibri"/>
              </a:rPr>
              <a:t>by</a:t>
            </a:r>
            <a:r>
              <a:rPr sz="2400" spc="5" dirty="0">
                <a:latin typeface="Calibri"/>
                <a:cs typeface="Calibri"/>
              </a:rPr>
              <a:t> </a:t>
            </a:r>
            <a:r>
              <a:rPr sz="2400" spc="-5" dirty="0">
                <a:latin typeface="Calibri"/>
                <a:cs typeface="Calibri"/>
              </a:rPr>
              <a:t>disturbances</a:t>
            </a:r>
            <a:r>
              <a:rPr sz="2400" spc="-10" dirty="0">
                <a:latin typeface="Calibri"/>
                <a:cs typeface="Calibri"/>
              </a:rPr>
              <a:t> </a:t>
            </a:r>
            <a:r>
              <a:rPr sz="2400" dirty="0" smtClean="0">
                <a:latin typeface="Calibri"/>
                <a:cs typeface="Calibri"/>
              </a:rPr>
              <a:t>.</a:t>
            </a:r>
            <a:endParaRPr lang="en-US" sz="2400" dirty="0" smtClean="0">
              <a:latin typeface="Calibri"/>
              <a:cs typeface="Calibri"/>
            </a:endParaRPr>
          </a:p>
          <a:p>
            <a:pPr marL="12065" algn="just">
              <a:lnSpc>
                <a:spcPct val="100000"/>
              </a:lnSpc>
              <a:spcBef>
                <a:spcPts val="225"/>
              </a:spcBef>
              <a:buSzPct val="95833"/>
              <a:tabLst>
                <a:tab pos="244475" algn="l"/>
              </a:tabLst>
            </a:pPr>
            <a:endParaRPr sz="2400" dirty="0">
              <a:latin typeface="Calibri"/>
              <a:cs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8283067" y="6466897"/>
            <a:ext cx="153670"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888888"/>
                </a:solidFill>
                <a:latin typeface="Arial MT"/>
                <a:cs typeface="Arial MT"/>
              </a:rPr>
              <a:t>20</a:t>
            </a:r>
            <a:endParaRPr sz="900">
              <a:latin typeface="Arial MT"/>
              <a:cs typeface="Arial MT"/>
            </a:endParaRPr>
          </a:p>
        </p:txBody>
      </p:sp>
      <p:sp>
        <p:nvSpPr>
          <p:cNvPr id="2" name="object 2"/>
          <p:cNvSpPr txBox="1">
            <a:spLocks noGrp="1"/>
          </p:cNvSpPr>
          <p:nvPr>
            <p:ph type="title"/>
          </p:nvPr>
        </p:nvSpPr>
        <p:spPr>
          <a:xfrm>
            <a:off x="535940" y="133299"/>
            <a:ext cx="7018020" cy="635000"/>
          </a:xfrm>
          <a:prstGeom prst="rect">
            <a:avLst/>
          </a:prstGeom>
        </p:spPr>
        <p:txBody>
          <a:bodyPr vert="horz" wrap="square" lIns="0" tIns="12065" rIns="0" bIns="0" rtlCol="0">
            <a:spAutoFit/>
          </a:bodyPr>
          <a:lstStyle/>
          <a:p>
            <a:pPr marL="12700">
              <a:lnSpc>
                <a:spcPct val="100000"/>
              </a:lnSpc>
              <a:spcBef>
                <a:spcPts val="95"/>
              </a:spcBef>
            </a:pPr>
            <a:r>
              <a:rPr spc="-5" dirty="0"/>
              <a:t>6.</a:t>
            </a:r>
            <a:r>
              <a:rPr dirty="0"/>
              <a:t> </a:t>
            </a:r>
            <a:r>
              <a:rPr spc="-5" dirty="0"/>
              <a:t>How</a:t>
            </a:r>
            <a:r>
              <a:rPr dirty="0"/>
              <a:t> </a:t>
            </a:r>
            <a:r>
              <a:rPr spc="-155" dirty="0"/>
              <a:t>To</a:t>
            </a:r>
            <a:r>
              <a:rPr dirty="0"/>
              <a:t> </a:t>
            </a:r>
            <a:r>
              <a:rPr spc="-5" dirty="0"/>
              <a:t>Listen</a:t>
            </a:r>
            <a:r>
              <a:rPr spc="15" dirty="0"/>
              <a:t> </a:t>
            </a:r>
            <a:r>
              <a:rPr spc="-5" dirty="0"/>
              <a:t>Effectively?</a:t>
            </a:r>
          </a:p>
        </p:txBody>
      </p:sp>
      <p:sp>
        <p:nvSpPr>
          <p:cNvPr id="3" name="object 3"/>
          <p:cNvSpPr txBox="1"/>
          <p:nvPr/>
        </p:nvSpPr>
        <p:spPr>
          <a:xfrm>
            <a:off x="331224" y="1143000"/>
            <a:ext cx="3807460" cy="4727704"/>
          </a:xfrm>
          <a:prstGeom prst="rect">
            <a:avLst/>
          </a:prstGeom>
        </p:spPr>
        <p:txBody>
          <a:bodyPr vert="horz" wrap="square" lIns="0" tIns="76200" rIns="0" bIns="0" rtlCol="0">
            <a:spAutoFit/>
          </a:bodyPr>
          <a:lstStyle/>
          <a:p>
            <a:pPr marL="351155" indent="-339090">
              <a:lnSpc>
                <a:spcPct val="200000"/>
              </a:lnSpc>
              <a:spcBef>
                <a:spcPts val="600"/>
              </a:spcBef>
              <a:buFont typeface="Arial"/>
              <a:buAutoNum type="arabicPeriod"/>
              <a:tabLst>
                <a:tab pos="351790" algn="l"/>
              </a:tabLst>
            </a:pPr>
            <a:r>
              <a:rPr lang="en-US" sz="2400" dirty="0">
                <a:latin typeface="Arial MT"/>
                <a:cs typeface="Arial MT"/>
              </a:rPr>
              <a:t>Take </a:t>
            </a:r>
            <a:r>
              <a:rPr lang="en-US" sz="2400" dirty="0" smtClean="0">
                <a:latin typeface="Arial MT"/>
                <a:cs typeface="Arial MT"/>
              </a:rPr>
              <a:t>notes</a:t>
            </a:r>
            <a:endParaRPr lang="en-US" sz="2400" dirty="0" smtClean="0">
              <a:latin typeface="Arial MT"/>
              <a:cs typeface="Arial MT"/>
            </a:endParaRPr>
          </a:p>
          <a:p>
            <a:pPr marL="351155" indent="-339090">
              <a:lnSpc>
                <a:spcPct val="200000"/>
              </a:lnSpc>
              <a:spcBef>
                <a:spcPts val="600"/>
              </a:spcBef>
              <a:buFont typeface="Arial"/>
              <a:buAutoNum type="arabicPeriod"/>
              <a:tabLst>
                <a:tab pos="351790" algn="l"/>
              </a:tabLst>
            </a:pPr>
            <a:r>
              <a:rPr sz="2400" dirty="0" smtClean="0">
                <a:latin typeface="Arial MT"/>
                <a:cs typeface="Arial MT"/>
              </a:rPr>
              <a:t>Stop</a:t>
            </a:r>
            <a:r>
              <a:rPr sz="2400" spc="-60" dirty="0" smtClean="0">
                <a:latin typeface="Arial MT"/>
                <a:cs typeface="Arial MT"/>
              </a:rPr>
              <a:t> </a:t>
            </a:r>
            <a:r>
              <a:rPr sz="2400" spc="-45" dirty="0">
                <a:latin typeface="Arial MT"/>
                <a:cs typeface="Arial MT"/>
              </a:rPr>
              <a:t>Talking</a:t>
            </a:r>
            <a:r>
              <a:rPr sz="2400" spc="15" dirty="0">
                <a:latin typeface="Arial MT"/>
                <a:cs typeface="Arial MT"/>
              </a:rPr>
              <a:t> </a:t>
            </a:r>
            <a:r>
              <a:rPr sz="2400" dirty="0">
                <a:latin typeface="Arial MT"/>
                <a:cs typeface="Arial MT"/>
              </a:rPr>
              <a:t>–</a:t>
            </a:r>
            <a:r>
              <a:rPr sz="2400" spc="-20" dirty="0">
                <a:latin typeface="Arial MT"/>
                <a:cs typeface="Arial MT"/>
              </a:rPr>
              <a:t> </a:t>
            </a:r>
            <a:r>
              <a:rPr sz="2400" spc="-5" dirty="0">
                <a:latin typeface="Arial MT"/>
                <a:cs typeface="Arial MT"/>
              </a:rPr>
              <a:t>Be</a:t>
            </a:r>
            <a:r>
              <a:rPr sz="2400" spc="-20" dirty="0">
                <a:latin typeface="Arial MT"/>
                <a:cs typeface="Arial MT"/>
              </a:rPr>
              <a:t> </a:t>
            </a:r>
            <a:r>
              <a:rPr sz="2400" spc="-5" dirty="0">
                <a:latin typeface="Arial MT"/>
                <a:cs typeface="Arial MT"/>
              </a:rPr>
              <a:t>Silent</a:t>
            </a:r>
            <a:endParaRPr sz="2400" dirty="0">
              <a:latin typeface="Arial MT"/>
              <a:cs typeface="Arial MT"/>
            </a:endParaRPr>
          </a:p>
          <a:p>
            <a:pPr marL="351155" indent="-339090">
              <a:lnSpc>
                <a:spcPct val="200000"/>
              </a:lnSpc>
              <a:spcBef>
                <a:spcPts val="505"/>
              </a:spcBef>
              <a:buAutoNum type="arabicPeriod"/>
              <a:tabLst>
                <a:tab pos="351790" algn="l"/>
              </a:tabLst>
            </a:pPr>
            <a:r>
              <a:rPr sz="2400" spc="-5" dirty="0">
                <a:latin typeface="Arial MT"/>
                <a:cs typeface="Arial MT"/>
              </a:rPr>
              <a:t>Show</a:t>
            </a:r>
            <a:r>
              <a:rPr sz="2400" spc="-35" dirty="0">
                <a:latin typeface="Arial MT"/>
                <a:cs typeface="Arial MT"/>
              </a:rPr>
              <a:t> </a:t>
            </a:r>
            <a:r>
              <a:rPr sz="2400" dirty="0">
                <a:latin typeface="Arial MT"/>
                <a:cs typeface="Arial MT"/>
              </a:rPr>
              <a:t>Interest</a:t>
            </a:r>
          </a:p>
          <a:p>
            <a:pPr marL="351155" indent="-339090">
              <a:lnSpc>
                <a:spcPct val="200000"/>
              </a:lnSpc>
              <a:spcBef>
                <a:spcPts val="520"/>
              </a:spcBef>
              <a:buAutoNum type="arabicPeriod"/>
              <a:tabLst>
                <a:tab pos="351790" algn="l"/>
              </a:tabLst>
            </a:pPr>
            <a:r>
              <a:rPr sz="2400" spc="-5" dirty="0">
                <a:latin typeface="Arial MT"/>
                <a:cs typeface="Arial MT"/>
              </a:rPr>
              <a:t>Empathize</a:t>
            </a:r>
            <a:endParaRPr sz="2400" dirty="0">
              <a:latin typeface="Arial MT"/>
              <a:cs typeface="Arial MT"/>
            </a:endParaRPr>
          </a:p>
          <a:p>
            <a:pPr marL="334010" indent="-321945">
              <a:lnSpc>
                <a:spcPct val="200000"/>
              </a:lnSpc>
              <a:spcBef>
                <a:spcPts val="515"/>
              </a:spcBef>
              <a:buAutoNum type="arabicPeriod"/>
              <a:tabLst>
                <a:tab pos="334645" algn="l"/>
              </a:tabLst>
            </a:pPr>
            <a:r>
              <a:rPr sz="2400" dirty="0">
                <a:latin typeface="Arial MT"/>
                <a:cs typeface="Arial MT"/>
              </a:rPr>
              <a:t>Ask</a:t>
            </a:r>
            <a:r>
              <a:rPr sz="2400" spc="-40" dirty="0">
                <a:latin typeface="Arial MT"/>
                <a:cs typeface="Arial MT"/>
              </a:rPr>
              <a:t> </a:t>
            </a:r>
            <a:r>
              <a:rPr sz="2400" spc="-5" dirty="0">
                <a:latin typeface="Arial MT"/>
                <a:cs typeface="Arial MT"/>
              </a:rPr>
              <a:t>Questions</a:t>
            </a:r>
            <a:endParaRPr sz="2400" dirty="0">
              <a:latin typeface="Arial MT"/>
              <a:cs typeface="Arial MT"/>
            </a:endParaRPr>
          </a:p>
          <a:p>
            <a:pPr marL="351155" indent="-339090">
              <a:lnSpc>
                <a:spcPct val="200000"/>
              </a:lnSpc>
              <a:spcBef>
                <a:spcPts val="505"/>
              </a:spcBef>
              <a:buAutoNum type="arabicPeriod"/>
              <a:tabLst>
                <a:tab pos="351790" algn="l"/>
              </a:tabLst>
            </a:pPr>
            <a:r>
              <a:rPr sz="2400" spc="-5" dirty="0">
                <a:latin typeface="Arial MT"/>
                <a:cs typeface="Arial MT"/>
              </a:rPr>
              <a:t>Maintain</a:t>
            </a:r>
            <a:r>
              <a:rPr sz="2400" spc="-10" dirty="0">
                <a:latin typeface="Arial MT"/>
                <a:cs typeface="Arial MT"/>
              </a:rPr>
              <a:t> </a:t>
            </a:r>
            <a:r>
              <a:rPr sz="2400" dirty="0">
                <a:latin typeface="Arial MT"/>
                <a:cs typeface="Arial MT"/>
              </a:rPr>
              <a:t>Eye</a:t>
            </a:r>
            <a:r>
              <a:rPr sz="2400" spc="-10" dirty="0">
                <a:latin typeface="Arial MT"/>
                <a:cs typeface="Arial MT"/>
              </a:rPr>
              <a:t> </a:t>
            </a:r>
            <a:r>
              <a:rPr sz="2400" spc="-5" dirty="0" smtClean="0">
                <a:latin typeface="Arial MT"/>
                <a:cs typeface="Arial MT"/>
              </a:rPr>
              <a:t>Contact</a:t>
            </a:r>
            <a:endParaRPr sz="2400" dirty="0">
              <a:latin typeface="Arial MT"/>
              <a:cs typeface="Arial MT"/>
            </a:endParaRPr>
          </a:p>
        </p:txBody>
      </p:sp>
      <p:sp>
        <p:nvSpPr>
          <p:cNvPr id="5" name="Rectangle 4"/>
          <p:cNvSpPr/>
          <p:nvPr/>
        </p:nvSpPr>
        <p:spPr>
          <a:xfrm>
            <a:off x="4138684" y="1100447"/>
            <a:ext cx="4876800" cy="5443285"/>
          </a:xfrm>
          <a:prstGeom prst="rect">
            <a:avLst/>
          </a:prstGeom>
        </p:spPr>
        <p:txBody>
          <a:bodyPr wrap="square">
            <a:spAutoFit/>
          </a:bodyPr>
          <a:lstStyle/>
          <a:p>
            <a:pPr marL="12065">
              <a:lnSpc>
                <a:spcPct val="200000"/>
              </a:lnSpc>
              <a:spcBef>
                <a:spcPts val="520"/>
              </a:spcBef>
              <a:tabLst>
                <a:tab pos="351790" algn="l"/>
              </a:tabLst>
            </a:pPr>
            <a:r>
              <a:rPr lang="en-US" sz="2400" dirty="0" smtClean="0">
                <a:latin typeface="Arial MT"/>
                <a:cs typeface="Arial MT"/>
              </a:rPr>
              <a:t>6. Listen Creatively</a:t>
            </a:r>
          </a:p>
          <a:p>
            <a:pPr marL="12065">
              <a:lnSpc>
                <a:spcPct val="200000"/>
              </a:lnSpc>
              <a:spcBef>
                <a:spcPts val="505"/>
              </a:spcBef>
              <a:tabLst>
                <a:tab pos="351790" algn="l"/>
              </a:tabLst>
            </a:pPr>
            <a:r>
              <a:rPr lang="en-US" sz="2400" dirty="0" smtClean="0">
                <a:latin typeface="Arial MT"/>
                <a:cs typeface="Arial MT"/>
              </a:rPr>
              <a:t>7. Put </a:t>
            </a:r>
            <a:r>
              <a:rPr lang="en-US" sz="2400" dirty="0">
                <a:latin typeface="Arial MT"/>
                <a:cs typeface="Arial MT"/>
              </a:rPr>
              <a:t>Your Entirety</a:t>
            </a:r>
          </a:p>
          <a:p>
            <a:pPr marL="12065">
              <a:lnSpc>
                <a:spcPct val="200000"/>
              </a:lnSpc>
              <a:spcBef>
                <a:spcPts val="515"/>
              </a:spcBef>
              <a:tabLst>
                <a:tab pos="351790" algn="l"/>
              </a:tabLst>
            </a:pPr>
            <a:r>
              <a:rPr lang="en-US" sz="2400" dirty="0" smtClean="0">
                <a:latin typeface="Arial MT"/>
                <a:cs typeface="Arial MT"/>
              </a:rPr>
              <a:t>8. Send </a:t>
            </a:r>
            <a:r>
              <a:rPr lang="en-US" sz="2400" dirty="0">
                <a:latin typeface="Arial MT"/>
                <a:cs typeface="Arial MT"/>
              </a:rPr>
              <a:t>feedback</a:t>
            </a:r>
          </a:p>
          <a:p>
            <a:pPr marL="12065">
              <a:lnSpc>
                <a:spcPct val="200000"/>
              </a:lnSpc>
              <a:spcBef>
                <a:spcPts val="520"/>
              </a:spcBef>
              <a:tabLst>
                <a:tab pos="504190" algn="l"/>
              </a:tabLst>
            </a:pPr>
            <a:r>
              <a:rPr lang="en-US" sz="2400" dirty="0" smtClean="0">
                <a:latin typeface="Arial MT"/>
                <a:cs typeface="Arial MT"/>
              </a:rPr>
              <a:t>9. Avoid </a:t>
            </a:r>
            <a:r>
              <a:rPr lang="en-US" sz="2400" dirty="0">
                <a:latin typeface="Arial MT"/>
                <a:cs typeface="Arial MT"/>
              </a:rPr>
              <a:t>or eliminate distraction</a:t>
            </a:r>
          </a:p>
          <a:p>
            <a:pPr marL="12700" marR="5080">
              <a:lnSpc>
                <a:spcPct val="200000"/>
              </a:lnSpc>
              <a:spcBef>
                <a:spcPts val="805"/>
              </a:spcBef>
              <a:tabLst>
                <a:tab pos="493395" algn="l"/>
              </a:tabLst>
            </a:pPr>
            <a:r>
              <a:rPr lang="en-US" sz="2400" dirty="0" smtClean="0">
                <a:latin typeface="Arial MT"/>
                <a:cs typeface="Arial MT"/>
              </a:rPr>
              <a:t>10. Try </a:t>
            </a:r>
            <a:r>
              <a:rPr lang="en-US" sz="2400" dirty="0">
                <a:latin typeface="Arial MT"/>
                <a:cs typeface="Arial MT"/>
              </a:rPr>
              <a:t>to gather information about the  topic to develop   	interest and familiarity.</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8283067" y="6466897"/>
            <a:ext cx="153670"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888888"/>
                </a:solidFill>
                <a:latin typeface="Arial MT"/>
                <a:cs typeface="Arial MT"/>
              </a:rPr>
              <a:t>21</a:t>
            </a:r>
            <a:endParaRPr sz="900">
              <a:latin typeface="Arial MT"/>
              <a:cs typeface="Arial MT"/>
            </a:endParaRPr>
          </a:p>
        </p:txBody>
      </p:sp>
      <p:sp>
        <p:nvSpPr>
          <p:cNvPr id="2" name="object 2"/>
          <p:cNvSpPr txBox="1">
            <a:spLocks noGrp="1"/>
          </p:cNvSpPr>
          <p:nvPr>
            <p:ph type="title"/>
          </p:nvPr>
        </p:nvSpPr>
        <p:spPr>
          <a:xfrm>
            <a:off x="609600" y="457200"/>
            <a:ext cx="8284058" cy="635000"/>
          </a:xfrm>
          <a:prstGeom prst="rect">
            <a:avLst/>
          </a:prstGeom>
        </p:spPr>
        <p:txBody>
          <a:bodyPr vert="horz" wrap="square" lIns="0" tIns="12065" rIns="0" bIns="0" rtlCol="0">
            <a:spAutoFit/>
          </a:bodyPr>
          <a:lstStyle/>
          <a:p>
            <a:pPr marL="12700">
              <a:lnSpc>
                <a:spcPct val="100000"/>
              </a:lnSpc>
              <a:spcBef>
                <a:spcPts val="95"/>
              </a:spcBef>
            </a:pPr>
            <a:r>
              <a:rPr spc="-5" dirty="0"/>
              <a:t>7.</a:t>
            </a:r>
            <a:r>
              <a:rPr spc="-15" dirty="0"/>
              <a:t> </a:t>
            </a:r>
            <a:r>
              <a:rPr spc="-5" dirty="0"/>
              <a:t>Benefits</a:t>
            </a:r>
            <a:r>
              <a:rPr spc="10" dirty="0"/>
              <a:t> </a:t>
            </a:r>
            <a:r>
              <a:rPr spc="-5" dirty="0"/>
              <a:t>of</a:t>
            </a:r>
            <a:r>
              <a:rPr spc="-15" dirty="0"/>
              <a:t> </a:t>
            </a:r>
            <a:r>
              <a:rPr spc="-5" dirty="0" smtClean="0"/>
              <a:t>Effective</a:t>
            </a:r>
            <a:r>
              <a:rPr lang="en-US" spc="-5" dirty="0" smtClean="0"/>
              <a:t> </a:t>
            </a:r>
            <a:r>
              <a:rPr lang="en-US" spc="-5" dirty="0"/>
              <a:t>Listening</a:t>
            </a:r>
            <a:endParaRPr spc="-5" dirty="0"/>
          </a:p>
        </p:txBody>
      </p:sp>
      <p:sp>
        <p:nvSpPr>
          <p:cNvPr id="4" name="object 4"/>
          <p:cNvSpPr txBox="1">
            <a:spLocks noGrp="1"/>
          </p:cNvSpPr>
          <p:nvPr>
            <p:ph type="body" idx="1"/>
          </p:nvPr>
        </p:nvSpPr>
        <p:spPr>
          <a:xfrm>
            <a:off x="1447800" y="1676400"/>
            <a:ext cx="4716780" cy="4207049"/>
          </a:xfrm>
          <a:prstGeom prst="rect">
            <a:avLst/>
          </a:prstGeom>
        </p:spPr>
        <p:txBody>
          <a:bodyPr vert="horz" wrap="square" lIns="0" tIns="76200" rIns="0" bIns="0" rtlCol="0">
            <a:spAutoFit/>
          </a:bodyPr>
          <a:lstStyle/>
          <a:p>
            <a:pPr marL="354965" indent="-342900">
              <a:lnSpc>
                <a:spcPct val="150000"/>
              </a:lnSpc>
              <a:spcBef>
                <a:spcPts val="600"/>
              </a:spcBef>
              <a:buFont typeface="Wingdings" pitchFamily="2" charset="2"/>
              <a:buChar char="Ø"/>
              <a:tabLst>
                <a:tab pos="185420" algn="l"/>
                <a:tab pos="1710689" algn="l"/>
              </a:tabLst>
            </a:pPr>
            <a:r>
              <a:rPr spc="-5" dirty="0"/>
              <a:t>Enhances	productivity</a:t>
            </a:r>
          </a:p>
          <a:p>
            <a:pPr marL="354965" indent="-342900">
              <a:lnSpc>
                <a:spcPct val="150000"/>
              </a:lnSpc>
              <a:spcBef>
                <a:spcPts val="505"/>
              </a:spcBef>
              <a:buFont typeface="Wingdings" pitchFamily="2" charset="2"/>
              <a:buChar char="Ø"/>
              <a:tabLst>
                <a:tab pos="185420" algn="l"/>
                <a:tab pos="1607820" algn="l"/>
              </a:tabLst>
            </a:pPr>
            <a:r>
              <a:rPr dirty="0"/>
              <a:t>Improves	</a:t>
            </a:r>
            <a:r>
              <a:rPr spc="-5" dirty="0"/>
              <a:t>relations</a:t>
            </a:r>
          </a:p>
          <a:p>
            <a:pPr marL="354965" indent="-342900">
              <a:lnSpc>
                <a:spcPct val="150000"/>
              </a:lnSpc>
              <a:spcBef>
                <a:spcPts val="520"/>
              </a:spcBef>
              <a:buFont typeface="Wingdings" pitchFamily="2" charset="2"/>
              <a:buChar char="Ø"/>
              <a:tabLst>
                <a:tab pos="185420" algn="l"/>
              </a:tabLst>
            </a:pPr>
            <a:r>
              <a:rPr spc="-15" dirty="0"/>
              <a:t>Avoids</a:t>
            </a:r>
            <a:r>
              <a:rPr spc="5" dirty="0"/>
              <a:t> </a:t>
            </a:r>
            <a:r>
              <a:rPr spc="-5" dirty="0"/>
              <a:t>conflicts</a:t>
            </a:r>
          </a:p>
          <a:p>
            <a:pPr marL="354965" indent="-342900">
              <a:lnSpc>
                <a:spcPct val="150000"/>
              </a:lnSpc>
              <a:spcBef>
                <a:spcPts val="515"/>
              </a:spcBef>
              <a:buFont typeface="Wingdings" pitchFamily="2" charset="2"/>
              <a:buChar char="Ø"/>
              <a:tabLst>
                <a:tab pos="185420" algn="l"/>
              </a:tabLst>
            </a:pPr>
            <a:r>
              <a:rPr dirty="0"/>
              <a:t>Improves</a:t>
            </a:r>
            <a:r>
              <a:rPr spc="-40" dirty="0"/>
              <a:t> </a:t>
            </a:r>
            <a:r>
              <a:rPr spc="-5" dirty="0"/>
              <a:t>understanding</a:t>
            </a:r>
          </a:p>
          <a:p>
            <a:pPr marL="354965" indent="-342900">
              <a:lnSpc>
                <a:spcPct val="150000"/>
              </a:lnSpc>
              <a:spcBef>
                <a:spcPts val="505"/>
              </a:spcBef>
              <a:buFont typeface="Wingdings" pitchFamily="2" charset="2"/>
              <a:buChar char="Ø"/>
              <a:tabLst>
                <a:tab pos="185420" algn="l"/>
              </a:tabLst>
            </a:pPr>
            <a:r>
              <a:rPr dirty="0"/>
              <a:t>Improves</a:t>
            </a:r>
            <a:r>
              <a:rPr spc="-25" dirty="0"/>
              <a:t> </a:t>
            </a:r>
            <a:r>
              <a:rPr spc="-5" dirty="0"/>
              <a:t>negotiation</a:t>
            </a:r>
            <a:r>
              <a:rPr spc="15" dirty="0"/>
              <a:t> </a:t>
            </a:r>
            <a:r>
              <a:rPr spc="-5" dirty="0"/>
              <a:t>skills</a:t>
            </a:r>
          </a:p>
          <a:p>
            <a:pPr marL="354965" indent="-342900">
              <a:lnSpc>
                <a:spcPct val="150000"/>
              </a:lnSpc>
              <a:spcBef>
                <a:spcPts val="505"/>
              </a:spcBef>
              <a:buFont typeface="Wingdings" pitchFamily="2" charset="2"/>
              <a:buChar char="Ø"/>
              <a:tabLst>
                <a:tab pos="185420" algn="l"/>
              </a:tabLst>
            </a:pPr>
            <a:r>
              <a:rPr spc="-5" dirty="0"/>
              <a:t>Adds</a:t>
            </a:r>
            <a:r>
              <a:rPr spc="-10" dirty="0"/>
              <a:t> </a:t>
            </a:r>
            <a:r>
              <a:rPr dirty="0"/>
              <a:t>to</a:t>
            </a:r>
            <a:r>
              <a:rPr spc="-15" dirty="0"/>
              <a:t> </a:t>
            </a:r>
            <a:r>
              <a:rPr spc="-5" dirty="0"/>
              <a:t>your</a:t>
            </a:r>
            <a:r>
              <a:rPr spc="-10" dirty="0"/>
              <a:t> </a:t>
            </a:r>
            <a:r>
              <a:rPr dirty="0"/>
              <a:t>Image</a:t>
            </a:r>
            <a:r>
              <a:rPr spc="-10" dirty="0"/>
              <a:t> </a:t>
            </a:r>
            <a:r>
              <a:rPr dirty="0"/>
              <a:t>&amp;</a:t>
            </a:r>
            <a:r>
              <a:rPr spc="-15" dirty="0"/>
              <a:t> </a:t>
            </a:r>
            <a:r>
              <a:rPr spc="-5" dirty="0"/>
              <a:t>Personality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smtClean="0"/>
              <a:t>Exercise</a:t>
            </a:r>
            <a:endParaRPr lang="en-US" dirty="0"/>
          </a:p>
        </p:txBody>
      </p:sp>
      <p:sp>
        <p:nvSpPr>
          <p:cNvPr id="3" name="Text Placeholder 2"/>
          <p:cNvSpPr>
            <a:spLocks noGrp="1"/>
          </p:cNvSpPr>
          <p:nvPr>
            <p:ph type="body" idx="1"/>
          </p:nvPr>
        </p:nvSpPr>
        <p:spPr>
          <a:xfrm>
            <a:off x="459740" y="1144638"/>
            <a:ext cx="4716780" cy="369332"/>
          </a:xfrm>
        </p:spPr>
        <p:txBody>
          <a:bodyPr/>
          <a:lstStyle/>
          <a:p>
            <a:r>
              <a:rPr lang="en-US" dirty="0" smtClean="0">
                <a:hlinkClick r:id="rId2" action="ppaction://hlinkfile"/>
              </a:rPr>
              <a:t>..\..\..\..\videoplayback.mp4</a:t>
            </a:r>
            <a:endParaRPr lang="en-US" dirty="0"/>
          </a:p>
        </p:txBody>
      </p:sp>
      <p:sp>
        <p:nvSpPr>
          <p:cNvPr id="5" name="Rectangle 4"/>
          <p:cNvSpPr/>
          <p:nvPr/>
        </p:nvSpPr>
        <p:spPr>
          <a:xfrm>
            <a:off x="2286000" y="2967335"/>
            <a:ext cx="4572000" cy="923330"/>
          </a:xfrm>
          <a:prstGeom prst="rect">
            <a:avLst/>
          </a:prstGeom>
        </p:spPr>
        <p:txBody>
          <a:bodyPr>
            <a:spAutoFit/>
          </a:bodyPr>
          <a:lstStyle/>
          <a:p>
            <a:r>
              <a:rPr lang="en-US" dirty="0"/>
              <a:t>https://</a:t>
            </a:r>
            <a:r>
              <a:rPr lang="en-US" dirty="0">
                <a:hlinkClick r:id="rId3"/>
              </a:rPr>
              <a:t>www.esolcourses.com/content/topics/animals/stories/hippo-that-lives-in-a-house.html</a:t>
            </a:r>
            <a:endParaRPr lang="en-US" dirty="0"/>
          </a:p>
        </p:txBody>
      </p:sp>
    </p:spTree>
    <p:extLst>
      <p:ext uri="{BB962C8B-B14F-4D97-AF65-F5344CB8AC3E}">
        <p14:creationId xmlns:p14="http://schemas.microsoft.com/office/powerpoint/2010/main" val="8894000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542" y="711453"/>
            <a:ext cx="2205355" cy="528320"/>
          </a:xfrm>
          <a:prstGeom prst="rect">
            <a:avLst/>
          </a:prstGeom>
        </p:spPr>
        <p:txBody>
          <a:bodyPr vert="horz" wrap="square" lIns="0" tIns="12700" rIns="0" bIns="0" rtlCol="0">
            <a:spAutoFit/>
          </a:bodyPr>
          <a:lstStyle/>
          <a:p>
            <a:pPr marL="12700">
              <a:lnSpc>
                <a:spcPct val="100000"/>
              </a:lnSpc>
              <a:spcBef>
                <a:spcPts val="100"/>
              </a:spcBef>
            </a:pPr>
            <a:r>
              <a:rPr sz="3300" b="0" i="1" spc="-45" dirty="0">
                <a:solidFill>
                  <a:srgbClr val="FFC000"/>
                </a:solidFill>
                <a:latin typeface="Calibri Light"/>
                <a:cs typeface="Calibri Light"/>
              </a:rPr>
              <a:t>Any</a:t>
            </a:r>
            <a:r>
              <a:rPr sz="3300" b="0" i="1" spc="-114" dirty="0">
                <a:solidFill>
                  <a:srgbClr val="FFC000"/>
                </a:solidFill>
                <a:latin typeface="Calibri Light"/>
                <a:cs typeface="Calibri Light"/>
              </a:rPr>
              <a:t> </a:t>
            </a:r>
            <a:r>
              <a:rPr sz="3300" b="0" i="1" spc="-30" dirty="0">
                <a:solidFill>
                  <a:srgbClr val="FFC000"/>
                </a:solidFill>
                <a:latin typeface="Calibri Light"/>
                <a:cs typeface="Calibri Light"/>
              </a:rPr>
              <a:t>Question</a:t>
            </a:r>
            <a:endParaRPr sz="3300">
              <a:latin typeface="Calibri Light"/>
              <a:cs typeface="Calibri Light"/>
            </a:endParaRPr>
          </a:p>
        </p:txBody>
      </p:sp>
      <p:pic>
        <p:nvPicPr>
          <p:cNvPr id="3" name="object 3"/>
          <p:cNvPicPr/>
          <p:nvPr/>
        </p:nvPicPr>
        <p:blipFill>
          <a:blip r:embed="rId2" cstate="print"/>
          <a:stretch>
            <a:fillRect/>
          </a:stretch>
        </p:blipFill>
        <p:spPr>
          <a:xfrm>
            <a:off x="2743200" y="1928850"/>
            <a:ext cx="3810000" cy="3348761"/>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2057400"/>
            <a:ext cx="4874260" cy="1674817"/>
          </a:xfrm>
          <a:prstGeom prst="rect">
            <a:avLst/>
          </a:prstGeom>
        </p:spPr>
        <p:txBody>
          <a:bodyPr vert="horz" wrap="square" lIns="0" tIns="12700" rIns="0" bIns="0" rtlCol="0">
            <a:spAutoFit/>
          </a:bodyPr>
          <a:lstStyle/>
          <a:p>
            <a:pPr marL="12700" algn="ctr">
              <a:lnSpc>
                <a:spcPct val="100000"/>
              </a:lnSpc>
              <a:spcBef>
                <a:spcPts val="100"/>
              </a:spcBef>
            </a:pPr>
            <a:r>
              <a:rPr sz="5400" spc="-30" dirty="0">
                <a:solidFill>
                  <a:srgbClr val="FF0000"/>
                </a:solidFill>
                <a:latin typeface="Algerian" pitchFamily="82" charset="0"/>
                <a:cs typeface="Calibri Light"/>
              </a:rPr>
              <a:t>Thank</a:t>
            </a:r>
            <a:r>
              <a:rPr sz="5400" spc="-65" dirty="0">
                <a:solidFill>
                  <a:srgbClr val="FF0000"/>
                </a:solidFill>
                <a:latin typeface="Algerian" pitchFamily="82" charset="0"/>
                <a:cs typeface="Calibri Light"/>
              </a:rPr>
              <a:t> </a:t>
            </a:r>
            <a:r>
              <a:rPr sz="5400" spc="-95" dirty="0">
                <a:solidFill>
                  <a:srgbClr val="FF0000"/>
                </a:solidFill>
                <a:latin typeface="Algerian" pitchFamily="82" charset="0"/>
                <a:cs typeface="Calibri Light"/>
              </a:rPr>
              <a:t>You</a:t>
            </a:r>
            <a:r>
              <a:rPr sz="5400" spc="-70" dirty="0">
                <a:solidFill>
                  <a:srgbClr val="FF0000"/>
                </a:solidFill>
                <a:latin typeface="Algerian" pitchFamily="82" charset="0"/>
                <a:cs typeface="Calibri Light"/>
              </a:rPr>
              <a:t> </a:t>
            </a:r>
            <a:r>
              <a:rPr sz="5400" spc="-35" dirty="0">
                <a:solidFill>
                  <a:srgbClr val="FF0000"/>
                </a:solidFill>
                <a:latin typeface="Algerian" pitchFamily="82" charset="0"/>
                <a:cs typeface="Calibri Light"/>
              </a:rPr>
              <a:t>For</a:t>
            </a:r>
            <a:r>
              <a:rPr sz="5400" spc="-60" dirty="0">
                <a:solidFill>
                  <a:srgbClr val="FF0000"/>
                </a:solidFill>
                <a:latin typeface="Algerian" pitchFamily="82" charset="0"/>
                <a:cs typeface="Calibri Light"/>
              </a:rPr>
              <a:t> </a:t>
            </a:r>
            <a:r>
              <a:rPr sz="5400" spc="-30" dirty="0">
                <a:solidFill>
                  <a:srgbClr val="FF0000"/>
                </a:solidFill>
                <a:latin typeface="Algerian" pitchFamily="82" charset="0"/>
                <a:cs typeface="Calibri Light"/>
              </a:rPr>
              <a:t>Listening</a:t>
            </a:r>
            <a:endParaRPr sz="5400" dirty="0">
              <a:latin typeface="Algerian" pitchFamily="82" charset="0"/>
              <a:cs typeface="Calibri Ligh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9CD9E7D940C147A1DC260109959B3E" ma:contentTypeVersion="2" ma:contentTypeDescription="Create a new document." ma:contentTypeScope="" ma:versionID="a6e44d72186d46b724deae1315f0ec69">
  <xsd:schema xmlns:xsd="http://www.w3.org/2001/XMLSchema" xmlns:xs="http://www.w3.org/2001/XMLSchema" xmlns:p="http://schemas.microsoft.com/office/2006/metadata/properties" xmlns:ns2="4efd2eef-3d56-40d2-a631-ac863d80181d" targetNamespace="http://schemas.microsoft.com/office/2006/metadata/properties" ma:root="true" ma:fieldsID="971a0eaa786f342812858f6e07e37571" ns2:_="">
    <xsd:import namespace="4efd2eef-3d56-40d2-a631-ac863d80181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fd2eef-3d56-40d2-a631-ac863d8018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88C170-EDFC-416A-B831-550B07AC9A1E}"/>
</file>

<file path=customXml/itemProps2.xml><?xml version="1.0" encoding="utf-8"?>
<ds:datastoreItem xmlns:ds="http://schemas.openxmlformats.org/officeDocument/2006/customXml" ds:itemID="{071C5C70-8530-4C9C-B7ED-AD0DF86D6F0D}"/>
</file>

<file path=customXml/itemProps3.xml><?xml version="1.0" encoding="utf-8"?>
<ds:datastoreItem xmlns:ds="http://schemas.openxmlformats.org/officeDocument/2006/customXml" ds:itemID="{E22D986E-F7BA-42EA-A1B9-B1CE3C572AC7}"/>
</file>

<file path=docProps/app.xml><?xml version="1.0" encoding="utf-8"?>
<Properties xmlns="http://schemas.openxmlformats.org/officeDocument/2006/extended-properties" xmlns:vt="http://schemas.openxmlformats.org/officeDocument/2006/docPropsVTypes">
  <Template/>
  <TotalTime>1340</TotalTime>
  <Words>1124</Words>
  <Application>Microsoft Office PowerPoint</Application>
  <PresentationFormat>On-screen Show (4:3)</PresentationFormat>
  <Paragraphs>142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5</vt:lpstr>
      <vt:lpstr>Chapter Outline</vt:lpstr>
      <vt:lpstr>1.What Is Listening? </vt:lpstr>
      <vt:lpstr>2.Process of Listening</vt:lpstr>
      <vt:lpstr>PowerPoint Presentation</vt:lpstr>
      <vt:lpstr>PowerPoint Presentation</vt:lpstr>
      <vt:lpstr>PowerPoint Presentation</vt:lpstr>
      <vt:lpstr>PowerPoint Presentation</vt:lpstr>
      <vt:lpstr>PowerPoint Presentation</vt:lpstr>
      <vt:lpstr>3. Importance of Listening</vt:lpstr>
      <vt:lpstr>PowerPoint Presentation</vt:lpstr>
      <vt:lpstr>Why Listening is Important?</vt:lpstr>
      <vt:lpstr>4. Types of Listening</vt:lpstr>
      <vt:lpstr>Appreciative Listening</vt:lpstr>
      <vt:lpstr>Empathetic listening</vt:lpstr>
      <vt:lpstr>Comprehensive Listening</vt:lpstr>
      <vt:lpstr>PowerPoint Presentation</vt:lpstr>
      <vt:lpstr>5. Barriers to Effective Listening</vt:lpstr>
      <vt:lpstr>PowerPoint Presentation</vt:lpstr>
      <vt:lpstr>PowerPoint Presentation</vt:lpstr>
      <vt:lpstr>PowerPoint Presentation</vt:lpstr>
      <vt:lpstr>Some Common Barriers to Effective Listening</vt:lpstr>
      <vt:lpstr>6. How To Listen Effectively?</vt:lpstr>
      <vt:lpstr>7. Benefits of Effective Listening</vt:lpstr>
      <vt:lpstr>Exercise</vt:lpstr>
      <vt:lpstr>Any Question</vt:lpstr>
      <vt:lpstr>Thank You For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LISTENING SKILLS</dc:title>
  <dc:creator>shankar</dc:creator>
  <cp:lastModifiedBy>DELL</cp:lastModifiedBy>
  <cp:revision>31</cp:revision>
  <dcterms:created xsi:type="dcterms:W3CDTF">2022-03-31T08:53:59Z</dcterms:created>
  <dcterms:modified xsi:type="dcterms:W3CDTF">2022-12-08T04:37:59Z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2018-04-01T00:00:00Z</vt:filetime>
  </property>
  <property fmtid="{D5CDD505-2E9C-101B-9397-08002B2CF9AE}" pid="3" name="Creator">
    <vt:lpwstr>Microsoft® PowerPoint® 2016</vt:lpwstr>
  </property>
  <property fmtid="{D5CDD505-2E9C-101B-9397-08002B2CF9AE}" pid="4" name="LastSaved">
    <vt:filetime>2022-03-31T00:00:00Z</vt:filetime>
  </property>
  <property fmtid="{D5CDD505-2E9C-101B-9397-08002B2CF9AE}" pid="5" name="ContentTypeId">
    <vt:lpwstr>0x0101002E9CD9E7D940C147A1DC260109959B3E</vt:lpwstr>
  </property>
</Properties>
</file>